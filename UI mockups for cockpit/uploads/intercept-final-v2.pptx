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charcoal shell. Evidence on paper for class A, on ink for class B. Geometry never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Coupled environment and selected arm are raised, the uncoordinated baseline is recessed into the shell, and the decision is an engraved plate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shell is identical to class A. Platform and transport lanes are dashed, application and receipt provenance solid. No page repaint, no theme flip.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 boxes, row heights and the outcome baseline are derived presentation. No value crosses the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Elevation is spent on three things: the coupled environment, the selected outcome, and the drawer. Everything else separates with a hairline.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signature moment. Perturb the evidence and the recorded decision changes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Cadence comes from tokens/motion.css. Every animated state settles into a named hold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34% scrim seats the drawer above the work surface without hiding the causal spine. Escape returns focus to the opener.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is not more true than L1, only less summarised. Five unresolved bindings render as visible defects.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placeholder fallback. Withheld controls are never shown as passing.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vocabulary serves URL, cockpit state and capture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alternate, shown at true size: evidence anchored in the shell rather than overlaid.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overlay drawer. The anchored variant costs the numeral scale and a second fold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0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3000" y="685800"/>
            <a:ext cx="361950" cy="361950"/>
          </a:xfrm>
          <a:prstGeom prst="rect">
            <a:avLst/>
          </a:prstGeom>
        </p:spPr>
      </p:pic>
      <p:sp>
        <p:nvSpPr>
          <p:cNvPr id="3" name="Text 0"/>
          <p:cNvSpPr/>
          <p:nvPr/>
        </p:nvSpPr>
        <p:spPr>
          <a:xfrm>
            <a:off x="1609874" y="738262"/>
            <a:ext cx="1081087" cy="295052"/>
          </a:xfrm>
          <a:prstGeom prst="rect">
            <a:avLst/>
          </a:prstGeom>
          <a:noFill/>
          <a:ln/>
        </p:spPr>
        <p:txBody>
          <a:bodyPr wrap="square" lIns="25400" tIns="25400" rIns="25400" bIns="25400" rtlCol="0" anchor="t">
            <a:normAutofit/>
          </a:bodyPr>
          <a:lstStyle/>
          <a:p>
            <a:pPr algn="l" indent="0" marL="0">
              <a:lnSpc>
                <a:spcPct val="77086"/>
              </a:lnSpc>
              <a:buNone/>
            </a:pPr>
            <a:r>
              <a:rPr lang="en-US" sz="2024" spc="-61" kern="0" dirty="0">
                <a:solidFill>
                  <a:srgbClr val="FBFBFA"/>
                </a:solidFill>
                <a:latin typeface="Geist" pitchFamily="34" charset="0"/>
                <a:ea typeface="Geist" pitchFamily="34" charset="-122"/>
                <a:cs typeface="Geist" pitchFamily="34" charset="-120"/>
              </a:rPr>
              <a:t>Interlock</a:t>
            </a:r>
            <a:endParaRPr lang="en-US" sz="2024" dirty="0"/>
          </a:p>
        </p:txBody>
      </p:sp>
      <p:sp>
        <p:nvSpPr>
          <p:cNvPr id="4" name="Text 1"/>
          <p:cNvSpPr/>
          <p:nvPr/>
        </p:nvSpPr>
        <p:spPr>
          <a:xfrm>
            <a:off x="2843361" y="707231"/>
            <a:ext cx="7257142" cy="357188"/>
          </a:xfrm>
          <a:prstGeom prst="rect">
            <a:avLst/>
          </a:prstGeom>
          <a:noFill/>
          <a:ln/>
        </p:spPr>
        <p:txBody>
          <a:bodyPr wrap="square" lIns="25400" tIns="25400" rIns="25400" bIns="25400" rtlCol="0" anchor="t">
            <a:normAutofit/>
          </a:bodyPr>
          <a:lstStyle/>
          <a:p>
            <a:pPr algn="l" indent="0" marL="0">
              <a:buNone/>
            </a:pPr>
            <a:r>
              <a:rPr lang="en-US" sz="1950" spc="273" kern="0" dirty="0">
                <a:solidFill>
                  <a:srgbClr val="737B7B"/>
                </a:solidFill>
                <a:latin typeface="Geist Mono" pitchFamily="34" charset="0"/>
                <a:ea typeface="Geist Mono" pitchFamily="34" charset="-122"/>
                <a:cs typeface="Geist Mono" pitchFamily="34" charset="-120"/>
              </a:rPr>
              <a:t>THE RUN · JUDGE VERIFICATION COCKPIT</a:t>
            </a:r>
            <a:endParaRPr lang="en-US" sz="1950" dirty="0"/>
          </a:p>
        </p:txBody>
      </p:sp>
      <p:sp>
        <p:nvSpPr>
          <p:cNvPr id="5" name="Text 2"/>
          <p:cNvSpPr/>
          <p:nvPr/>
        </p:nvSpPr>
        <p:spPr>
          <a:xfrm>
            <a:off x="1143000" y="3365078"/>
            <a:ext cx="11576685" cy="1662559"/>
          </a:xfrm>
          <a:prstGeom prst="rect">
            <a:avLst/>
          </a:prstGeom>
          <a:noFill/>
          <a:ln/>
        </p:spPr>
        <p:txBody>
          <a:bodyPr wrap="square" lIns="25400" tIns="25400" rIns="25400" bIns="25400" rtlCol="0" anchor="t">
            <a:normAutofit/>
          </a:bodyPr>
          <a:lstStyle/>
          <a:p>
            <a:pPr algn="l" indent="0" marL="0">
              <a:lnSpc>
                <a:spcPct val="80075"/>
              </a:lnSpc>
              <a:buNone/>
            </a:pPr>
            <a:r>
              <a:rPr lang="en-US" sz="6150" spc="-184" kern="0" dirty="0">
                <a:solidFill>
                  <a:srgbClr val="FBFBFA"/>
                </a:solidFill>
                <a:latin typeface="Geist" pitchFamily="34" charset="0"/>
                <a:ea typeface="Geist" pitchFamily="34" charset="-122"/>
                <a:cs typeface="Geist" pitchFamily="34" charset="-120"/>
              </a:rPr>
              <a:t>One charcoal shell, two evidence materials</a:t>
            </a:r>
            <a:endParaRPr lang="en-US" sz="6150" dirty="0"/>
          </a:p>
        </p:txBody>
      </p:sp>
      <p:sp>
        <p:nvSpPr>
          <p:cNvPr id="6" name="Text 3"/>
          <p:cNvSpPr/>
          <p:nvPr/>
        </p:nvSpPr>
        <p:spPr>
          <a:xfrm>
            <a:off x="1143000" y="5294337"/>
            <a:ext cx="8437245" cy="1584722"/>
          </a:xfrm>
          <a:prstGeom prst="rect">
            <a:avLst/>
          </a:prstGeom>
          <a:noFill/>
          <a:ln/>
        </p:spPr>
        <p:txBody>
          <a:bodyPr wrap="square" lIns="25400" tIns="25400" rIns="25400" bIns="25400" rtlCol="0" anchor="t">
            <a:normAutofit/>
          </a:bodyPr>
          <a:lstStyle/>
          <a:p>
            <a:pPr algn="l" indent="0" marL="0">
              <a:lnSpc>
                <a:spcPct val="111233"/>
              </a:lnSpc>
              <a:buNone/>
            </a:pPr>
            <a:r>
              <a:rPr lang="en-US" sz="2100" dirty="0">
                <a:solidFill>
                  <a:srgbClr val="EEF0F0"/>
                </a:solidFill>
                <a:latin typeface="Geist" pitchFamily="34" charset="0"/>
                <a:ea typeface="Geist" pitchFamily="34" charset="-122"/>
                <a:cs typeface="Geist" pitchFamily="34" charset="-120"/>
              </a:rPr>
              <a:t>The HAC-341 cockpit at 1440 × 900. The shell never repaints between proof classes: only the evidence inside the reserved regions changes, and the evidence ablation is the signature interaction.</a:t>
            </a:r>
            <a:endParaRPr lang="en-US" sz="2100" dirty="0"/>
          </a:p>
        </p:txBody>
      </p:sp>
      <p:sp>
        <p:nvSpPr>
          <p:cNvPr id="7" name="Shape 4"/>
          <p:cNvSpPr/>
          <p:nvPr/>
        </p:nvSpPr>
        <p:spPr>
          <a:xfrm>
            <a:off x="1143000" y="9158288"/>
            <a:ext cx="16002000" cy="19050"/>
          </a:xfrm>
          <a:prstGeom prst="rect">
            <a:avLst/>
          </a:prstGeom>
          <a:solidFill>
            <a:srgbClr val="FBFBFA"/>
          </a:solidFill>
          <a:ln/>
        </p:spPr>
      </p:sp>
      <p:sp>
        <p:nvSpPr>
          <p:cNvPr id="8" name="Text 5"/>
          <p:cNvSpPr/>
          <p:nvPr/>
        </p:nvSpPr>
        <p:spPr>
          <a:xfrm>
            <a:off x="1143000" y="9367838"/>
            <a:ext cx="2671763" cy="347663"/>
          </a:xfrm>
          <a:prstGeom prst="rect">
            <a:avLst/>
          </a:prstGeom>
          <a:noFill/>
          <a:ln/>
        </p:spPr>
        <p:txBody>
          <a:bodyPr wrap="square" lIns="25400" tIns="25400" rIns="25400" bIns="25400" rtlCol="0" anchor="t">
            <a:normAutofit/>
          </a:bodyPr>
          <a:lstStyle/>
          <a:p>
            <a:pPr algn="l" indent="0" marL="0">
              <a:buNone/>
            </a:pPr>
            <a:r>
              <a:rPr lang="en-US" sz="1875" spc="150" kern="0" dirty="0">
                <a:solidFill>
                  <a:srgbClr val="FBFBFA"/>
                </a:solidFill>
                <a:latin typeface="Geist Mono" pitchFamily="34" charset="0"/>
                <a:ea typeface="Geist Mono" pitchFamily="34" charset="-122"/>
                <a:cs typeface="Geist Mono" pitchFamily="34" charset="-120"/>
              </a:rPr>
              <a:t>THIRTEEN SLIDES</a:t>
            </a:r>
            <a:endParaRPr lang="en-US" sz="1875" dirty="0"/>
          </a:p>
        </p:txBody>
      </p:sp>
      <p:sp>
        <p:nvSpPr>
          <p:cNvPr id="9" name="Text 6"/>
          <p:cNvSpPr/>
          <p:nvPr/>
        </p:nvSpPr>
        <p:spPr>
          <a:xfrm>
            <a:off x="3895725" y="9367838"/>
            <a:ext cx="2137410" cy="347663"/>
          </a:xfrm>
          <a:prstGeom prst="rect">
            <a:avLst/>
          </a:prstGeom>
          <a:noFill/>
          <a:ln/>
        </p:spPr>
        <p:txBody>
          <a:bodyPr wrap="square" lIns="25400" tIns="25400" rIns="25400" bIns="25400" rtlCol="0" anchor="t">
            <a:normAutofit/>
          </a:bodyPr>
          <a:lstStyle/>
          <a:p>
            <a:pPr algn="l" indent="0" marL="0">
              <a:buNone/>
            </a:pPr>
            <a:r>
              <a:rPr lang="en-US" sz="1875" spc="150" kern="0" dirty="0">
                <a:solidFill>
                  <a:srgbClr val="9BA2A2"/>
                </a:solidFill>
                <a:latin typeface="Geist Mono" pitchFamily="34" charset="0"/>
                <a:ea typeface="Geist Mono" pitchFamily="34" charset="-122"/>
                <a:cs typeface="Geist Mono" pitchFamily="34" charset="-120"/>
              </a:rPr>
              <a:t>L1 · L2 · L3</a:t>
            </a:r>
            <a:endParaRPr lang="en-US" sz="1875" dirty="0"/>
          </a:p>
        </p:txBody>
      </p:sp>
      <p:sp>
        <p:nvSpPr>
          <p:cNvPr id="10" name="Text 7"/>
          <p:cNvSpPr/>
          <p:nvPr/>
        </p:nvSpPr>
        <p:spPr>
          <a:xfrm>
            <a:off x="6162675" y="9367838"/>
            <a:ext cx="4809173" cy="347663"/>
          </a:xfrm>
          <a:prstGeom prst="rect">
            <a:avLst/>
          </a:prstGeom>
          <a:noFill/>
          <a:ln/>
        </p:spPr>
        <p:txBody>
          <a:bodyPr wrap="square" lIns="25400" tIns="25400" rIns="25400" bIns="25400" rtlCol="0" anchor="t">
            <a:normAutofit/>
          </a:bodyPr>
          <a:lstStyle/>
          <a:p>
            <a:pPr algn="l" indent="0" marL="0">
              <a:buNone/>
            </a:pPr>
            <a:r>
              <a:rPr lang="en-US" sz="1875" spc="150" kern="0" dirty="0">
                <a:solidFill>
                  <a:srgbClr val="9BA2A2"/>
                </a:solidFill>
                <a:latin typeface="Geist Mono" pitchFamily="34" charset="0"/>
                <a:ea typeface="Geist Mono" pitchFamily="34" charset="-122"/>
                <a:cs typeface="Geist Mono" pitchFamily="34" charset="-120"/>
              </a:rPr>
              <a:t>CLASS A PAPER · CLASS B INK</a:t>
            </a:r>
            <a:endParaRPr lang="en-US" sz="1875" dirty="0"/>
          </a:p>
        </p:txBody>
      </p:sp>
      <p:sp>
        <p:nvSpPr>
          <p:cNvPr id="11" name="Text 8"/>
          <p:cNvSpPr/>
          <p:nvPr/>
        </p:nvSpPr>
        <p:spPr>
          <a:xfrm>
            <a:off x="10858500" y="9367838"/>
            <a:ext cx="3740468" cy="347663"/>
          </a:xfrm>
          <a:prstGeom prst="rect">
            <a:avLst/>
          </a:prstGeom>
          <a:noFill/>
          <a:ln/>
        </p:spPr>
        <p:txBody>
          <a:bodyPr wrap="square" lIns="25400" tIns="25400" rIns="25400" bIns="25400" rtlCol="0" anchor="t">
            <a:normAutofit/>
          </a:bodyPr>
          <a:lstStyle/>
          <a:p>
            <a:pPr algn="l" indent="0" marL="0">
              <a:buNone/>
            </a:pPr>
            <a:r>
              <a:rPr lang="en-US" sz="1875" spc="150" kern="0" dirty="0">
                <a:solidFill>
                  <a:srgbClr val="9BA2A2"/>
                </a:solidFill>
                <a:latin typeface="Geist Mono" pitchFamily="34" charset="0"/>
                <a:ea typeface="Geist Mono" pitchFamily="34" charset="-122"/>
                <a:cs typeface="Geist Mono" pitchFamily="34" charset="-120"/>
              </a:rPr>
              <a:t>ABLATION, FIVE FRAMES</a:t>
            </a:r>
            <a:endParaRPr lang="en-US" sz="18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DE0E0"/>
        </a:solidFill>
      </p:bgPr>
    </p:bg>
    <p:spTree>
      <p:nvGrpSpPr>
        <p:cNvPr id="1" name=""/>
        <p:cNvGrpSpPr/>
        <p:nvPr/>
      </p:nvGrpSpPr>
      <p:grpSpPr>
        <a:xfrm>
          <a:off x="0" y="0"/>
          <a:ext cx="0" cy="0"/>
          <a:chOff x="0" y="0"/>
          <a:chExt cx="0" cy="0"/>
        </a:xfrm>
      </p:grpSpPr>
      <p:sp>
        <p:nvSpPr>
          <p:cNvPr id="2" name="Text 0"/>
          <p:cNvSpPr/>
          <p:nvPr/>
        </p:nvSpPr>
        <p:spPr>
          <a:xfrm>
            <a:off x="1143000" y="247650"/>
            <a:ext cx="4412910" cy="457200"/>
          </a:xfrm>
          <a:prstGeom prst="rect">
            <a:avLst/>
          </a:prstGeom>
          <a:noFill/>
          <a:ln/>
        </p:spPr>
        <p:txBody>
          <a:bodyPr wrap="square" lIns="25400" tIns="25400" rIns="25400" bIns="25400" rtlCol="0" anchor="t">
            <a:normAutofit/>
          </a:bodyPr>
          <a:lstStyle/>
          <a:p>
            <a:pPr algn="l" indent="0" marL="0">
              <a:buNone/>
            </a:pPr>
            <a:r>
              <a:rPr lang="en-US" sz="2550" spc="-51" kern="0" dirty="0">
                <a:solidFill>
                  <a:srgbClr val="0B0D0E"/>
                </a:solidFill>
                <a:latin typeface="Geist" pitchFamily="34" charset="0"/>
                <a:ea typeface="Geist" pitchFamily="34" charset="-122"/>
                <a:cs typeface="Geist" pitchFamily="34" charset="-120"/>
              </a:rPr>
              <a:t>Controlled local experiment</a:t>
            </a:r>
            <a:endParaRPr lang="en-US" sz="2550" dirty="0"/>
          </a:p>
        </p:txBody>
      </p:sp>
      <p:sp>
        <p:nvSpPr>
          <p:cNvPr id="3" name="Text 1"/>
          <p:cNvSpPr/>
          <p:nvPr/>
        </p:nvSpPr>
        <p:spPr>
          <a:xfrm>
            <a:off x="1143000" y="733425"/>
            <a:ext cx="6946583" cy="347663"/>
          </a:xfrm>
          <a:prstGeom prst="rect">
            <a:avLst/>
          </a:prstGeom>
          <a:noFill/>
          <a:ln/>
        </p:spPr>
        <p:txBody>
          <a:bodyPr wrap="square" lIns="25400" tIns="25400" rIns="25400" bIns="25400" rtlCol="0" anchor="t">
            <a:normAutofit/>
          </a:bodyPr>
          <a:lstStyle/>
          <a:p>
            <a:pPr algn="l" indent="0" marL="0">
              <a:buNone/>
            </a:pPr>
            <a:r>
              <a:rPr lang="en-US" sz="1875" spc="150" kern="0" dirty="0">
                <a:solidFill>
                  <a:srgbClr val="515858"/>
                </a:solidFill>
                <a:latin typeface="Geist Mono" pitchFamily="34" charset="0"/>
                <a:ea typeface="Geist Mono" pitchFamily="34" charset="-122"/>
                <a:cs typeface="Geist Mono" pitchFamily="34" charset="-120"/>
              </a:rPr>
              <a:t>RUN.LOCAL.TREATMENT · EVIDENCE ON PAPER</a:t>
            </a:r>
            <a:endParaRPr lang="en-US" sz="1875" dirty="0"/>
          </a:p>
        </p:txBody>
      </p:sp>
      <p:sp>
        <p:nvSpPr>
          <p:cNvPr id="4" name="Text 2"/>
          <p:cNvSpPr/>
          <p:nvPr/>
        </p:nvSpPr>
        <p:spPr>
          <a:xfrm>
            <a:off x="13477875" y="333375"/>
            <a:ext cx="4033838" cy="347663"/>
          </a:xfrm>
          <a:prstGeom prst="rect">
            <a:avLst/>
          </a:prstGeom>
          <a:noFill/>
          <a:ln/>
        </p:spPr>
        <p:txBody>
          <a:bodyPr wrap="none" lIns="25400" tIns="25400" rIns="25400" bIns="25400" rtlCol="0" anchor="t">
            <a:normAutofit/>
          </a:bodyPr>
          <a:lstStyle/>
          <a:p>
            <a:pPr algn="l" indent="0" marL="0">
              <a:buNone/>
            </a:pPr>
            <a:r>
              <a:rPr lang="en-US" sz="1875" spc="188" kern="0" dirty="0">
                <a:solidFill>
                  <a:srgbClr val="515858"/>
                </a:solidFill>
                <a:latin typeface="Geist Mono" pitchFamily="34" charset="0"/>
                <a:ea typeface="Geist Mono" pitchFamily="34" charset="-122"/>
                <a:cs typeface="Geist Mono" pitchFamily="34" charset="-120"/>
              </a:rPr>
              <a:t>02 · THE RUN · HAC-341</a:t>
            </a:r>
            <a:endParaRPr lang="en-US" sz="1875" dirty="0"/>
          </a:p>
        </p:txBody>
      </p:sp>
      <p:sp>
        <p:nvSpPr>
          <p:cNvPr id="5" name="Shape 3"/>
          <p:cNvSpPr/>
          <p:nvPr/>
        </p:nvSpPr>
        <p:spPr>
          <a:xfrm>
            <a:off x="2423160" y="1426369"/>
            <a:ext cx="13441682" cy="8401050"/>
          </a:xfrm>
          <a:prstGeom prst="rect">
            <a:avLst/>
          </a:prstGeom>
          <a:solidFill>
            <a:srgbClr val="0B0D0E"/>
          </a:solidFill>
          <a:ln w="9335">
            <a:solidFill>
              <a:srgbClr val="343A3A"/>
            </a:solidFill>
            <a:prstDash val="solid"/>
          </a:ln>
        </p:spPr>
      </p:sp>
      <p:sp>
        <p:nvSpPr>
          <p:cNvPr id="6" name="Shape 4"/>
          <p:cNvSpPr/>
          <p:nvPr/>
        </p:nvSpPr>
        <p:spPr>
          <a:xfrm>
            <a:off x="2432494" y="1435703"/>
            <a:ext cx="13441681" cy="522732"/>
          </a:xfrm>
          <a:prstGeom prst="rect">
            <a:avLst/>
          </a:prstGeom>
          <a:solidFill>
            <a:srgbClr val="0F1212"/>
          </a:solidFill>
          <a:ln/>
        </p:spPr>
      </p:sp>
      <p:sp>
        <p:nvSpPr>
          <p:cNvPr id="7" name="Shape 5"/>
          <p:cNvSpPr/>
          <p:nvPr/>
        </p:nvSpPr>
        <p:spPr>
          <a:xfrm>
            <a:off x="2432494" y="1949101"/>
            <a:ext cx="13441681" cy="9525"/>
          </a:xfrm>
          <a:prstGeom prst="rect">
            <a:avLst/>
          </a:prstGeom>
          <a:solidFill>
            <a:srgbClr val="1E2323"/>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693860" y="1589722"/>
            <a:ext cx="205359" cy="205359"/>
          </a:xfrm>
          <a:prstGeom prst="rect">
            <a:avLst/>
          </a:prstGeom>
        </p:spPr>
      </p:pic>
      <p:sp>
        <p:nvSpPr>
          <p:cNvPr id="9" name="Text 6"/>
          <p:cNvSpPr/>
          <p:nvPr/>
        </p:nvSpPr>
        <p:spPr>
          <a:xfrm>
            <a:off x="2958727" y="1619476"/>
            <a:ext cx="646334" cy="183879"/>
          </a:xfrm>
          <a:prstGeom prst="rect">
            <a:avLst/>
          </a:prstGeom>
          <a:noFill/>
          <a:ln/>
        </p:spPr>
        <p:txBody>
          <a:bodyPr wrap="square" lIns="25400" tIns="25400" rIns="25400" bIns="25400" rtlCol="0" anchor="t">
            <a:normAutofit/>
          </a:bodyPr>
          <a:lstStyle/>
          <a:p>
            <a:pPr algn="l" indent="0" marL="0">
              <a:lnSpc>
                <a:spcPct val="78100"/>
              </a:lnSpc>
              <a:buNone/>
            </a:pPr>
            <a:r>
              <a:rPr lang="en-US" sz="1148" spc="-34" kern="0" dirty="0">
                <a:solidFill>
                  <a:srgbClr val="FBFBFA"/>
                </a:solidFill>
                <a:latin typeface="Geist" pitchFamily="34" charset="0"/>
                <a:ea typeface="Geist" pitchFamily="34" charset="-122"/>
                <a:cs typeface="Geist" pitchFamily="34" charset="-120"/>
              </a:rPr>
              <a:t>Interlock</a:t>
            </a:r>
            <a:endParaRPr lang="en-US" sz="1148" dirty="0"/>
          </a:p>
        </p:txBody>
      </p:sp>
      <p:sp>
        <p:nvSpPr>
          <p:cNvPr id="10" name="Text 7"/>
          <p:cNvSpPr/>
          <p:nvPr/>
        </p:nvSpPr>
        <p:spPr>
          <a:xfrm>
            <a:off x="3678212" y="1638729"/>
            <a:ext cx="523162" cy="145447"/>
          </a:xfrm>
          <a:prstGeom prst="rect">
            <a:avLst/>
          </a:prstGeom>
          <a:noFill/>
          <a:ln/>
        </p:spPr>
        <p:txBody>
          <a:bodyPr wrap="square" lIns="25400" tIns="25400" rIns="25400" bIns="25400" rtlCol="0" anchor="t">
            <a:normAutofit/>
          </a:bodyPr>
          <a:lstStyle/>
          <a:p>
            <a:pPr algn="l" indent="0" marL="0">
              <a:buNone/>
            </a:pPr>
            <a:r>
              <a:rPr lang="en-US" sz="662" spc="106" kern="0" dirty="0">
                <a:solidFill>
                  <a:srgbClr val="737B7B"/>
                </a:solidFill>
                <a:latin typeface="Geist Mono" pitchFamily="34" charset="0"/>
                <a:ea typeface="Geist Mono" pitchFamily="34" charset="-122"/>
                <a:cs typeface="Geist Mono" pitchFamily="34" charset="-120"/>
              </a:rPr>
              <a:t>THE RUN</a:t>
            </a:r>
            <a:endParaRPr lang="en-US" sz="662" dirty="0"/>
          </a:p>
        </p:txBody>
      </p:sp>
      <p:sp>
        <p:nvSpPr>
          <p:cNvPr id="11" name="Shape 8"/>
          <p:cNvSpPr/>
          <p:nvPr/>
        </p:nvSpPr>
        <p:spPr>
          <a:xfrm>
            <a:off x="4274526" y="1578054"/>
            <a:ext cx="9525" cy="228695"/>
          </a:xfrm>
          <a:prstGeom prst="rect">
            <a:avLst/>
          </a:prstGeom>
          <a:solidFill>
            <a:srgbClr val="1E2323"/>
          </a:solidFill>
          <a:ln/>
        </p:spPr>
      </p:sp>
      <p:sp>
        <p:nvSpPr>
          <p:cNvPr id="12" name="Text 9"/>
          <p:cNvSpPr/>
          <p:nvPr/>
        </p:nvSpPr>
        <p:spPr>
          <a:xfrm>
            <a:off x="4433213" y="1578054"/>
            <a:ext cx="2464213" cy="266795"/>
          </a:xfrm>
          <a:prstGeom prst="rect">
            <a:avLst/>
          </a:prstGeom>
          <a:noFill/>
          <a:ln/>
        </p:spPr>
        <p:txBody>
          <a:bodyPr wrap="none" lIns="25400" tIns="25400" rIns="25400" bIns="25400" rtlCol="0" anchor="t">
            <a:normAutofit/>
          </a:bodyPr>
          <a:lstStyle/>
          <a:p>
            <a:pPr algn="l" indent="0" marL="0">
              <a:buNone/>
            </a:pPr>
            <a:r>
              <a:rPr lang="en-US" sz="1397" spc="-20" kern="0" dirty="0">
                <a:solidFill>
                  <a:srgbClr val="FBFBFA"/>
                </a:solidFill>
                <a:latin typeface="Geist" pitchFamily="34" charset="0"/>
                <a:ea typeface="Geist" pitchFamily="34" charset="-122"/>
                <a:cs typeface="Geist" pitchFamily="34" charset="-120"/>
              </a:rPr>
              <a:t>Controlled local experiment</a:t>
            </a:r>
            <a:endParaRPr lang="en-US" sz="1397" dirty="0"/>
          </a:p>
        </p:txBody>
      </p:sp>
      <p:sp>
        <p:nvSpPr>
          <p:cNvPr id="13" name="Text 10"/>
          <p:cNvSpPr/>
          <p:nvPr/>
        </p:nvSpPr>
        <p:spPr>
          <a:xfrm>
            <a:off x="10635623" y="1638729"/>
            <a:ext cx="395470" cy="145447"/>
          </a:xfrm>
          <a:prstGeom prst="rect">
            <a:avLst/>
          </a:prstGeom>
          <a:noFill/>
          <a:ln/>
        </p:spPr>
        <p:txBody>
          <a:bodyPr wrap="square" lIns="25400" tIns="25400" rIns="25400" bIns="25400" rtlCol="0" anchor="t">
            <a:normAutofit/>
          </a:bodyPr>
          <a:lstStyle/>
          <a:p>
            <a:pPr algn="l" indent="0" marL="0">
              <a:buNone/>
            </a:pPr>
            <a:r>
              <a:rPr lang="en-US" sz="662" spc="106" kern="0" dirty="0">
                <a:solidFill>
                  <a:srgbClr val="737B7B"/>
                </a:solidFill>
                <a:latin typeface="Geist Mono" pitchFamily="34" charset="0"/>
                <a:ea typeface="Geist Mono" pitchFamily="34" charset="-122"/>
                <a:cs typeface="Geist Mono" pitchFamily="34" charset="-120"/>
              </a:rPr>
              <a:t>PROOF</a:t>
            </a:r>
            <a:endParaRPr lang="en-US" sz="662" dirty="0"/>
          </a:p>
        </p:txBody>
      </p:sp>
      <p:sp>
        <p:nvSpPr>
          <p:cNvPr id="14" name="Shape 11"/>
          <p:cNvSpPr/>
          <p:nvPr/>
        </p:nvSpPr>
        <p:spPr>
          <a:xfrm>
            <a:off x="11048237" y="1547717"/>
            <a:ext cx="4564570" cy="289370"/>
          </a:xfrm>
          <a:prstGeom prst="rect">
            <a:avLst/>
          </a:prstGeom>
          <a:ln w="9335">
            <a:solidFill>
              <a:srgbClr val="515858"/>
            </a:solidFill>
            <a:prstDash val="solid"/>
          </a:ln>
        </p:spPr>
      </p:sp>
      <p:sp>
        <p:nvSpPr>
          <p:cNvPr id="15" name="Shape 12"/>
          <p:cNvSpPr/>
          <p:nvPr/>
        </p:nvSpPr>
        <p:spPr>
          <a:xfrm>
            <a:off x="11057572" y="1557052"/>
            <a:ext cx="2333625" cy="270700"/>
          </a:xfrm>
          <a:prstGeom prst="rect">
            <a:avLst/>
          </a:prstGeom>
          <a:solidFill>
            <a:srgbClr val="FBFBFA"/>
          </a:solidFill>
          <a:ln/>
          <a:effectLst>
            <a:outerShdw sx="100000" sy="100000" kx="0" ky="0" algn="bl" rotWithShape="0" blurRad="19050" dist="9525" dir="5400000">
              <a:srgbClr val="000000">
                <a:alpha val="50000"/>
              </a:srgbClr>
            </a:outerShdw>
          </a:effectLst>
        </p:spPr>
      </p:sp>
      <p:sp>
        <p:nvSpPr>
          <p:cNvPr id="16" name="Text 13"/>
          <p:cNvSpPr/>
          <p:nvPr/>
        </p:nvSpPr>
        <p:spPr>
          <a:xfrm>
            <a:off x="11178920" y="1631728"/>
            <a:ext cx="2167128" cy="159448"/>
          </a:xfrm>
          <a:prstGeom prst="rect">
            <a:avLst/>
          </a:prstGeom>
          <a:noFill/>
          <a:ln/>
        </p:spPr>
        <p:txBody>
          <a:bodyPr wrap="none" lIns="25400" tIns="25400" rIns="25400" bIns="25400" rtlCol="0" anchor="t">
            <a:normAutofit/>
          </a:bodyPr>
          <a:lstStyle/>
          <a:p>
            <a:pPr algn="l" indent="0" marL="0">
              <a:buNone/>
            </a:pPr>
            <a:r>
              <a:rPr lang="en-US" sz="735" spc="74" kern="0" dirty="0">
                <a:solidFill>
                  <a:srgbClr val="0B0D0E"/>
                </a:solidFill>
                <a:latin typeface="Geist Mono" pitchFamily="34" charset="0"/>
                <a:ea typeface="Geist Mono" pitchFamily="34" charset="-122"/>
                <a:cs typeface="Geist Mono" pitchFamily="34" charset="-120"/>
              </a:rPr>
              <a:t>A · CONTROLLED CAUSAL EXPERIMENT</a:t>
            </a:r>
            <a:endParaRPr lang="en-US" sz="735" dirty="0"/>
          </a:p>
        </p:txBody>
      </p:sp>
      <p:sp>
        <p:nvSpPr>
          <p:cNvPr id="17" name="Shape 14"/>
          <p:cNvSpPr/>
          <p:nvPr/>
        </p:nvSpPr>
        <p:spPr>
          <a:xfrm>
            <a:off x="13391197" y="1557052"/>
            <a:ext cx="9525" cy="270700"/>
          </a:xfrm>
          <a:prstGeom prst="rect">
            <a:avLst/>
          </a:prstGeom>
          <a:solidFill>
            <a:srgbClr val="515858"/>
          </a:solidFill>
          <a:ln/>
        </p:spPr>
      </p:sp>
      <p:sp>
        <p:nvSpPr>
          <p:cNvPr id="18" name="Text 15"/>
          <p:cNvSpPr/>
          <p:nvPr/>
        </p:nvSpPr>
        <p:spPr>
          <a:xfrm>
            <a:off x="13521880" y="1631728"/>
            <a:ext cx="2036445" cy="159448"/>
          </a:xfrm>
          <a:prstGeom prst="rect">
            <a:avLst/>
          </a:prstGeom>
          <a:noFill/>
          <a:ln/>
        </p:spPr>
        <p:txBody>
          <a:bodyPr wrap="none" lIns="25400" tIns="25400" rIns="25400" bIns="25400" rtlCol="0" anchor="t">
            <a:normAutofit/>
          </a:bodyPr>
          <a:lstStyle/>
          <a:p>
            <a:pPr algn="l" indent="0" marL="0">
              <a:buNone/>
            </a:pPr>
            <a:r>
              <a:rPr lang="en-US" sz="735" spc="74" kern="0" dirty="0">
                <a:solidFill>
                  <a:srgbClr val="9BA2A2"/>
                </a:solidFill>
                <a:latin typeface="Geist Mono" pitchFamily="34" charset="0"/>
                <a:ea typeface="Geist Mono" pitchFamily="34" charset="-122"/>
                <a:cs typeface="Geist Mono" pitchFamily="34" charset="-120"/>
              </a:rPr>
              <a:t>B · GOOGLE CLOUD PARTICIPATION</a:t>
            </a:r>
            <a:endParaRPr lang="en-US" sz="735" dirty="0"/>
          </a:p>
        </p:txBody>
      </p:sp>
      <p:sp>
        <p:nvSpPr>
          <p:cNvPr id="19" name="Shape 16"/>
          <p:cNvSpPr/>
          <p:nvPr/>
        </p:nvSpPr>
        <p:spPr>
          <a:xfrm>
            <a:off x="2432494" y="1958435"/>
            <a:ext cx="13441681" cy="354711"/>
          </a:xfrm>
          <a:prstGeom prst="rect">
            <a:avLst/>
          </a:prstGeom>
          <a:solidFill>
            <a:srgbClr val="141818"/>
          </a:solidFill>
          <a:ln/>
        </p:spPr>
      </p:sp>
      <p:sp>
        <p:nvSpPr>
          <p:cNvPr id="20" name="Shape 17"/>
          <p:cNvSpPr/>
          <p:nvPr/>
        </p:nvSpPr>
        <p:spPr>
          <a:xfrm>
            <a:off x="2432494" y="2294477"/>
            <a:ext cx="13441681" cy="18669"/>
          </a:xfrm>
          <a:prstGeom prst="rect">
            <a:avLst/>
          </a:prstGeom>
          <a:solidFill>
            <a:srgbClr val="FBFBFA"/>
          </a:solidFill>
          <a:ln/>
        </p:spPr>
      </p:sp>
      <p:sp>
        <p:nvSpPr>
          <p:cNvPr id="21" name="Text 18"/>
          <p:cNvSpPr/>
          <p:nvPr/>
        </p:nvSpPr>
        <p:spPr>
          <a:xfrm>
            <a:off x="2693860" y="2065782"/>
            <a:ext cx="266682"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737B7B"/>
                </a:solidFill>
                <a:latin typeface="Geist Mono" pitchFamily="34" charset="0"/>
                <a:ea typeface="Geist Mono" pitchFamily="34" charset="-122"/>
                <a:cs typeface="Geist Mono" pitchFamily="34" charset="-120"/>
              </a:rPr>
              <a:t>run</a:t>
            </a:r>
            <a:endParaRPr lang="en-US" sz="735" dirty="0"/>
          </a:p>
        </p:txBody>
      </p:sp>
      <p:sp>
        <p:nvSpPr>
          <p:cNvPr id="22" name="Text 19"/>
          <p:cNvSpPr/>
          <p:nvPr/>
        </p:nvSpPr>
        <p:spPr>
          <a:xfrm>
            <a:off x="2949684" y="2065782"/>
            <a:ext cx="837910"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FBFBFA"/>
                </a:solidFill>
                <a:latin typeface="Geist Mono" pitchFamily="34" charset="0"/>
                <a:ea typeface="Geist Mono" pitchFamily="34" charset="-122"/>
                <a:cs typeface="Geist Mono" pitchFamily="34" charset="-120"/>
              </a:rPr>
              <a:t>hac330-local</a:t>
            </a:r>
            <a:endParaRPr lang="en-US" sz="735" dirty="0"/>
          </a:p>
        </p:txBody>
      </p:sp>
      <p:sp>
        <p:nvSpPr>
          <p:cNvPr id="23" name="Shape 20"/>
          <p:cNvSpPr/>
          <p:nvPr/>
        </p:nvSpPr>
        <p:spPr>
          <a:xfrm>
            <a:off x="3879415" y="2065782"/>
            <a:ext cx="9525" cy="121348"/>
          </a:xfrm>
          <a:prstGeom prst="rect">
            <a:avLst/>
          </a:prstGeom>
          <a:solidFill>
            <a:srgbClr val="1E2323"/>
          </a:solidFill>
          <a:ln/>
        </p:spPr>
      </p:sp>
      <p:sp>
        <p:nvSpPr>
          <p:cNvPr id="24" name="Text 21"/>
          <p:cNvSpPr/>
          <p:nvPr/>
        </p:nvSpPr>
        <p:spPr>
          <a:xfrm>
            <a:off x="4056770" y="2065782"/>
            <a:ext cx="393573"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737B7B"/>
                </a:solidFill>
                <a:latin typeface="Geist Mono" pitchFamily="34" charset="0"/>
                <a:ea typeface="Geist Mono" pitchFamily="34" charset="-122"/>
                <a:cs typeface="Geist Mono" pitchFamily="34" charset="-120"/>
              </a:rPr>
              <a:t>issue</a:t>
            </a:r>
            <a:endParaRPr lang="en-US" sz="735" dirty="0"/>
          </a:p>
        </p:txBody>
      </p:sp>
      <p:sp>
        <p:nvSpPr>
          <p:cNvPr id="25" name="Text 22"/>
          <p:cNvSpPr/>
          <p:nvPr/>
        </p:nvSpPr>
        <p:spPr>
          <a:xfrm>
            <a:off x="4439485" y="2065782"/>
            <a:ext cx="520537"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FBFBFA"/>
                </a:solidFill>
                <a:latin typeface="Geist Mono" pitchFamily="34" charset="0"/>
                <a:ea typeface="Geist Mono" pitchFamily="34" charset="-122"/>
                <a:cs typeface="Geist Mono" pitchFamily="34" charset="-120"/>
              </a:rPr>
              <a:t>HAC-330</a:t>
            </a:r>
            <a:endParaRPr lang="en-US" sz="735" dirty="0"/>
          </a:p>
        </p:txBody>
      </p:sp>
      <p:sp>
        <p:nvSpPr>
          <p:cNvPr id="26" name="Shape 23"/>
          <p:cNvSpPr/>
          <p:nvPr/>
        </p:nvSpPr>
        <p:spPr>
          <a:xfrm>
            <a:off x="5051843" y="2065782"/>
            <a:ext cx="9525" cy="121348"/>
          </a:xfrm>
          <a:prstGeom prst="rect">
            <a:avLst/>
          </a:prstGeom>
          <a:solidFill>
            <a:srgbClr val="1E2323"/>
          </a:solidFill>
          <a:ln/>
        </p:spPr>
      </p:sp>
      <p:sp>
        <p:nvSpPr>
          <p:cNvPr id="27" name="Text 24"/>
          <p:cNvSpPr/>
          <p:nvPr/>
        </p:nvSpPr>
        <p:spPr>
          <a:xfrm>
            <a:off x="5229198" y="2065782"/>
            <a:ext cx="393572"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737B7B"/>
                </a:solidFill>
                <a:latin typeface="Geist Mono" pitchFamily="34" charset="0"/>
                <a:ea typeface="Geist Mono" pitchFamily="34" charset="-122"/>
                <a:cs typeface="Geist Mono" pitchFamily="34" charset="-120"/>
              </a:rPr>
              <a:t>state</a:t>
            </a:r>
            <a:endParaRPr lang="en-US" sz="735" dirty="0"/>
          </a:p>
        </p:txBody>
      </p:sp>
      <p:sp>
        <p:nvSpPr>
          <p:cNvPr id="28" name="Text 25"/>
          <p:cNvSpPr/>
          <p:nvPr/>
        </p:nvSpPr>
        <p:spPr>
          <a:xfrm>
            <a:off x="5611912" y="2065782"/>
            <a:ext cx="490711" cy="159448"/>
          </a:xfrm>
          <a:prstGeom prst="rect">
            <a:avLst/>
          </a:prstGeom>
          <a:noFill/>
          <a:ln/>
        </p:spPr>
        <p:txBody>
          <a:bodyPr wrap="square" lIns="25400" tIns="25400" rIns="25400" bIns="25400" rtlCol="0" anchor="t">
            <a:normAutofit/>
          </a:bodyPr>
          <a:lstStyle/>
          <a:p>
            <a:pPr algn="l" indent="0" marL="0">
              <a:buNone/>
            </a:pPr>
            <a:r>
              <a:rPr lang="en-US" sz="735" spc="103" kern="0" dirty="0">
                <a:solidFill>
                  <a:srgbClr val="FBFBFA"/>
                </a:solidFill>
                <a:latin typeface="Geist Mono" pitchFamily="34" charset="0"/>
                <a:ea typeface="Geist Mono" pitchFamily="34" charset="-122"/>
                <a:cs typeface="Geist Mono" pitchFamily="34" charset="-120"/>
              </a:rPr>
              <a:t>FROZEN</a:t>
            </a:r>
            <a:endParaRPr lang="en-US" sz="735" dirty="0"/>
          </a:p>
        </p:txBody>
      </p:sp>
      <p:sp>
        <p:nvSpPr>
          <p:cNvPr id="29" name="Shape 26"/>
          <p:cNvSpPr/>
          <p:nvPr/>
        </p:nvSpPr>
        <p:spPr>
          <a:xfrm>
            <a:off x="6194444" y="2065782"/>
            <a:ext cx="9525" cy="121348"/>
          </a:xfrm>
          <a:prstGeom prst="rect">
            <a:avLst/>
          </a:prstGeom>
          <a:solidFill>
            <a:srgbClr val="1E2323"/>
          </a:solidFill>
          <a:ln/>
        </p:spPr>
      </p:sp>
      <p:sp>
        <p:nvSpPr>
          <p:cNvPr id="30" name="Text 27"/>
          <p:cNvSpPr/>
          <p:nvPr/>
        </p:nvSpPr>
        <p:spPr>
          <a:xfrm>
            <a:off x="6371799" y="2065782"/>
            <a:ext cx="584055"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737B7B"/>
                </a:solidFill>
                <a:latin typeface="Geist Mono" pitchFamily="34" charset="0"/>
                <a:ea typeface="Geist Mono" pitchFamily="34" charset="-122"/>
                <a:cs typeface="Geist Mono" pitchFamily="34" charset="-120"/>
              </a:rPr>
              <a:t>evidence</a:t>
            </a:r>
            <a:endParaRPr lang="en-US" sz="735" dirty="0"/>
          </a:p>
        </p:txBody>
      </p:sp>
      <p:sp>
        <p:nvSpPr>
          <p:cNvPr id="31" name="Text 28"/>
          <p:cNvSpPr/>
          <p:nvPr/>
        </p:nvSpPr>
        <p:spPr>
          <a:xfrm>
            <a:off x="6944996" y="2065782"/>
            <a:ext cx="1536101"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FBFBFA"/>
                </a:solidFill>
                <a:latin typeface="Geist Mono" pitchFamily="34" charset="0"/>
                <a:ea typeface="Geist Mono" pitchFamily="34" charset="-122"/>
                <a:cs typeface="Geist Mono" pitchFamily="34" charset="-120"/>
              </a:rPr>
              <a:t>local frozen artifacts</a:t>
            </a:r>
            <a:endParaRPr lang="en-US" sz="735" dirty="0"/>
          </a:p>
        </p:txBody>
      </p:sp>
      <p:sp>
        <p:nvSpPr>
          <p:cNvPr id="32" name="Shape 29"/>
          <p:cNvSpPr/>
          <p:nvPr/>
        </p:nvSpPr>
        <p:spPr>
          <a:xfrm>
            <a:off x="12767609" y="2065782"/>
            <a:ext cx="9525" cy="121348"/>
          </a:xfrm>
          <a:prstGeom prst="rect">
            <a:avLst/>
          </a:prstGeom>
          <a:solidFill>
            <a:srgbClr val="1E2323"/>
          </a:solidFill>
          <a:ln/>
        </p:spPr>
      </p:sp>
      <p:sp>
        <p:nvSpPr>
          <p:cNvPr id="33" name="Text 30"/>
          <p:cNvSpPr/>
          <p:nvPr/>
        </p:nvSpPr>
        <p:spPr>
          <a:xfrm>
            <a:off x="12944963" y="2065782"/>
            <a:ext cx="393574"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737B7B"/>
                </a:solidFill>
                <a:latin typeface="Geist Mono" pitchFamily="34" charset="0"/>
                <a:ea typeface="Geist Mono" pitchFamily="34" charset="-122"/>
                <a:cs typeface="Geist Mono" pitchFamily="34" charset="-120"/>
              </a:rPr>
              <a:t>claim</a:t>
            </a:r>
            <a:endParaRPr lang="en-US" sz="735" dirty="0"/>
          </a:p>
        </p:txBody>
      </p:sp>
      <p:sp>
        <p:nvSpPr>
          <p:cNvPr id="34" name="Text 31"/>
          <p:cNvSpPr/>
          <p:nvPr/>
        </p:nvSpPr>
        <p:spPr>
          <a:xfrm>
            <a:off x="13327680" y="2065782"/>
            <a:ext cx="2513641"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9BA2A2"/>
                </a:solidFill>
                <a:latin typeface="Geist Mono" pitchFamily="34" charset="0"/>
                <a:ea typeface="Geist Mono" pitchFamily="34" charset="-122"/>
                <a:cs typeface="Geist Mono" pitchFamily="34" charset="-120"/>
              </a:rPr>
              <a:t>bounded causal claim, local evidence</a:t>
            </a:r>
            <a:endParaRPr lang="en-US" sz="735" dirty="0"/>
          </a:p>
        </p:txBody>
      </p:sp>
      <p:sp>
        <p:nvSpPr>
          <p:cNvPr id="35" name="Shape 32"/>
          <p:cNvSpPr/>
          <p:nvPr/>
        </p:nvSpPr>
        <p:spPr>
          <a:xfrm>
            <a:off x="2432494" y="2313146"/>
            <a:ext cx="13441681" cy="578739"/>
          </a:xfrm>
          <a:prstGeom prst="rect">
            <a:avLst/>
          </a:prstGeom>
          <a:solidFill>
            <a:srgbClr val="0F1212"/>
          </a:solidFill>
          <a:ln/>
        </p:spPr>
      </p:sp>
      <p:sp>
        <p:nvSpPr>
          <p:cNvPr id="36" name="Shape 33"/>
          <p:cNvSpPr/>
          <p:nvPr/>
        </p:nvSpPr>
        <p:spPr>
          <a:xfrm>
            <a:off x="2432494" y="2882551"/>
            <a:ext cx="13441681" cy="9525"/>
          </a:xfrm>
          <a:prstGeom prst="rect">
            <a:avLst/>
          </a:prstGeom>
          <a:solidFill>
            <a:srgbClr val="1E2323"/>
          </a:solidFill>
          <a:ln/>
        </p:spPr>
      </p:sp>
      <p:sp>
        <p:nvSpPr>
          <p:cNvPr id="37" name="Shape 34"/>
          <p:cNvSpPr/>
          <p:nvPr/>
        </p:nvSpPr>
        <p:spPr>
          <a:xfrm>
            <a:off x="2693860" y="2434495"/>
            <a:ext cx="2138768" cy="182023"/>
          </a:xfrm>
          <a:prstGeom prst="rect">
            <a:avLst/>
          </a:prstGeom>
          <a:ln w="9335">
            <a:solidFill>
              <a:srgbClr val="515858"/>
            </a:solidFill>
            <a:prstDash val="dash"/>
          </a:ln>
        </p:spPr>
      </p:sp>
      <p:sp>
        <p:nvSpPr>
          <p:cNvPr id="38" name="Text 35"/>
          <p:cNvSpPr/>
          <p:nvPr/>
        </p:nvSpPr>
        <p:spPr>
          <a:xfrm>
            <a:off x="2768536" y="2471833"/>
            <a:ext cx="2065616" cy="145447"/>
          </a:xfrm>
          <a:prstGeom prst="rect">
            <a:avLst/>
          </a:prstGeom>
          <a:noFill/>
          <a:ln/>
        </p:spPr>
        <p:txBody>
          <a:bodyPr wrap="none" lIns="25400" tIns="25400" rIns="25400" bIns="25400" rtlCol="0" anchor="t">
            <a:normAutofit/>
          </a:bodyPr>
          <a:lstStyle/>
          <a:p>
            <a:pPr algn="l" indent="0" marL="0">
              <a:buNone/>
            </a:pPr>
            <a:r>
              <a:rPr lang="en-US" sz="662" spc="93" kern="0" dirty="0">
                <a:solidFill>
                  <a:srgbClr val="737B7B"/>
                </a:solidFill>
                <a:latin typeface="Geist Mono" pitchFamily="34" charset="0"/>
                <a:ea typeface="Geist Mono" pitchFamily="34" charset="-122"/>
                <a:cs typeface="Geist Mono" pitchFamily="34" charset="-120"/>
              </a:rPr>
              <a:t>EDITORIAL CONTEXT · NOT EVIDENCE</a:t>
            </a:r>
            <a:endParaRPr lang="en-US" sz="662" dirty="0"/>
          </a:p>
        </p:txBody>
      </p:sp>
      <p:sp>
        <p:nvSpPr>
          <p:cNvPr id="39" name="Text 36"/>
          <p:cNvSpPr/>
          <p:nvPr/>
        </p:nvSpPr>
        <p:spPr>
          <a:xfrm>
            <a:off x="4963310" y="2415826"/>
            <a:ext cx="8736340" cy="241125"/>
          </a:xfrm>
          <a:prstGeom prst="rect">
            <a:avLst/>
          </a:prstGeom>
          <a:noFill/>
          <a:ln/>
        </p:spPr>
        <p:txBody>
          <a:bodyPr wrap="square" lIns="25400" tIns="25400" rIns="25400" bIns="25400" rtlCol="0" anchor="t">
            <a:normAutofit/>
          </a:bodyPr>
          <a:lstStyle/>
          <a:p>
            <a:pPr algn="l" indent="0" marL="0">
              <a:lnSpc>
                <a:spcPct val="111538"/>
              </a:lnSpc>
              <a:buNone/>
            </a:pPr>
            <a:r>
              <a:rPr lang="en-US" sz="1102" dirty="0">
                <a:solidFill>
                  <a:srgbClr val="EEF0F0"/>
                </a:solidFill>
                <a:latin typeface="Geist" pitchFamily="34" charset="0"/>
                <a:ea typeface="Geist" pitchFamily="34" charset="-122"/>
                <a:cs typeface="Geist" pitchFamily="34" charset="-120"/>
              </a:rPr>
              <a:t>Two locally valid actions share an environment; Interlock changes the coordination decision when that coupling is evidenced.</a:t>
            </a:r>
            <a:endParaRPr lang="en-US" sz="1102" dirty="0"/>
          </a:p>
        </p:txBody>
      </p:sp>
      <p:sp>
        <p:nvSpPr>
          <p:cNvPr id="40" name="Shape 37"/>
          <p:cNvSpPr/>
          <p:nvPr/>
        </p:nvSpPr>
        <p:spPr>
          <a:xfrm>
            <a:off x="2432494" y="2891885"/>
            <a:ext cx="13441681" cy="6608826"/>
          </a:xfrm>
          <a:prstGeom prst="rect">
            <a:avLst/>
          </a:prstGeom>
          <a:solidFill>
            <a:srgbClr val="141818"/>
          </a:solidFill>
          <a:ln/>
        </p:spPr>
      </p:sp>
      <p:sp>
        <p:nvSpPr>
          <p:cNvPr id="41" name="Text 38"/>
          <p:cNvSpPr/>
          <p:nvPr/>
        </p:nvSpPr>
        <p:spPr>
          <a:xfrm>
            <a:off x="2693860" y="3059906"/>
            <a:ext cx="1012640" cy="168783"/>
          </a:xfrm>
          <a:prstGeom prst="rect">
            <a:avLst/>
          </a:prstGeom>
          <a:noFill/>
          <a:ln/>
        </p:spPr>
        <p:txBody>
          <a:bodyPr wrap="square" lIns="25400" tIns="25400" rIns="25400" bIns="25400" rtlCol="0" anchor="t">
            <a:normAutofit/>
          </a:bodyPr>
          <a:lstStyle/>
          <a:p>
            <a:pPr algn="l" indent="0" marL="0">
              <a:buNone/>
            </a:pPr>
            <a:r>
              <a:rPr lang="en-US" sz="808" spc="129" kern="0" dirty="0">
                <a:solidFill>
                  <a:srgbClr val="FBFBFA"/>
                </a:solidFill>
                <a:latin typeface="Geist Mono" pitchFamily="34" charset="0"/>
                <a:ea typeface="Geist Mono" pitchFamily="34" charset="-122"/>
                <a:cs typeface="Geist Mono" pitchFamily="34" charset="-120"/>
              </a:rPr>
              <a:t>WHAT CHANGED</a:t>
            </a:r>
            <a:endParaRPr lang="en-US" sz="808" dirty="0"/>
          </a:p>
        </p:txBody>
      </p:sp>
      <p:sp>
        <p:nvSpPr>
          <p:cNvPr id="42" name="Text 39"/>
          <p:cNvSpPr/>
          <p:nvPr/>
        </p:nvSpPr>
        <p:spPr>
          <a:xfrm>
            <a:off x="8057041" y="3078575"/>
            <a:ext cx="1863071"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REGION 1 · CAUSAL SPINE · L1</a:t>
            </a:r>
            <a:endParaRPr lang="en-US" sz="662" dirty="0"/>
          </a:p>
        </p:txBody>
      </p:sp>
      <p:sp>
        <p:nvSpPr>
          <p:cNvPr id="43" name="Shape 40"/>
          <p:cNvSpPr/>
          <p:nvPr/>
        </p:nvSpPr>
        <p:spPr>
          <a:xfrm>
            <a:off x="2693860" y="3302603"/>
            <a:ext cx="3453765" cy="1624203"/>
          </a:xfrm>
          <a:prstGeom prst="rect">
            <a:avLst/>
          </a:prstGeom>
          <a:solidFill>
            <a:srgbClr val="FBFBFA"/>
          </a:solidFill>
          <a:ln w="9335">
            <a:solidFill>
              <a:srgbClr val="DDE0E0"/>
            </a:solidFill>
            <a:prstDash val="solid"/>
          </a:ln>
          <a:effectLst>
            <a:outerShdw sx="100000" sy="100000" kx="0" ky="0" algn="bl" rotWithShape="0" blurRad="19050" dist="9525" dir="5400000">
              <a:srgbClr val="000000">
                <a:alpha val="50000"/>
              </a:srgbClr>
            </a:outerShdw>
          </a:effectLst>
        </p:spPr>
      </p:sp>
      <p:sp>
        <p:nvSpPr>
          <p:cNvPr id="44" name="Text 41"/>
          <p:cNvSpPr/>
          <p:nvPr/>
        </p:nvSpPr>
        <p:spPr>
          <a:xfrm>
            <a:off x="2852547" y="3442621"/>
            <a:ext cx="3450032" cy="159448"/>
          </a:xfrm>
          <a:prstGeom prst="rect">
            <a:avLst/>
          </a:prstGeom>
          <a:noFill/>
          <a:ln/>
        </p:spPr>
        <p:txBody>
          <a:bodyPr wrap="square" lIns="25400" tIns="25400" rIns="25400" bIns="25400" rtlCol="0" anchor="t">
            <a:normAutofit/>
          </a:bodyPr>
          <a:lstStyle/>
          <a:p>
            <a:pPr algn="l" indent="0" marL="0">
              <a:buNone/>
            </a:pPr>
            <a:r>
              <a:rPr lang="en-US" sz="735" spc="103" kern="0" dirty="0">
                <a:solidFill>
                  <a:srgbClr val="0B0D0E"/>
                </a:solidFill>
                <a:latin typeface="Geist Mono" pitchFamily="34" charset="0"/>
                <a:ea typeface="Geist Mono" pitchFamily="34" charset="-122"/>
                <a:cs typeface="Geist Mono" pitchFamily="34" charset="-120"/>
              </a:rPr>
              <a:t>INTENT A</a:t>
            </a:r>
            <a:endParaRPr lang="en-US" sz="735" dirty="0"/>
          </a:p>
        </p:txBody>
      </p:sp>
      <p:sp>
        <p:nvSpPr>
          <p:cNvPr id="45" name="Shape 42"/>
          <p:cNvSpPr/>
          <p:nvPr/>
        </p:nvSpPr>
        <p:spPr>
          <a:xfrm>
            <a:off x="2852547" y="3647980"/>
            <a:ext cx="3136392" cy="220236"/>
          </a:xfrm>
          <a:prstGeom prst="roundRect">
            <a:avLst>
              <a:gd name="adj" fmla="val 8477"/>
            </a:avLst>
          </a:prstGeom>
          <a:solidFill>
            <a:srgbClr val="768080">
              <a:alpha val="10000"/>
            </a:srgbClr>
          </a:solidFill>
          <a:ln w="9335">
            <a:solidFill>
              <a:srgbClr val="787C7E">
                <a:alpha val="55000"/>
              </a:srgbClr>
            </a:solidFill>
            <a:prstDash val="dash"/>
          </a:ln>
        </p:spPr>
      </p:sp>
      <p:sp>
        <p:nvSpPr>
          <p:cNvPr id="46" name="Shape 43"/>
          <p:cNvSpPr/>
          <p:nvPr/>
        </p:nvSpPr>
        <p:spPr>
          <a:xfrm>
            <a:off x="2899219" y="3690204"/>
            <a:ext cx="135788" cy="135788"/>
          </a:xfrm>
          <a:prstGeom prst="roundRect">
            <a:avLst>
              <a:gd name="adj" fmla="val 13749"/>
            </a:avLst>
          </a:prstGeom>
          <a:solidFill>
            <a:srgbClr val="767C7C">
              <a:alpha val="16000"/>
            </a:srgbClr>
          </a:solidFill>
          <a:ln/>
        </p:spPr>
      </p:sp>
      <p:sp>
        <p:nvSpPr>
          <p:cNvPr id="47" name="Text 44"/>
          <p:cNvSpPr/>
          <p:nvPr/>
        </p:nvSpPr>
        <p:spPr>
          <a:xfrm>
            <a:off x="2861119" y="3690204"/>
            <a:ext cx="211988" cy="173888"/>
          </a:xfrm>
          <a:prstGeom prst="rect">
            <a:avLst/>
          </a:prstGeom>
          <a:noFill/>
          <a:ln/>
        </p:spPr>
        <p:txBody>
          <a:bodyPr wrap="none" lIns="25400" tIns="25400" rIns="25400" bIns="25400" rtlCol="0" anchor="ctr">
            <a:normAutofit/>
          </a:bodyPr>
          <a:lstStyle/>
          <a:p>
            <a:pPr algn="ctr" indent="0" marL="0">
              <a:lnSpc>
                <a:spcPct val="79063"/>
              </a:lnSpc>
              <a:buNone/>
            </a:pPr>
            <a:r>
              <a:rPr lang="en-US" sz="930" spc="81" kern="0" dirty="0">
                <a:solidFill>
                  <a:srgbClr val="787B7D"/>
                </a:solidFill>
                <a:latin typeface="Geist Mono" pitchFamily="34" charset="0"/>
                <a:ea typeface="Geist Mono" pitchFamily="34" charset="-122"/>
                <a:cs typeface="Geist Mono" pitchFamily="34" charset="-120"/>
              </a:rPr>
              <a:t>∙</a:t>
            </a:r>
            <a:endParaRPr lang="en-US" sz="930" dirty="0"/>
          </a:p>
        </p:txBody>
      </p:sp>
      <p:sp>
        <p:nvSpPr>
          <p:cNvPr id="48" name="Text 45"/>
          <p:cNvSpPr/>
          <p:nvPr/>
        </p:nvSpPr>
        <p:spPr>
          <a:xfrm>
            <a:off x="3109683" y="3689985"/>
            <a:ext cx="1010598" cy="168783"/>
          </a:xfrm>
          <a:prstGeom prst="rect">
            <a:avLst/>
          </a:prstGeom>
          <a:noFill/>
          <a:ln/>
        </p:spPr>
        <p:txBody>
          <a:bodyPr wrap="none" lIns="0" tIns="0" rIns="0" bIns="0" rtlCol="0" anchor="t">
            <a:normAutofit/>
          </a:bodyPr>
          <a:lstStyle/>
          <a:p>
            <a:pPr algn="l" indent="0" marL="0">
              <a:lnSpc>
                <a:spcPct val="125714"/>
              </a:lnSpc>
              <a:buNone/>
            </a:pPr>
            <a:r>
              <a:rPr lang="en-US" sz="808" spc="81" kern="0" dirty="0">
                <a:solidFill>
                  <a:srgbClr val="787B7D"/>
                </a:solidFill>
                <a:latin typeface="Geist Mono" pitchFamily="34" charset="0"/>
                <a:ea typeface="Geist Mono" pitchFamily="34" charset="-122"/>
                <a:cs typeface="Geist Mono" pitchFamily="34" charset="-120"/>
              </a:rPr>
              <a:t>LOCALLY VALID</a:t>
            </a:r>
            <a:endParaRPr lang="en-US" sz="808" dirty="0"/>
          </a:p>
        </p:txBody>
      </p:sp>
      <p:sp>
        <p:nvSpPr>
          <p:cNvPr id="49" name="Text 46"/>
          <p:cNvSpPr/>
          <p:nvPr/>
        </p:nvSpPr>
        <p:spPr>
          <a:xfrm>
            <a:off x="2852547" y="3952226"/>
            <a:ext cx="3450032" cy="220123"/>
          </a:xfrm>
          <a:prstGeom prst="rect">
            <a:avLst/>
          </a:prstGeom>
          <a:noFill/>
          <a:ln/>
        </p:spPr>
        <p:txBody>
          <a:bodyPr wrap="square" lIns="25400" tIns="25400" rIns="25400" bIns="25400" rtlCol="0" anchor="t">
            <a:normAutofit/>
          </a:bodyPr>
          <a:lstStyle/>
          <a:p>
            <a:pPr algn="l" indent="0" marL="0">
              <a:lnSpc>
                <a:spcPct val="114706"/>
              </a:lnSpc>
              <a:buNone/>
            </a:pPr>
            <a:r>
              <a:rPr lang="en-US" sz="956" dirty="0">
                <a:solidFill>
                  <a:srgbClr val="515858"/>
                </a:solidFill>
                <a:latin typeface="Geist" pitchFamily="34" charset="0"/>
                <a:ea typeface="Geist" pitchFamily="34" charset="-122"/>
                <a:cs typeface="Geist" pitchFamily="34" charset="-120"/>
              </a:rPr>
              <a:t>Checked in its own scope. Nothing is coordinated yet.</a:t>
            </a:r>
            <a:endParaRPr lang="en-US" sz="956" dirty="0"/>
          </a:p>
        </p:txBody>
      </p:sp>
      <p:sp>
        <p:nvSpPr>
          <p:cNvPr id="50" name="Shape 47"/>
          <p:cNvSpPr/>
          <p:nvPr/>
        </p:nvSpPr>
        <p:spPr>
          <a:xfrm>
            <a:off x="6296977" y="3302603"/>
            <a:ext cx="3453765" cy="1624203"/>
          </a:xfrm>
          <a:prstGeom prst="rect">
            <a:avLst/>
          </a:prstGeom>
          <a:solidFill>
            <a:srgbClr val="FBFBFA"/>
          </a:solidFill>
          <a:ln w="9335">
            <a:solidFill>
              <a:srgbClr val="DDE0E0"/>
            </a:solidFill>
            <a:prstDash val="solid"/>
          </a:ln>
          <a:effectLst>
            <a:outerShdw sx="100000" sy="100000" kx="0" ky="0" algn="bl" rotWithShape="0" blurRad="19050" dist="9525" dir="5400000">
              <a:srgbClr val="000000">
                <a:alpha val="50000"/>
              </a:srgbClr>
            </a:outerShdw>
          </a:effectLst>
        </p:spPr>
      </p:sp>
      <p:sp>
        <p:nvSpPr>
          <p:cNvPr id="51" name="Text 48"/>
          <p:cNvSpPr/>
          <p:nvPr/>
        </p:nvSpPr>
        <p:spPr>
          <a:xfrm>
            <a:off x="6455664" y="3442621"/>
            <a:ext cx="3450031" cy="159448"/>
          </a:xfrm>
          <a:prstGeom prst="rect">
            <a:avLst/>
          </a:prstGeom>
          <a:noFill/>
          <a:ln/>
        </p:spPr>
        <p:txBody>
          <a:bodyPr wrap="square" lIns="25400" tIns="25400" rIns="25400" bIns="25400" rtlCol="0" anchor="t">
            <a:normAutofit/>
          </a:bodyPr>
          <a:lstStyle/>
          <a:p>
            <a:pPr algn="l" indent="0" marL="0">
              <a:buNone/>
            </a:pPr>
            <a:r>
              <a:rPr lang="en-US" sz="735" spc="103" kern="0" dirty="0">
                <a:solidFill>
                  <a:srgbClr val="0B0D0E"/>
                </a:solidFill>
                <a:latin typeface="Geist Mono" pitchFamily="34" charset="0"/>
                <a:ea typeface="Geist Mono" pitchFamily="34" charset="-122"/>
                <a:cs typeface="Geist Mono" pitchFamily="34" charset="-120"/>
              </a:rPr>
              <a:t>INTENT B</a:t>
            </a:r>
            <a:endParaRPr lang="en-US" sz="735" dirty="0"/>
          </a:p>
        </p:txBody>
      </p:sp>
      <p:sp>
        <p:nvSpPr>
          <p:cNvPr id="52" name="Shape 49"/>
          <p:cNvSpPr/>
          <p:nvPr/>
        </p:nvSpPr>
        <p:spPr>
          <a:xfrm>
            <a:off x="6455664" y="3647980"/>
            <a:ext cx="3136392" cy="220236"/>
          </a:xfrm>
          <a:prstGeom prst="roundRect">
            <a:avLst>
              <a:gd name="adj" fmla="val 8477"/>
            </a:avLst>
          </a:prstGeom>
          <a:solidFill>
            <a:srgbClr val="768080">
              <a:alpha val="10000"/>
            </a:srgbClr>
          </a:solidFill>
          <a:ln w="9335">
            <a:solidFill>
              <a:srgbClr val="787C7E">
                <a:alpha val="55000"/>
              </a:srgbClr>
            </a:solidFill>
            <a:prstDash val="dash"/>
          </a:ln>
        </p:spPr>
      </p:sp>
      <p:sp>
        <p:nvSpPr>
          <p:cNvPr id="53" name="Shape 50"/>
          <p:cNvSpPr/>
          <p:nvPr/>
        </p:nvSpPr>
        <p:spPr>
          <a:xfrm>
            <a:off x="6502336" y="3690204"/>
            <a:ext cx="135788" cy="135788"/>
          </a:xfrm>
          <a:prstGeom prst="roundRect">
            <a:avLst>
              <a:gd name="adj" fmla="val 13749"/>
            </a:avLst>
          </a:prstGeom>
          <a:solidFill>
            <a:srgbClr val="767C7C">
              <a:alpha val="16000"/>
            </a:srgbClr>
          </a:solidFill>
          <a:ln/>
        </p:spPr>
      </p:sp>
      <p:sp>
        <p:nvSpPr>
          <p:cNvPr id="54" name="Text 51"/>
          <p:cNvSpPr/>
          <p:nvPr/>
        </p:nvSpPr>
        <p:spPr>
          <a:xfrm>
            <a:off x="6464236" y="3690204"/>
            <a:ext cx="211988" cy="173888"/>
          </a:xfrm>
          <a:prstGeom prst="rect">
            <a:avLst/>
          </a:prstGeom>
          <a:noFill/>
          <a:ln/>
        </p:spPr>
        <p:txBody>
          <a:bodyPr wrap="none" lIns="25400" tIns="25400" rIns="25400" bIns="25400" rtlCol="0" anchor="ctr">
            <a:normAutofit/>
          </a:bodyPr>
          <a:lstStyle/>
          <a:p>
            <a:pPr algn="ctr" indent="0" marL="0">
              <a:lnSpc>
                <a:spcPct val="79063"/>
              </a:lnSpc>
              <a:buNone/>
            </a:pPr>
            <a:r>
              <a:rPr lang="en-US" sz="930" spc="81" kern="0" dirty="0">
                <a:solidFill>
                  <a:srgbClr val="787B7D"/>
                </a:solidFill>
                <a:latin typeface="Geist Mono" pitchFamily="34" charset="0"/>
                <a:ea typeface="Geist Mono" pitchFamily="34" charset="-122"/>
                <a:cs typeface="Geist Mono" pitchFamily="34" charset="-120"/>
              </a:rPr>
              <a:t>∙</a:t>
            </a:r>
            <a:endParaRPr lang="en-US" sz="930" dirty="0"/>
          </a:p>
        </p:txBody>
      </p:sp>
      <p:sp>
        <p:nvSpPr>
          <p:cNvPr id="55" name="Text 52"/>
          <p:cNvSpPr/>
          <p:nvPr/>
        </p:nvSpPr>
        <p:spPr>
          <a:xfrm>
            <a:off x="6712800" y="3689985"/>
            <a:ext cx="1010598" cy="168783"/>
          </a:xfrm>
          <a:prstGeom prst="rect">
            <a:avLst/>
          </a:prstGeom>
          <a:noFill/>
          <a:ln/>
        </p:spPr>
        <p:txBody>
          <a:bodyPr wrap="none" lIns="0" tIns="0" rIns="0" bIns="0" rtlCol="0" anchor="t">
            <a:normAutofit/>
          </a:bodyPr>
          <a:lstStyle/>
          <a:p>
            <a:pPr algn="l" indent="0" marL="0">
              <a:lnSpc>
                <a:spcPct val="125714"/>
              </a:lnSpc>
              <a:buNone/>
            </a:pPr>
            <a:r>
              <a:rPr lang="en-US" sz="808" spc="81" kern="0" dirty="0">
                <a:solidFill>
                  <a:srgbClr val="787B7D"/>
                </a:solidFill>
                <a:latin typeface="Geist Mono" pitchFamily="34" charset="0"/>
                <a:ea typeface="Geist Mono" pitchFamily="34" charset="-122"/>
                <a:cs typeface="Geist Mono" pitchFamily="34" charset="-120"/>
              </a:rPr>
              <a:t>LOCALLY VALID</a:t>
            </a:r>
            <a:endParaRPr lang="en-US" sz="808" dirty="0"/>
          </a:p>
        </p:txBody>
      </p:sp>
      <p:sp>
        <p:nvSpPr>
          <p:cNvPr id="56" name="Text 53"/>
          <p:cNvSpPr/>
          <p:nvPr/>
        </p:nvSpPr>
        <p:spPr>
          <a:xfrm>
            <a:off x="6455664" y="3952226"/>
            <a:ext cx="3450031" cy="220123"/>
          </a:xfrm>
          <a:prstGeom prst="rect">
            <a:avLst/>
          </a:prstGeom>
          <a:noFill/>
          <a:ln/>
        </p:spPr>
        <p:txBody>
          <a:bodyPr wrap="square" lIns="25400" tIns="25400" rIns="25400" bIns="25400" rtlCol="0" anchor="t">
            <a:normAutofit/>
          </a:bodyPr>
          <a:lstStyle/>
          <a:p>
            <a:pPr algn="l" indent="0" marL="0">
              <a:lnSpc>
                <a:spcPct val="114706"/>
              </a:lnSpc>
              <a:buNone/>
            </a:pPr>
            <a:r>
              <a:rPr lang="en-US" sz="956" dirty="0">
                <a:solidFill>
                  <a:srgbClr val="515858"/>
                </a:solidFill>
                <a:latin typeface="Geist" pitchFamily="34" charset="0"/>
                <a:ea typeface="Geist" pitchFamily="34" charset="-122"/>
                <a:cs typeface="Geist" pitchFamily="34" charset="-120"/>
              </a:rPr>
              <a:t>Checked in its own scope. Nothing is coordinated yet.</a:t>
            </a:r>
            <a:endParaRPr lang="en-US" sz="956" dirty="0"/>
          </a:p>
        </p:txBody>
      </p:sp>
      <p:sp>
        <p:nvSpPr>
          <p:cNvPr id="57" name="Shape 54"/>
          <p:cNvSpPr/>
          <p:nvPr/>
        </p:nvSpPr>
        <p:spPr>
          <a:xfrm>
            <a:off x="4458081" y="4926806"/>
            <a:ext cx="9525" cy="112014"/>
          </a:xfrm>
          <a:prstGeom prst="rect">
            <a:avLst/>
          </a:prstGeom>
          <a:solidFill>
            <a:srgbClr val="737B7B"/>
          </a:solidFill>
          <a:ln/>
        </p:spPr>
      </p:sp>
      <p:sp>
        <p:nvSpPr>
          <p:cNvPr id="58" name="Shape 55"/>
          <p:cNvSpPr/>
          <p:nvPr/>
        </p:nvSpPr>
        <p:spPr>
          <a:xfrm>
            <a:off x="7986522" y="4926806"/>
            <a:ext cx="9525" cy="112014"/>
          </a:xfrm>
          <a:prstGeom prst="rect">
            <a:avLst/>
          </a:prstGeom>
          <a:solidFill>
            <a:srgbClr val="737B7B"/>
          </a:solidFill>
          <a:ln/>
        </p:spPr>
      </p:sp>
      <p:sp>
        <p:nvSpPr>
          <p:cNvPr id="59" name="Shape 56"/>
          <p:cNvSpPr/>
          <p:nvPr/>
        </p:nvSpPr>
        <p:spPr>
          <a:xfrm>
            <a:off x="4458081" y="5038820"/>
            <a:ext cx="3528441" cy="9525"/>
          </a:xfrm>
          <a:prstGeom prst="rect">
            <a:avLst/>
          </a:prstGeom>
          <a:solidFill>
            <a:srgbClr val="737B7B"/>
          </a:solidFill>
          <a:ln/>
        </p:spPr>
      </p:sp>
      <p:sp>
        <p:nvSpPr>
          <p:cNvPr id="60" name="Shape 57"/>
          <p:cNvSpPr/>
          <p:nvPr/>
        </p:nvSpPr>
        <p:spPr>
          <a:xfrm>
            <a:off x="6222302" y="5038820"/>
            <a:ext cx="18669" cy="130683"/>
          </a:xfrm>
          <a:prstGeom prst="rect">
            <a:avLst/>
          </a:prstGeom>
          <a:solidFill>
            <a:srgbClr val="FBFBFA"/>
          </a:solidFill>
          <a:ln/>
        </p:spPr>
      </p:sp>
      <p:sp>
        <p:nvSpPr>
          <p:cNvPr id="61" name="Shape 58"/>
          <p:cNvSpPr/>
          <p:nvPr/>
        </p:nvSpPr>
        <p:spPr>
          <a:xfrm>
            <a:off x="4420743" y="5020152"/>
            <a:ext cx="84011" cy="28003"/>
          </a:xfrm>
          <a:prstGeom prst="rect">
            <a:avLst/>
          </a:prstGeom>
          <a:solidFill>
            <a:srgbClr val="FBFBFA"/>
          </a:solidFill>
          <a:ln/>
        </p:spPr>
      </p:sp>
      <p:sp>
        <p:nvSpPr>
          <p:cNvPr id="62" name="Shape 59"/>
          <p:cNvSpPr/>
          <p:nvPr/>
        </p:nvSpPr>
        <p:spPr>
          <a:xfrm>
            <a:off x="7949184" y="5020152"/>
            <a:ext cx="84011" cy="28003"/>
          </a:xfrm>
          <a:prstGeom prst="rect">
            <a:avLst/>
          </a:prstGeom>
          <a:solidFill>
            <a:srgbClr val="FBFBFA"/>
          </a:solidFill>
          <a:ln/>
        </p:spPr>
      </p:sp>
      <p:sp>
        <p:nvSpPr>
          <p:cNvPr id="63" name="Shape 60"/>
          <p:cNvSpPr/>
          <p:nvPr/>
        </p:nvSpPr>
        <p:spPr>
          <a:xfrm>
            <a:off x="2693860" y="5169503"/>
            <a:ext cx="7056882" cy="1381506"/>
          </a:xfrm>
          <a:prstGeom prst="rect">
            <a:avLst/>
          </a:prstGeom>
          <a:solidFill>
            <a:srgbClr val="FBFBFA"/>
          </a:solidFill>
          <a:ln w="18669">
            <a:solidFill>
              <a:srgbClr val="FBFBFA"/>
            </a:solidFill>
            <a:prstDash val="solid"/>
          </a:ln>
          <a:effectLst>
            <a:outerShdw sx="100000" sy="100000" kx="0" ky="0" algn="bl" rotWithShape="0" blurRad="228600" dist="76200" dir="5400000">
              <a:srgbClr val="000000">
                <a:alpha val="55000"/>
              </a:srgbClr>
            </a:outerShdw>
          </a:effectLst>
        </p:spPr>
      </p:sp>
      <p:sp>
        <p:nvSpPr>
          <p:cNvPr id="64" name="Text 61"/>
          <p:cNvSpPr/>
          <p:nvPr/>
        </p:nvSpPr>
        <p:spPr>
          <a:xfrm>
            <a:off x="2871216" y="5372966"/>
            <a:ext cx="3799142" cy="159448"/>
          </a:xfrm>
          <a:prstGeom prst="rect">
            <a:avLst/>
          </a:prstGeom>
          <a:noFill/>
          <a:ln/>
        </p:spPr>
        <p:txBody>
          <a:bodyPr wrap="square" lIns="25400" tIns="25400" rIns="25400" bIns="25400" rtlCol="0" anchor="t">
            <a:normAutofit/>
          </a:bodyPr>
          <a:lstStyle/>
          <a:p>
            <a:pPr algn="l" indent="0" marL="0">
              <a:buNone/>
            </a:pPr>
            <a:r>
              <a:rPr lang="en-US" sz="735" spc="103" kern="0" dirty="0">
                <a:solidFill>
                  <a:srgbClr val="0B0D0E"/>
                </a:solidFill>
                <a:latin typeface="Geist Mono" pitchFamily="34" charset="0"/>
                <a:ea typeface="Geist Mono" pitchFamily="34" charset="-122"/>
                <a:cs typeface="Geist Mono" pitchFamily="34" charset="-120"/>
              </a:rPr>
              <a:t>SHARED ENVIRONMENT · WORKSPACEJSON, REVISION BOUND</a:t>
            </a:r>
            <a:endParaRPr lang="en-US" sz="735" dirty="0"/>
          </a:p>
        </p:txBody>
      </p:sp>
      <p:sp>
        <p:nvSpPr>
          <p:cNvPr id="65" name="Shape 62"/>
          <p:cNvSpPr/>
          <p:nvPr/>
        </p:nvSpPr>
        <p:spPr>
          <a:xfrm>
            <a:off x="8719718" y="5318856"/>
            <a:ext cx="853669" cy="229570"/>
          </a:xfrm>
          <a:prstGeom prst="roundRect">
            <a:avLst>
              <a:gd name="adj" fmla="val 8132"/>
            </a:avLst>
          </a:prstGeom>
          <a:solidFill>
            <a:srgbClr val="3180C4">
              <a:alpha val="10000"/>
            </a:srgbClr>
          </a:solidFill>
          <a:ln w="14002">
            <a:solidFill>
              <a:srgbClr val="357EC5">
                <a:alpha val="55000"/>
              </a:srgbClr>
            </a:solidFill>
            <a:prstDash val="solid"/>
          </a:ln>
        </p:spPr>
      </p:sp>
      <p:sp>
        <p:nvSpPr>
          <p:cNvPr id="66" name="Shape 63"/>
          <p:cNvSpPr/>
          <p:nvPr/>
        </p:nvSpPr>
        <p:spPr>
          <a:xfrm>
            <a:off x="8771057" y="5365747"/>
            <a:ext cx="135788" cy="135788"/>
          </a:xfrm>
          <a:prstGeom prst="roundRect">
            <a:avLst>
              <a:gd name="adj" fmla="val 13749"/>
            </a:avLst>
          </a:prstGeom>
          <a:solidFill>
            <a:srgbClr val="327CC7">
              <a:alpha val="16000"/>
            </a:srgbClr>
          </a:solidFill>
          <a:ln/>
        </p:spPr>
      </p:sp>
      <p:sp>
        <p:nvSpPr>
          <p:cNvPr id="67" name="Text 64"/>
          <p:cNvSpPr/>
          <p:nvPr/>
        </p:nvSpPr>
        <p:spPr>
          <a:xfrm>
            <a:off x="8732957" y="5365747"/>
            <a:ext cx="211988" cy="173888"/>
          </a:xfrm>
          <a:prstGeom prst="rect">
            <a:avLst/>
          </a:prstGeom>
          <a:noFill/>
          <a:ln/>
        </p:spPr>
        <p:txBody>
          <a:bodyPr wrap="none" lIns="25400" tIns="25400" rIns="25400" bIns="25400" rtlCol="0" anchor="ctr">
            <a:normAutofit/>
          </a:bodyPr>
          <a:lstStyle/>
          <a:p>
            <a:pPr algn="ctr" indent="0" marL="0">
              <a:lnSpc>
                <a:spcPct val="79063"/>
              </a:lnSpc>
              <a:buNone/>
            </a:pPr>
            <a:r>
              <a:rPr lang="en-US" sz="930" spc="81" kern="0" dirty="0">
                <a:solidFill>
                  <a:srgbClr val="347EC4"/>
                </a:solidFill>
                <a:latin typeface="Geist Mono" pitchFamily="34" charset="0"/>
                <a:ea typeface="Geist Mono" pitchFamily="34" charset="-122"/>
                <a:cs typeface="Geist Mono" pitchFamily="34" charset="-120"/>
              </a:rPr>
              <a:t>⧉</a:t>
            </a:r>
            <a:endParaRPr lang="en-US" sz="930" dirty="0"/>
          </a:p>
        </p:txBody>
      </p:sp>
      <p:sp>
        <p:nvSpPr>
          <p:cNvPr id="68" name="Text 65"/>
          <p:cNvSpPr/>
          <p:nvPr/>
        </p:nvSpPr>
        <p:spPr>
          <a:xfrm>
            <a:off x="8981521" y="5365528"/>
            <a:ext cx="579388" cy="168783"/>
          </a:xfrm>
          <a:prstGeom prst="rect">
            <a:avLst/>
          </a:prstGeom>
          <a:noFill/>
          <a:ln/>
        </p:spPr>
        <p:txBody>
          <a:bodyPr wrap="none" lIns="0" tIns="0" rIns="0" bIns="0" rtlCol="0" anchor="t">
            <a:normAutofit/>
          </a:bodyPr>
          <a:lstStyle/>
          <a:p>
            <a:pPr algn="l" indent="0" marL="0">
              <a:lnSpc>
                <a:spcPct val="125714"/>
              </a:lnSpc>
              <a:buNone/>
            </a:pPr>
            <a:r>
              <a:rPr lang="en-US" sz="808" spc="81" kern="0" dirty="0">
                <a:solidFill>
                  <a:srgbClr val="347EC4"/>
                </a:solidFill>
                <a:latin typeface="Geist Mono" pitchFamily="34" charset="0"/>
                <a:ea typeface="Geist Mono" pitchFamily="34" charset="-122"/>
                <a:cs typeface="Geist Mono" pitchFamily="34" charset="-120"/>
              </a:rPr>
              <a:t>COUPLED</a:t>
            </a:r>
            <a:endParaRPr lang="en-US" sz="808" dirty="0"/>
          </a:p>
        </p:txBody>
      </p:sp>
      <p:sp>
        <p:nvSpPr>
          <p:cNvPr id="69" name="Text 66"/>
          <p:cNvSpPr/>
          <p:nvPr/>
        </p:nvSpPr>
        <p:spPr>
          <a:xfrm>
            <a:off x="2871216" y="5641771"/>
            <a:ext cx="5711484" cy="417022"/>
          </a:xfrm>
          <a:prstGeom prst="rect">
            <a:avLst/>
          </a:prstGeom>
          <a:noFill/>
          <a:ln/>
        </p:spPr>
        <p:txBody>
          <a:bodyPr wrap="square" lIns="25400" tIns="25400" rIns="25400" bIns="25400" rtlCol="0" anchor="t">
            <a:normAutofit/>
          </a:bodyPr>
          <a:lstStyle/>
          <a:p>
            <a:pPr algn="l" indent="0" marL="0">
              <a:lnSpc>
                <a:spcPct val="112778"/>
              </a:lnSpc>
              <a:buNone/>
            </a:pPr>
            <a:r>
              <a:rPr lang="en-US" sz="1029" dirty="0">
                <a:solidFill>
                  <a:srgbClr val="1E2323"/>
                </a:solidFill>
                <a:latin typeface="Geist" pitchFamily="34" charset="0"/>
                <a:ea typeface="Geist" pitchFamily="34" charset="-122"/>
                <a:cs typeface="Geist" pitchFamily="34" charset="-120"/>
              </a:rPr>
              <a:t>One environment carries both intents, so the bounded constraint applies to their joint outcome, not to either action alone.</a:t>
            </a:r>
            <a:endParaRPr lang="en-US" sz="1029" dirty="0"/>
          </a:p>
        </p:txBody>
      </p:sp>
      <p:sp>
        <p:nvSpPr>
          <p:cNvPr id="70" name="Shape 67"/>
          <p:cNvSpPr/>
          <p:nvPr/>
        </p:nvSpPr>
        <p:spPr>
          <a:xfrm>
            <a:off x="2871216" y="6114038"/>
            <a:ext cx="6702171" cy="9525"/>
          </a:xfrm>
          <a:prstGeom prst="rect">
            <a:avLst/>
          </a:prstGeom>
          <a:solidFill>
            <a:srgbClr val="DDE0E0"/>
          </a:solidFill>
          <a:ln/>
        </p:spPr>
      </p:sp>
      <p:sp>
        <p:nvSpPr>
          <p:cNvPr id="71" name="Text 68"/>
          <p:cNvSpPr/>
          <p:nvPr/>
        </p:nvSpPr>
        <p:spPr>
          <a:xfrm>
            <a:off x="2871216" y="6254055"/>
            <a:ext cx="815521" cy="159448"/>
          </a:xfrm>
          <a:prstGeom prst="rect">
            <a:avLst/>
          </a:prstGeom>
          <a:noFill/>
          <a:ln/>
        </p:spPr>
        <p:txBody>
          <a:bodyPr wrap="square" lIns="25400" tIns="25400" rIns="25400" bIns="25400" rtlCol="0" anchor="t">
            <a:normAutofit/>
          </a:bodyPr>
          <a:lstStyle/>
          <a:p>
            <a:pPr algn="l" indent="0" marL="0">
              <a:buNone/>
            </a:pPr>
            <a:r>
              <a:rPr lang="en-US" sz="735" spc="88" kern="0" dirty="0">
                <a:solidFill>
                  <a:srgbClr val="737B7B"/>
                </a:solidFill>
                <a:latin typeface="Geist Mono" pitchFamily="34" charset="0"/>
                <a:ea typeface="Geist Mono" pitchFamily="34" charset="-122"/>
                <a:cs typeface="Geist Mono" pitchFamily="34" charset="-120"/>
              </a:rPr>
              <a:t>JOINT BOUND</a:t>
            </a:r>
            <a:endParaRPr lang="en-US" sz="735" dirty="0"/>
          </a:p>
        </p:txBody>
      </p:sp>
      <p:sp>
        <p:nvSpPr>
          <p:cNvPr id="72" name="Text 69"/>
          <p:cNvSpPr/>
          <p:nvPr/>
        </p:nvSpPr>
        <p:spPr>
          <a:xfrm>
            <a:off x="3703882" y="6207383"/>
            <a:ext cx="580263" cy="220123"/>
          </a:xfrm>
          <a:prstGeom prst="rect">
            <a:avLst/>
          </a:prstGeom>
          <a:noFill/>
          <a:ln/>
        </p:spPr>
        <p:txBody>
          <a:bodyPr wrap="square" lIns="25400" tIns="25400" rIns="25400" bIns="25400" rtlCol="0" anchor="t">
            <a:normAutofit/>
          </a:bodyPr>
          <a:lstStyle/>
          <a:p>
            <a:pPr algn="l" indent="0" marL="0">
              <a:buNone/>
            </a:pPr>
            <a:r>
              <a:rPr lang="en-US" sz="1102" dirty="0">
                <a:solidFill>
                  <a:srgbClr val="0B0D0E"/>
                </a:solidFill>
                <a:latin typeface="Geist Mono" pitchFamily="34" charset="0"/>
                <a:ea typeface="Geist Mono" pitchFamily="34" charset="-122"/>
                <a:cs typeface="Geist Mono" pitchFamily="34" charset="-120"/>
              </a:rPr>
              <a:t>&lt;= 130</a:t>
            </a:r>
            <a:endParaRPr lang="en-US" sz="1102" dirty="0"/>
          </a:p>
        </p:txBody>
      </p:sp>
      <p:sp>
        <p:nvSpPr>
          <p:cNvPr id="73" name="Shape 70"/>
          <p:cNvSpPr/>
          <p:nvPr/>
        </p:nvSpPr>
        <p:spPr>
          <a:xfrm>
            <a:off x="6222302" y="6551009"/>
            <a:ext cx="28004" cy="242697"/>
          </a:xfrm>
          <a:prstGeom prst="rect">
            <a:avLst/>
          </a:prstGeom>
          <a:solidFill>
            <a:srgbClr val="FBFBFA"/>
          </a:solidFill>
          <a:ln/>
        </p:spPr>
      </p:sp>
      <p:sp>
        <p:nvSpPr>
          <p:cNvPr id="74" name="Shape 71"/>
          <p:cNvSpPr/>
          <p:nvPr/>
        </p:nvSpPr>
        <p:spPr>
          <a:xfrm>
            <a:off x="2693860" y="6793706"/>
            <a:ext cx="7056882" cy="1605534"/>
          </a:xfrm>
          <a:prstGeom prst="rect">
            <a:avLst/>
          </a:prstGeom>
          <a:solidFill>
            <a:srgbClr val="F7F8F8"/>
          </a:solidFill>
          <a:ln/>
        </p:spPr>
      </p:sp>
      <p:sp>
        <p:nvSpPr>
          <p:cNvPr id="75" name="Shape 72"/>
          <p:cNvSpPr/>
          <p:nvPr/>
        </p:nvSpPr>
        <p:spPr>
          <a:xfrm>
            <a:off x="2693860" y="8380571"/>
            <a:ext cx="7056882" cy="18669"/>
          </a:xfrm>
          <a:prstGeom prst="rect">
            <a:avLst/>
          </a:prstGeom>
          <a:solidFill>
            <a:srgbClr val="FBFBFA"/>
          </a:solidFill>
          <a:ln/>
        </p:spPr>
      </p:sp>
      <p:sp>
        <p:nvSpPr>
          <p:cNvPr id="76" name="Shape 73"/>
          <p:cNvSpPr/>
          <p:nvPr/>
        </p:nvSpPr>
        <p:spPr>
          <a:xfrm>
            <a:off x="2693860" y="6793706"/>
            <a:ext cx="7056882" cy="18669"/>
          </a:xfrm>
          <a:prstGeom prst="rect">
            <a:avLst/>
          </a:prstGeom>
          <a:solidFill>
            <a:srgbClr val="FBFBFA"/>
          </a:solidFill>
          <a:ln/>
        </p:spPr>
      </p:sp>
      <p:sp>
        <p:nvSpPr>
          <p:cNvPr id="77" name="Text 74"/>
          <p:cNvSpPr/>
          <p:nvPr/>
        </p:nvSpPr>
        <p:spPr>
          <a:xfrm>
            <a:off x="2852547" y="6943058"/>
            <a:ext cx="2583432" cy="159448"/>
          </a:xfrm>
          <a:prstGeom prst="rect">
            <a:avLst/>
          </a:prstGeom>
          <a:noFill/>
          <a:ln/>
        </p:spPr>
        <p:txBody>
          <a:bodyPr wrap="square" lIns="25400" tIns="25400" rIns="25400" bIns="25400" rtlCol="0" anchor="t">
            <a:normAutofit/>
          </a:bodyPr>
          <a:lstStyle/>
          <a:p>
            <a:pPr algn="l" indent="0" marL="0">
              <a:buNone/>
            </a:pPr>
            <a:r>
              <a:rPr lang="en-US" sz="735" spc="103" kern="0" dirty="0">
                <a:solidFill>
                  <a:srgbClr val="737B7B"/>
                </a:solidFill>
                <a:latin typeface="Geist Mono" pitchFamily="34" charset="0"/>
                <a:ea typeface="Geist Mono" pitchFamily="34" charset="-122"/>
                <a:cs typeface="Geist Mono" pitchFamily="34" charset="-120"/>
              </a:rPr>
              <a:t>INTERLOCK DECISION · DETERMINISTIC</a:t>
            </a:r>
            <a:endParaRPr lang="en-US" sz="735" dirty="0"/>
          </a:p>
        </p:txBody>
      </p:sp>
      <p:sp>
        <p:nvSpPr>
          <p:cNvPr id="78" name="Text 75"/>
          <p:cNvSpPr/>
          <p:nvPr/>
        </p:nvSpPr>
        <p:spPr>
          <a:xfrm>
            <a:off x="7958883" y="6952393"/>
            <a:ext cx="1796490" cy="145446"/>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FROZEN ARM · NOT RECOMPUTED</a:t>
            </a:r>
            <a:endParaRPr lang="en-US" sz="662" dirty="0"/>
          </a:p>
        </p:txBody>
      </p:sp>
      <p:sp>
        <p:nvSpPr>
          <p:cNvPr id="79" name="Shape 76"/>
          <p:cNvSpPr/>
          <p:nvPr/>
        </p:nvSpPr>
        <p:spPr>
          <a:xfrm>
            <a:off x="2852547" y="7307104"/>
            <a:ext cx="205359" cy="46672"/>
          </a:xfrm>
          <a:prstGeom prst="rect">
            <a:avLst/>
          </a:prstGeom>
          <a:solidFill>
            <a:srgbClr val="0B0D0E"/>
          </a:solidFill>
          <a:ln/>
        </p:spPr>
      </p:sp>
      <p:sp>
        <p:nvSpPr>
          <p:cNvPr id="80" name="Shape 77"/>
          <p:cNvSpPr/>
          <p:nvPr/>
        </p:nvSpPr>
        <p:spPr>
          <a:xfrm>
            <a:off x="3197923" y="7307104"/>
            <a:ext cx="205359" cy="46672"/>
          </a:xfrm>
          <a:prstGeom prst="rect">
            <a:avLst/>
          </a:prstGeom>
          <a:solidFill>
            <a:srgbClr val="0B0D0E"/>
          </a:solidFill>
          <a:ln/>
        </p:spPr>
      </p:sp>
      <p:sp>
        <p:nvSpPr>
          <p:cNvPr id="81" name="Text 78"/>
          <p:cNvSpPr/>
          <p:nvPr/>
        </p:nvSpPr>
        <p:spPr>
          <a:xfrm>
            <a:off x="3533965" y="7148417"/>
            <a:ext cx="3260235" cy="402146"/>
          </a:xfrm>
          <a:prstGeom prst="rect">
            <a:avLst/>
          </a:prstGeom>
          <a:noFill/>
          <a:ln/>
        </p:spPr>
        <p:txBody>
          <a:bodyPr wrap="square" lIns="25400" tIns="25400" rIns="25400" bIns="25400" rtlCol="0" anchor="t">
            <a:normAutofit/>
          </a:bodyPr>
          <a:lstStyle/>
          <a:p>
            <a:pPr algn="l" indent="0" marL="0">
              <a:buNone/>
            </a:pPr>
            <a:r>
              <a:rPr lang="en-US" sz="2205" spc="-26" kern="0" dirty="0">
                <a:solidFill>
                  <a:srgbClr val="0B0D0E"/>
                </a:solidFill>
                <a:latin typeface="Geist Mono" pitchFamily="34" charset="0"/>
                <a:ea typeface="Geist Mono" pitchFamily="34" charset="-122"/>
                <a:cs typeface="Geist Mono" pitchFamily="34" charset="-120"/>
              </a:rPr>
              <a:t>WITHHOLD_SERIALIZE</a:t>
            </a:r>
            <a:endParaRPr lang="en-US" sz="2205" dirty="0"/>
          </a:p>
        </p:txBody>
      </p:sp>
      <p:sp>
        <p:nvSpPr>
          <p:cNvPr id="82" name="Text 79"/>
          <p:cNvSpPr/>
          <p:nvPr/>
        </p:nvSpPr>
        <p:spPr>
          <a:xfrm>
            <a:off x="2852547" y="7605808"/>
            <a:ext cx="337566" cy="159448"/>
          </a:xfrm>
          <a:prstGeom prst="rect">
            <a:avLst/>
          </a:prstGeom>
          <a:noFill/>
          <a:ln/>
        </p:spPr>
        <p:txBody>
          <a:bodyPr wrap="square" lIns="25400" tIns="25400" rIns="25400" bIns="25400" rtlCol="0" anchor="t">
            <a:normAutofit/>
          </a:bodyPr>
          <a:lstStyle/>
          <a:p>
            <a:pPr algn="l" indent="0" marL="0">
              <a:buNone/>
            </a:pPr>
            <a:r>
              <a:rPr lang="en-US" sz="735" spc="74" kern="0" dirty="0">
                <a:solidFill>
                  <a:srgbClr val="737B7B"/>
                </a:solidFill>
                <a:latin typeface="Geist Mono" pitchFamily="34" charset="0"/>
                <a:ea typeface="Geist Mono" pitchFamily="34" charset="-122"/>
                <a:cs typeface="Geist Mono" pitchFamily="34" charset="-120"/>
              </a:rPr>
              <a:t>GATE</a:t>
            </a:r>
            <a:endParaRPr lang="en-US" sz="735" dirty="0"/>
          </a:p>
        </p:txBody>
      </p:sp>
      <p:sp>
        <p:nvSpPr>
          <p:cNvPr id="83" name="Text 80"/>
          <p:cNvSpPr/>
          <p:nvPr/>
        </p:nvSpPr>
        <p:spPr>
          <a:xfrm>
            <a:off x="3207258" y="7596474"/>
            <a:ext cx="1694212" cy="168783"/>
          </a:xfrm>
          <a:prstGeom prst="rect">
            <a:avLst/>
          </a:prstGeom>
          <a:noFill/>
          <a:ln/>
        </p:spPr>
        <p:txBody>
          <a:bodyPr wrap="square" lIns="25400" tIns="25400" rIns="25400" bIns="25400" rtlCol="0" anchor="t">
            <a:normAutofit/>
          </a:bodyPr>
          <a:lstStyle/>
          <a:p>
            <a:pPr algn="l" indent="0" marL="0">
              <a:buNone/>
            </a:pPr>
            <a:r>
              <a:rPr lang="en-US" sz="808" dirty="0">
                <a:solidFill>
                  <a:srgbClr val="0B0D0E"/>
                </a:solidFill>
                <a:latin typeface="Geist Mono" pitchFamily="34" charset="0"/>
                <a:ea typeface="Geist Mono" pitchFamily="34" charset="-122"/>
                <a:cs typeface="Geist Mono" pitchFamily="34" charset="-120"/>
              </a:rPr>
              <a:t>closed · passage withheld</a:t>
            </a:r>
            <a:endParaRPr lang="en-US" sz="808" dirty="0"/>
          </a:p>
        </p:txBody>
      </p:sp>
      <p:sp>
        <p:nvSpPr>
          <p:cNvPr id="84" name="Shape 81"/>
          <p:cNvSpPr/>
          <p:nvPr/>
        </p:nvSpPr>
        <p:spPr>
          <a:xfrm>
            <a:off x="7631811" y="7745825"/>
            <a:ext cx="1960245" cy="9525"/>
          </a:xfrm>
          <a:prstGeom prst="rect">
            <a:avLst/>
          </a:prstGeom>
          <a:solidFill>
            <a:srgbClr val="0B0D0E"/>
          </a:solidFill>
          <a:ln/>
        </p:spPr>
      </p:sp>
      <p:sp>
        <p:nvSpPr>
          <p:cNvPr id="85" name="Text 82"/>
          <p:cNvSpPr/>
          <p:nvPr/>
        </p:nvSpPr>
        <p:spPr>
          <a:xfrm>
            <a:off x="7631811" y="7605808"/>
            <a:ext cx="2156269" cy="159448"/>
          </a:xfrm>
          <a:prstGeom prst="rect">
            <a:avLst/>
          </a:prstGeom>
          <a:noFill/>
          <a:ln/>
        </p:spPr>
        <p:txBody>
          <a:bodyPr wrap="square" lIns="25400" tIns="25400" rIns="25400" bIns="25400" rtlCol="0" anchor="t">
            <a:normAutofit/>
          </a:bodyPr>
          <a:lstStyle/>
          <a:p>
            <a:pPr algn="l" indent="0" marL="0">
              <a:buNone/>
            </a:pPr>
            <a:r>
              <a:rPr lang="en-US" sz="735" spc="74" kern="0" dirty="0">
                <a:solidFill>
                  <a:srgbClr val="515858"/>
                </a:solidFill>
                <a:latin typeface="Geist Mono" pitchFamily="34" charset="0"/>
                <a:ea typeface="Geist Mono" pitchFamily="34" charset="-122"/>
                <a:cs typeface="Geist Mono" pitchFamily="34" charset="-120"/>
              </a:rPr>
              <a:t>WHY DID INTERLOCK DECIDE THIS?</a:t>
            </a:r>
            <a:endParaRPr lang="en-US" sz="735" dirty="0"/>
          </a:p>
        </p:txBody>
      </p:sp>
      <p:sp>
        <p:nvSpPr>
          <p:cNvPr id="86" name="Shape 83"/>
          <p:cNvSpPr/>
          <p:nvPr/>
        </p:nvSpPr>
        <p:spPr>
          <a:xfrm>
            <a:off x="2693860" y="8884634"/>
            <a:ext cx="7056882" cy="448056"/>
          </a:xfrm>
          <a:prstGeom prst="rect">
            <a:avLst/>
          </a:prstGeom>
          <a:solidFill>
            <a:srgbClr val="0F1212"/>
          </a:solidFill>
          <a:ln/>
        </p:spPr>
      </p:sp>
      <p:sp>
        <p:nvSpPr>
          <p:cNvPr id="87" name="Shape 84"/>
          <p:cNvSpPr/>
          <p:nvPr/>
        </p:nvSpPr>
        <p:spPr>
          <a:xfrm>
            <a:off x="2693860" y="9323356"/>
            <a:ext cx="7056882" cy="9525"/>
          </a:xfrm>
          <a:prstGeom prst="rect">
            <a:avLst/>
          </a:prstGeom>
          <a:solidFill>
            <a:srgbClr val="1E2323"/>
          </a:solidFill>
          <a:ln/>
        </p:spPr>
      </p:sp>
      <p:sp>
        <p:nvSpPr>
          <p:cNvPr id="88" name="Shape 85"/>
          <p:cNvSpPr/>
          <p:nvPr/>
        </p:nvSpPr>
        <p:spPr>
          <a:xfrm>
            <a:off x="2693860" y="8884634"/>
            <a:ext cx="7056882" cy="9525"/>
          </a:xfrm>
          <a:prstGeom prst="rect">
            <a:avLst/>
          </a:prstGeom>
          <a:solidFill>
            <a:srgbClr val="1E2323"/>
          </a:solidFill>
          <a:ln/>
        </p:spPr>
      </p:sp>
      <p:sp>
        <p:nvSpPr>
          <p:cNvPr id="89" name="Shape 86"/>
          <p:cNvSpPr/>
          <p:nvPr/>
        </p:nvSpPr>
        <p:spPr>
          <a:xfrm>
            <a:off x="2693860" y="8884634"/>
            <a:ext cx="28004" cy="448056"/>
          </a:xfrm>
          <a:prstGeom prst="rect">
            <a:avLst/>
          </a:prstGeom>
          <a:solidFill>
            <a:srgbClr val="515858"/>
          </a:solidFill>
          <a:ln/>
        </p:spPr>
      </p:sp>
      <p:sp>
        <p:nvSpPr>
          <p:cNvPr id="90" name="Shape 87"/>
          <p:cNvSpPr/>
          <p:nvPr/>
        </p:nvSpPr>
        <p:spPr>
          <a:xfrm>
            <a:off x="9741408" y="8884634"/>
            <a:ext cx="9525" cy="448056"/>
          </a:xfrm>
          <a:prstGeom prst="rect">
            <a:avLst/>
          </a:prstGeom>
          <a:solidFill>
            <a:srgbClr val="1E2323"/>
          </a:solidFill>
          <a:ln/>
        </p:spPr>
      </p:sp>
      <p:sp>
        <p:nvSpPr>
          <p:cNvPr id="91" name="Text 88"/>
          <p:cNvSpPr/>
          <p:nvPr/>
        </p:nvSpPr>
        <p:spPr>
          <a:xfrm>
            <a:off x="2852547" y="9054989"/>
            <a:ext cx="1863071" cy="145446"/>
          </a:xfrm>
          <a:prstGeom prst="rect">
            <a:avLst/>
          </a:prstGeom>
          <a:noFill/>
          <a:ln/>
        </p:spPr>
        <p:txBody>
          <a:bodyPr wrap="non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NOT PRESENT IN PROOF CLASS A</a:t>
            </a:r>
            <a:endParaRPr lang="en-US" sz="662" dirty="0"/>
          </a:p>
        </p:txBody>
      </p:sp>
      <p:sp>
        <p:nvSpPr>
          <p:cNvPr id="92" name="Text 89"/>
          <p:cNvSpPr/>
          <p:nvPr/>
        </p:nvSpPr>
        <p:spPr>
          <a:xfrm>
            <a:off x="4676931" y="8977979"/>
            <a:ext cx="5081808" cy="299466"/>
          </a:xfrm>
          <a:prstGeom prst="rect">
            <a:avLst/>
          </a:prstGeom>
          <a:noFill/>
          <a:ln/>
        </p:spPr>
        <p:txBody>
          <a:bodyPr wrap="square" lIns="25400" tIns="25400" rIns="25400" bIns="25400" rtlCol="0" anchor="t">
            <a:normAutofit/>
          </a:bodyPr>
          <a:lstStyle/>
          <a:p>
            <a:pPr algn="l" indent="0" marL="0">
              <a:buNone/>
            </a:pPr>
            <a:r>
              <a:rPr lang="en-US" sz="808" dirty="0">
                <a:solidFill>
                  <a:srgbClr val="9BA2A2"/>
                </a:solidFill>
                <a:latin typeface="Geist Mono" pitchFamily="34" charset="0"/>
                <a:ea typeface="Geist Mono" pitchFamily="34" charset="-122"/>
                <a:cs typeface="Geist Mono" pitchFamily="34" charset="-120"/>
              </a:rPr>
              <a:t>authorization receipt · protected-target lifecycle · independent observer · Google Cloud runtime · human authorization</a:t>
            </a:r>
            <a:endParaRPr lang="en-US" sz="808" dirty="0"/>
          </a:p>
        </p:txBody>
      </p:sp>
      <p:sp>
        <p:nvSpPr>
          <p:cNvPr id="93" name="Shape 90"/>
          <p:cNvSpPr/>
          <p:nvPr/>
        </p:nvSpPr>
        <p:spPr>
          <a:xfrm>
            <a:off x="10012107" y="2891885"/>
            <a:ext cx="9525" cy="6608826"/>
          </a:xfrm>
          <a:prstGeom prst="rect">
            <a:avLst/>
          </a:prstGeom>
          <a:solidFill>
            <a:srgbClr val="1E2323"/>
          </a:solidFill>
          <a:ln/>
        </p:spPr>
      </p:sp>
      <p:sp>
        <p:nvSpPr>
          <p:cNvPr id="94" name="Text 91"/>
          <p:cNvSpPr/>
          <p:nvPr/>
        </p:nvSpPr>
        <p:spPr>
          <a:xfrm>
            <a:off x="10282810" y="3059906"/>
            <a:ext cx="1802666" cy="168783"/>
          </a:xfrm>
          <a:prstGeom prst="rect">
            <a:avLst/>
          </a:prstGeom>
          <a:noFill/>
          <a:ln/>
        </p:spPr>
        <p:txBody>
          <a:bodyPr wrap="square" lIns="25400" tIns="25400" rIns="25400" bIns="25400" rtlCol="0" anchor="t">
            <a:normAutofit/>
          </a:bodyPr>
          <a:lstStyle/>
          <a:p>
            <a:pPr algn="l" indent="0" marL="0">
              <a:buNone/>
            </a:pPr>
            <a:r>
              <a:rPr lang="en-US" sz="808" spc="129" kern="0" dirty="0">
                <a:solidFill>
                  <a:srgbClr val="FBFBFA"/>
                </a:solidFill>
                <a:latin typeface="Geist Mono" pitchFamily="34" charset="0"/>
                <a:ea typeface="Geist Mono" pitchFamily="34" charset="-122"/>
                <a:cs typeface="Geist Mono" pitchFamily="34" charset="-120"/>
              </a:rPr>
              <a:t>BOUNDED JOINT OUTCOME</a:t>
            </a:r>
            <a:endParaRPr lang="en-US" sz="808" dirty="0"/>
          </a:p>
        </p:txBody>
      </p:sp>
      <p:sp>
        <p:nvSpPr>
          <p:cNvPr id="95" name="Text 92"/>
          <p:cNvSpPr/>
          <p:nvPr/>
        </p:nvSpPr>
        <p:spPr>
          <a:xfrm>
            <a:off x="14524027" y="3078575"/>
            <a:ext cx="1164980"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REGION 2 · OUTCOME</a:t>
            </a:r>
            <a:endParaRPr lang="en-US" sz="662" dirty="0"/>
          </a:p>
        </p:txBody>
      </p:sp>
      <p:sp>
        <p:nvSpPr>
          <p:cNvPr id="96" name="Shape 93"/>
          <p:cNvSpPr/>
          <p:nvPr/>
        </p:nvSpPr>
        <p:spPr>
          <a:xfrm>
            <a:off x="10282810" y="3302603"/>
            <a:ext cx="5329998" cy="989457"/>
          </a:xfrm>
          <a:prstGeom prst="rect">
            <a:avLst/>
          </a:prstGeom>
          <a:solidFill>
            <a:srgbClr val="0F1212"/>
          </a:solidFill>
          <a:ln w="9335">
            <a:solidFill>
              <a:srgbClr val="343A3A"/>
            </a:solidFill>
            <a:prstDash val="solid"/>
          </a:ln>
        </p:spPr>
      </p:sp>
      <p:sp>
        <p:nvSpPr>
          <p:cNvPr id="97" name="Text 94"/>
          <p:cNvSpPr/>
          <p:nvPr/>
        </p:nvSpPr>
        <p:spPr>
          <a:xfrm>
            <a:off x="10441495" y="3510296"/>
            <a:ext cx="5513889" cy="145447"/>
          </a:xfrm>
          <a:prstGeom prst="rect">
            <a:avLst/>
          </a:prstGeom>
          <a:noFill/>
          <a:ln/>
        </p:spPr>
        <p:txBody>
          <a:bodyPr wrap="square" lIns="25400" tIns="25400" rIns="25400" bIns="25400" rtlCol="0" anchor="t">
            <a:normAutofit/>
          </a:bodyPr>
          <a:lstStyle/>
          <a:p>
            <a:pPr algn="l" indent="0" marL="0">
              <a:buNone/>
            </a:pPr>
            <a:r>
              <a:rPr lang="en-US" sz="662" spc="93" kern="0" dirty="0">
                <a:solidFill>
                  <a:srgbClr val="737B7B"/>
                </a:solidFill>
                <a:latin typeface="Geist Mono" pitchFamily="34" charset="0"/>
                <a:ea typeface="Geist Mono" pitchFamily="34" charset="-122"/>
                <a:cs typeface="Geist Mono" pitchFamily="34" charset="-120"/>
              </a:rPr>
              <a:t>BASELINE ARM · NOTHING COORDINATES</a:t>
            </a:r>
            <a:endParaRPr lang="en-US" sz="662" dirty="0"/>
          </a:p>
        </p:txBody>
      </p:sp>
      <p:sp>
        <p:nvSpPr>
          <p:cNvPr id="98" name="Text 95"/>
          <p:cNvSpPr/>
          <p:nvPr/>
        </p:nvSpPr>
        <p:spPr>
          <a:xfrm>
            <a:off x="10441495" y="3673650"/>
            <a:ext cx="1885212" cy="448818"/>
          </a:xfrm>
          <a:prstGeom prst="rect">
            <a:avLst/>
          </a:prstGeom>
          <a:noFill/>
          <a:ln/>
        </p:spPr>
        <p:txBody>
          <a:bodyPr wrap="square" lIns="25400" tIns="25400" rIns="25400" bIns="25400" rtlCol="0" anchor="t">
            <a:normAutofit/>
          </a:bodyPr>
          <a:lstStyle/>
          <a:p>
            <a:pPr algn="l" indent="0" marL="0">
              <a:buNone/>
            </a:pPr>
            <a:r>
              <a:rPr lang="en-US" sz="2499" dirty="0">
                <a:solidFill>
                  <a:srgbClr val="9BA2A2"/>
                </a:solidFill>
                <a:latin typeface="Geist Mono" pitchFamily="34" charset="0"/>
                <a:ea typeface="Geist Mono" pitchFamily="34" charset="-122"/>
                <a:cs typeface="Geist Mono" pitchFamily="34" charset="-120"/>
              </a:rPr>
              <a:t>140 &gt; 130</a:t>
            </a:r>
            <a:endParaRPr lang="en-US" sz="2499" dirty="0"/>
          </a:p>
        </p:txBody>
      </p:sp>
      <p:sp>
        <p:nvSpPr>
          <p:cNvPr id="99" name="Text 96"/>
          <p:cNvSpPr/>
          <p:nvPr/>
        </p:nvSpPr>
        <p:spPr>
          <a:xfrm>
            <a:off x="12286008" y="3888343"/>
            <a:ext cx="1423392" cy="168783"/>
          </a:xfrm>
          <a:prstGeom prst="rect">
            <a:avLst/>
          </a:prstGeom>
          <a:noFill/>
          <a:ln/>
        </p:spPr>
        <p:txBody>
          <a:bodyPr wrap="square" lIns="25400" tIns="25400" rIns="25400" bIns="25400" rtlCol="0" anchor="t">
            <a:normAutofit/>
          </a:bodyPr>
          <a:lstStyle/>
          <a:p>
            <a:pPr algn="l" indent="0" marL="0">
              <a:buNone/>
            </a:pPr>
            <a:r>
              <a:rPr lang="en-US" sz="808" dirty="0">
                <a:solidFill>
                  <a:srgbClr val="F47D67"/>
                </a:solidFill>
                <a:latin typeface="Geist Mono" pitchFamily="34" charset="0"/>
                <a:ea typeface="Geist Mono" pitchFamily="34" charset="-122"/>
                <a:cs typeface="Geist Mono" pitchFamily="34" charset="-120"/>
              </a:rPr>
              <a:t>✕ invalid joint state</a:t>
            </a:r>
            <a:endParaRPr lang="en-US" sz="808" dirty="0"/>
          </a:p>
        </p:txBody>
      </p:sp>
      <p:sp>
        <p:nvSpPr>
          <p:cNvPr id="100" name="Shape 97"/>
          <p:cNvSpPr/>
          <p:nvPr/>
        </p:nvSpPr>
        <p:spPr>
          <a:xfrm>
            <a:off x="10282810" y="4478750"/>
            <a:ext cx="5329998" cy="1026795"/>
          </a:xfrm>
          <a:prstGeom prst="rect">
            <a:avLst/>
          </a:prstGeom>
          <a:solidFill>
            <a:srgbClr val="FBFBFA"/>
          </a:solidFill>
          <a:ln w="18669">
            <a:solidFill>
              <a:srgbClr val="FBFBFA"/>
            </a:solidFill>
            <a:prstDash val="solid"/>
          </a:ln>
          <a:effectLst>
            <a:outerShdw sx="100000" sy="100000" kx="0" ky="0" algn="bl" rotWithShape="0" blurRad="228600" dist="76200" dir="5400000">
              <a:srgbClr val="000000">
                <a:alpha val="55000"/>
              </a:srgbClr>
            </a:outerShdw>
          </a:effectLst>
        </p:spPr>
      </p:sp>
      <p:sp>
        <p:nvSpPr>
          <p:cNvPr id="101" name="Text 98"/>
          <p:cNvSpPr/>
          <p:nvPr/>
        </p:nvSpPr>
        <p:spPr>
          <a:xfrm>
            <a:off x="10450830" y="4611767"/>
            <a:ext cx="5493354" cy="145447"/>
          </a:xfrm>
          <a:prstGeom prst="rect">
            <a:avLst/>
          </a:prstGeom>
          <a:noFill/>
          <a:ln/>
        </p:spPr>
        <p:txBody>
          <a:bodyPr wrap="square" lIns="25400" tIns="25400" rIns="25400" bIns="25400" rtlCol="0" anchor="t">
            <a:normAutofit/>
          </a:bodyPr>
          <a:lstStyle/>
          <a:p>
            <a:pPr algn="l" indent="0" marL="0">
              <a:buNone/>
            </a:pPr>
            <a:r>
              <a:rPr lang="en-US" sz="662" spc="93" kern="0" dirty="0">
                <a:solidFill>
                  <a:srgbClr val="737B7B"/>
                </a:solidFill>
                <a:latin typeface="Geist Mono" pitchFamily="34" charset="0"/>
                <a:ea typeface="Geist Mono" pitchFamily="34" charset="-122"/>
                <a:cs typeface="Geist Mono" pitchFamily="34" charset="-120"/>
              </a:rPr>
              <a:t>SELECTED ARM · TREATMENT, ORIGINAL EVIDENCE</a:t>
            </a:r>
            <a:endParaRPr lang="en-US" sz="662" dirty="0"/>
          </a:p>
        </p:txBody>
      </p:sp>
      <p:sp>
        <p:nvSpPr>
          <p:cNvPr id="102" name="Text 99"/>
          <p:cNvSpPr/>
          <p:nvPr/>
        </p:nvSpPr>
        <p:spPr>
          <a:xfrm>
            <a:off x="10450830" y="4775121"/>
            <a:ext cx="2094661" cy="448818"/>
          </a:xfrm>
          <a:prstGeom prst="rect">
            <a:avLst/>
          </a:prstGeom>
          <a:noFill/>
          <a:ln/>
        </p:spPr>
        <p:txBody>
          <a:bodyPr wrap="square" lIns="25400" tIns="25400" rIns="25400" bIns="25400" rtlCol="0" anchor="t">
            <a:normAutofit/>
          </a:bodyPr>
          <a:lstStyle/>
          <a:p>
            <a:pPr algn="l" indent="0" marL="0">
              <a:buNone/>
            </a:pPr>
            <a:r>
              <a:rPr lang="en-US" sz="2499" dirty="0">
                <a:solidFill>
                  <a:srgbClr val="0B0D0E"/>
                </a:solidFill>
                <a:latin typeface="Geist Mono" pitchFamily="34" charset="0"/>
                <a:ea typeface="Geist Mono" pitchFamily="34" charset="-122"/>
                <a:cs typeface="Geist Mono" pitchFamily="34" charset="-120"/>
              </a:rPr>
              <a:t>120 &lt;= 130</a:t>
            </a:r>
            <a:endParaRPr lang="en-US" sz="2499" dirty="0"/>
          </a:p>
        </p:txBody>
      </p:sp>
      <p:sp>
        <p:nvSpPr>
          <p:cNvPr id="103" name="Text 100"/>
          <p:cNvSpPr/>
          <p:nvPr/>
        </p:nvSpPr>
        <p:spPr>
          <a:xfrm>
            <a:off x="12485752" y="4989814"/>
            <a:ext cx="2033295" cy="168783"/>
          </a:xfrm>
          <a:prstGeom prst="rect">
            <a:avLst/>
          </a:prstGeom>
          <a:noFill/>
          <a:ln/>
        </p:spPr>
        <p:txBody>
          <a:bodyPr wrap="square" lIns="25400" tIns="25400" rIns="25400" bIns="25400" rtlCol="0" anchor="t">
            <a:normAutofit/>
          </a:bodyPr>
          <a:lstStyle/>
          <a:p>
            <a:pPr algn="l" indent="0" marL="0">
              <a:buNone/>
            </a:pPr>
            <a:r>
              <a:rPr lang="en-US" sz="808" dirty="0">
                <a:solidFill>
                  <a:srgbClr val="2D8949"/>
                </a:solidFill>
                <a:latin typeface="Geist Mono" pitchFamily="34" charset="0"/>
                <a:ea typeface="Geist Mono" pitchFamily="34" charset="-122"/>
                <a:cs typeface="Geist Mono" pitchFamily="34" charset="-120"/>
              </a:rPr>
              <a:t>✓ bounded constraint satisfied</a:t>
            </a:r>
            <a:endParaRPr lang="en-US" sz="808" dirty="0"/>
          </a:p>
        </p:txBody>
      </p:sp>
      <p:sp>
        <p:nvSpPr>
          <p:cNvPr id="104" name="Text 101"/>
          <p:cNvSpPr/>
          <p:nvPr/>
        </p:nvSpPr>
        <p:spPr>
          <a:xfrm>
            <a:off x="10450830" y="5241846"/>
            <a:ext cx="5493354" cy="168783"/>
          </a:xfrm>
          <a:prstGeom prst="rect">
            <a:avLst/>
          </a:prstGeom>
          <a:noFill/>
          <a:ln/>
        </p:spPr>
        <p:txBody>
          <a:bodyPr wrap="square" lIns="25400" tIns="25400" rIns="25400" bIns="25400" rtlCol="0" anchor="t">
            <a:normAutofit/>
          </a:bodyPr>
          <a:lstStyle/>
          <a:p>
            <a:pPr algn="l" indent="0" marL="0">
              <a:buNone/>
            </a:pPr>
            <a:r>
              <a:rPr lang="en-US" sz="808" dirty="0">
                <a:solidFill>
                  <a:srgbClr val="515858"/>
                </a:solidFill>
                <a:latin typeface="Geist Mono" pitchFamily="34" charset="0"/>
                <a:ea typeface="Geist Mono" pitchFamily="34" charset="-122"/>
                <a:cs typeface="Geist Mono" pitchFamily="34" charset="-120"/>
              </a:rPr>
              <a:t>run checks </a:t>
            </a:r>
            <a:pPr algn="l" indent="0" marL="0">
              <a:buNone/>
            </a:pPr>
            <a:r>
              <a:rPr lang="en-US" sz="808" dirty="0">
                <a:solidFill>
                  <a:srgbClr val="0B0D0E"/>
                </a:solidFill>
                <a:latin typeface="Geist Mono" pitchFamily="34" charset="0"/>
                <a:ea typeface="Geist Mono" pitchFamily="34" charset="-122"/>
                <a:cs typeface="Geist Mono" pitchFamily="34" charset="-120"/>
              </a:rPr>
              <a:t>24/24</a:t>
            </a:r>
            <a:endParaRPr lang="en-US" sz="808" dirty="0"/>
          </a:p>
        </p:txBody>
      </p:sp>
      <p:sp>
        <p:nvSpPr>
          <p:cNvPr id="105" name="Shape 102"/>
          <p:cNvSpPr/>
          <p:nvPr/>
        </p:nvSpPr>
        <p:spPr>
          <a:xfrm>
            <a:off x="10282810" y="5505545"/>
            <a:ext cx="5329998" cy="9525"/>
          </a:xfrm>
          <a:prstGeom prst="rect">
            <a:avLst/>
          </a:prstGeom>
          <a:solidFill>
            <a:srgbClr val="FBFBFA"/>
          </a:solidFill>
          <a:ln/>
        </p:spPr>
      </p:sp>
      <p:sp>
        <p:nvSpPr>
          <p:cNvPr id="106" name="Text 103"/>
          <p:cNvSpPr/>
          <p:nvPr/>
        </p:nvSpPr>
        <p:spPr>
          <a:xfrm>
            <a:off x="10282810" y="5626894"/>
            <a:ext cx="2507466" cy="159448"/>
          </a:xfrm>
          <a:prstGeom prst="rect">
            <a:avLst/>
          </a:prstGeom>
          <a:noFill/>
          <a:ln/>
        </p:spPr>
        <p:txBody>
          <a:bodyPr wrap="square" lIns="25400" tIns="25400" rIns="25400" bIns="25400" rtlCol="0" anchor="t">
            <a:normAutofit/>
          </a:bodyPr>
          <a:lstStyle/>
          <a:p>
            <a:pPr algn="l" indent="0" marL="0">
              <a:buNone/>
            </a:pPr>
            <a:r>
              <a:rPr lang="en-US" sz="735" spc="103" kern="0" dirty="0">
                <a:solidFill>
                  <a:srgbClr val="FBFBFA"/>
                </a:solidFill>
                <a:latin typeface="Geist Mono" pitchFamily="34" charset="0"/>
                <a:ea typeface="Geist Mono" pitchFamily="34" charset="-122"/>
                <a:cs typeface="Geist Mono" pitchFamily="34" charset="-120"/>
              </a:rPr>
              <a:t>EVIDENCE ABLATION · RECORDED ARMS</a:t>
            </a:r>
            <a:endParaRPr lang="en-US" sz="735" dirty="0"/>
          </a:p>
        </p:txBody>
      </p:sp>
      <p:sp>
        <p:nvSpPr>
          <p:cNvPr id="107" name="Text 104"/>
          <p:cNvSpPr/>
          <p:nvPr/>
        </p:nvSpPr>
        <p:spPr>
          <a:xfrm>
            <a:off x="14524027" y="5636228"/>
            <a:ext cx="1164980"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REGION 3 · CONTROL</a:t>
            </a:r>
            <a:endParaRPr lang="en-US" sz="662" dirty="0"/>
          </a:p>
        </p:txBody>
      </p:sp>
      <p:sp>
        <p:nvSpPr>
          <p:cNvPr id="108" name="Shape 105"/>
          <p:cNvSpPr/>
          <p:nvPr/>
        </p:nvSpPr>
        <p:spPr>
          <a:xfrm>
            <a:off x="10282810" y="5832253"/>
            <a:ext cx="5329998" cy="308039"/>
          </a:xfrm>
          <a:prstGeom prst="rect">
            <a:avLst/>
          </a:prstGeom>
          <a:ln w="9335">
            <a:solidFill>
              <a:srgbClr val="515858"/>
            </a:solidFill>
            <a:prstDash val="solid"/>
          </a:ln>
        </p:spPr>
      </p:sp>
      <p:sp>
        <p:nvSpPr>
          <p:cNvPr id="109" name="Text 106"/>
          <p:cNvSpPr/>
          <p:nvPr/>
        </p:nvSpPr>
        <p:spPr>
          <a:xfrm>
            <a:off x="10310051" y="5925598"/>
            <a:ext cx="1734605" cy="159449"/>
          </a:xfrm>
          <a:prstGeom prst="rect">
            <a:avLst/>
          </a:prstGeom>
          <a:noFill/>
          <a:ln/>
        </p:spPr>
        <p:txBody>
          <a:bodyPr wrap="square" lIns="25400" tIns="25400" rIns="25400" bIns="25400" rtlCol="0" anchor="t">
            <a:normAutofit/>
          </a:bodyPr>
          <a:lstStyle/>
          <a:p>
            <a:pPr algn="ctr" indent="0" marL="0">
              <a:buNone/>
            </a:pPr>
            <a:r>
              <a:rPr lang="en-US" sz="735" spc="59" kern="0" dirty="0">
                <a:solidFill>
                  <a:srgbClr val="9BA2A2"/>
                </a:solidFill>
                <a:latin typeface="Geist Mono" pitchFamily="34" charset="0"/>
                <a:ea typeface="Geist Mono" pitchFamily="34" charset="-122"/>
                <a:cs typeface="Geist Mono" pitchFamily="34" charset="-120"/>
              </a:rPr>
              <a:t>EVIDENCE REMOVED</a:t>
            </a:r>
            <a:endParaRPr lang="en-US" sz="735" dirty="0"/>
          </a:p>
        </p:txBody>
      </p:sp>
      <p:sp>
        <p:nvSpPr>
          <p:cNvPr id="110" name="Shape 107"/>
          <p:cNvSpPr/>
          <p:nvPr/>
        </p:nvSpPr>
        <p:spPr>
          <a:xfrm>
            <a:off x="12062563" y="5841588"/>
            <a:ext cx="1770419" cy="289370"/>
          </a:xfrm>
          <a:prstGeom prst="rect">
            <a:avLst/>
          </a:prstGeom>
          <a:solidFill>
            <a:srgbClr val="FBFBFA"/>
          </a:solidFill>
          <a:ln/>
          <a:effectLst>
            <a:outerShdw sx="100000" sy="100000" kx="0" ky="0" algn="bl" rotWithShape="0" blurRad="19050" dist="9525" dir="5400000">
              <a:srgbClr val="000000">
                <a:alpha val="50000"/>
              </a:srgbClr>
            </a:outerShdw>
          </a:effectLst>
        </p:spPr>
      </p:sp>
      <p:sp>
        <p:nvSpPr>
          <p:cNvPr id="111" name="Shape 108"/>
          <p:cNvSpPr/>
          <p:nvPr/>
        </p:nvSpPr>
        <p:spPr>
          <a:xfrm>
            <a:off x="12062563" y="5841588"/>
            <a:ext cx="9525" cy="289370"/>
          </a:xfrm>
          <a:prstGeom prst="rect">
            <a:avLst/>
          </a:prstGeom>
          <a:solidFill>
            <a:srgbClr val="515858"/>
          </a:solidFill>
          <a:ln/>
        </p:spPr>
      </p:sp>
      <p:sp>
        <p:nvSpPr>
          <p:cNvPr id="112" name="Shape 109"/>
          <p:cNvSpPr/>
          <p:nvPr/>
        </p:nvSpPr>
        <p:spPr>
          <a:xfrm>
            <a:off x="13823647" y="5841588"/>
            <a:ext cx="9525" cy="289370"/>
          </a:xfrm>
          <a:prstGeom prst="rect">
            <a:avLst/>
          </a:prstGeom>
          <a:solidFill>
            <a:srgbClr val="515858"/>
          </a:solidFill>
          <a:ln/>
        </p:spPr>
      </p:sp>
      <p:sp>
        <p:nvSpPr>
          <p:cNvPr id="113" name="Text 110"/>
          <p:cNvSpPr/>
          <p:nvPr/>
        </p:nvSpPr>
        <p:spPr>
          <a:xfrm>
            <a:off x="12089804" y="5925598"/>
            <a:ext cx="1715936" cy="159449"/>
          </a:xfrm>
          <a:prstGeom prst="rect">
            <a:avLst/>
          </a:prstGeom>
          <a:noFill/>
          <a:ln/>
        </p:spPr>
        <p:txBody>
          <a:bodyPr wrap="square" lIns="25400" tIns="25400" rIns="25400" bIns="25400" rtlCol="0" anchor="t">
            <a:normAutofit/>
          </a:bodyPr>
          <a:lstStyle/>
          <a:p>
            <a:pPr algn="ctr" indent="0" marL="0">
              <a:buNone/>
            </a:pPr>
            <a:r>
              <a:rPr lang="en-US" sz="735" spc="59" kern="0" dirty="0">
                <a:solidFill>
                  <a:srgbClr val="0B0D0E"/>
                </a:solidFill>
                <a:latin typeface="Geist Mono" pitchFamily="34" charset="0"/>
                <a:ea typeface="Geist Mono" pitchFamily="34" charset="-122"/>
                <a:cs typeface="Geist Mono" pitchFamily="34" charset="-120"/>
              </a:rPr>
              <a:t>ORIGINAL EVIDENCE</a:t>
            </a:r>
            <a:endParaRPr lang="en-US" sz="735" dirty="0"/>
          </a:p>
        </p:txBody>
      </p:sp>
      <p:sp>
        <p:nvSpPr>
          <p:cNvPr id="114" name="Text 111"/>
          <p:cNvSpPr/>
          <p:nvPr/>
        </p:nvSpPr>
        <p:spPr>
          <a:xfrm>
            <a:off x="13850888" y="5925598"/>
            <a:ext cx="1734678" cy="159449"/>
          </a:xfrm>
          <a:prstGeom prst="rect">
            <a:avLst/>
          </a:prstGeom>
          <a:noFill/>
          <a:ln/>
        </p:spPr>
        <p:txBody>
          <a:bodyPr wrap="square" lIns="25400" tIns="25400" rIns="25400" bIns="25400" rtlCol="0" anchor="t">
            <a:normAutofit/>
          </a:bodyPr>
          <a:lstStyle/>
          <a:p>
            <a:pPr algn="ctr" indent="0" marL="0">
              <a:buNone/>
            </a:pPr>
            <a:r>
              <a:rPr lang="en-US" sz="735" spc="59" kern="0" dirty="0">
                <a:solidFill>
                  <a:srgbClr val="9BA2A2"/>
                </a:solidFill>
                <a:latin typeface="Geist Mono" pitchFamily="34" charset="0"/>
                <a:ea typeface="Geist Mono" pitchFamily="34" charset="-122"/>
                <a:cs typeface="Geist Mono" pitchFamily="34" charset="-120"/>
              </a:rPr>
              <a:t>EVIDENCE PERTURBED</a:t>
            </a:r>
            <a:endParaRPr lang="en-US" sz="735" dirty="0"/>
          </a:p>
        </p:txBody>
      </p:sp>
      <p:sp>
        <p:nvSpPr>
          <p:cNvPr id="115" name="Text 112"/>
          <p:cNvSpPr/>
          <p:nvPr/>
        </p:nvSpPr>
        <p:spPr>
          <a:xfrm>
            <a:off x="10282810" y="6224301"/>
            <a:ext cx="630727" cy="168783"/>
          </a:xfrm>
          <a:prstGeom prst="rect">
            <a:avLst/>
          </a:prstGeom>
          <a:noFill/>
          <a:ln/>
        </p:spPr>
        <p:txBody>
          <a:bodyPr wrap="square" lIns="25400" tIns="25400" rIns="25400" bIns="25400" rtlCol="0" anchor="t">
            <a:normAutofit/>
          </a:bodyPr>
          <a:lstStyle/>
          <a:p>
            <a:pPr algn="l" indent="0" marL="0">
              <a:buNone/>
            </a:pPr>
            <a:r>
              <a:rPr lang="en-US" sz="808" dirty="0">
                <a:solidFill>
                  <a:srgbClr val="9BA2A2"/>
                </a:solidFill>
                <a:latin typeface="Geist Mono" pitchFamily="34" charset="0"/>
                <a:ea typeface="Geist Mono" pitchFamily="34" charset="-122"/>
                <a:cs typeface="Geist Mono" pitchFamily="34" charset="-120"/>
              </a:rPr>
              <a:t>baseline</a:t>
            </a:r>
            <a:endParaRPr lang="en-US" sz="808" dirty="0"/>
          </a:p>
        </p:txBody>
      </p:sp>
      <p:sp>
        <p:nvSpPr>
          <p:cNvPr id="116" name="Text 113"/>
          <p:cNvSpPr/>
          <p:nvPr/>
        </p:nvSpPr>
        <p:spPr>
          <a:xfrm>
            <a:off x="10949350" y="6224301"/>
            <a:ext cx="4328903" cy="168783"/>
          </a:xfrm>
          <a:prstGeom prst="rect">
            <a:avLst/>
          </a:prstGeom>
          <a:noFill/>
          <a:ln/>
        </p:spPr>
        <p:txBody>
          <a:bodyPr wrap="square" lIns="25400" tIns="25400" rIns="25400" bIns="25400" rtlCol="0" anchor="t">
            <a:normAutofit/>
          </a:bodyPr>
          <a:lstStyle/>
          <a:p>
            <a:pPr algn="l" indent="0" marL="0">
              <a:buNone/>
            </a:pPr>
            <a:r>
              <a:rPr lang="en-US" sz="808" dirty="0">
                <a:solidFill>
                  <a:srgbClr val="9BA2A2"/>
                </a:solidFill>
                <a:latin typeface="Geist Mono" pitchFamily="34" charset="0"/>
                <a:ea typeface="Geist Mono" pitchFamily="34" charset="-122"/>
                <a:cs typeface="Geist Mono" pitchFamily="34" charset="-120"/>
              </a:rPr>
              <a:t>no decision</a:t>
            </a:r>
            <a:endParaRPr lang="en-US" sz="808" dirty="0"/>
          </a:p>
        </p:txBody>
      </p:sp>
      <p:sp>
        <p:nvSpPr>
          <p:cNvPr id="117" name="Text 114"/>
          <p:cNvSpPr/>
          <p:nvPr/>
        </p:nvSpPr>
        <p:spPr>
          <a:xfrm>
            <a:off x="14996731" y="6224301"/>
            <a:ext cx="692276" cy="168783"/>
          </a:xfrm>
          <a:prstGeom prst="rect">
            <a:avLst/>
          </a:prstGeom>
          <a:noFill/>
          <a:ln/>
        </p:spPr>
        <p:txBody>
          <a:bodyPr wrap="square" lIns="25400" tIns="25400" rIns="25400" bIns="25400" rtlCol="0" anchor="t">
            <a:normAutofit/>
          </a:bodyPr>
          <a:lstStyle/>
          <a:p>
            <a:pPr algn="l" indent="0" marL="0">
              <a:buNone/>
            </a:pPr>
            <a:r>
              <a:rPr lang="en-US" sz="808" dirty="0">
                <a:solidFill>
                  <a:srgbClr val="9BA2A2"/>
                </a:solidFill>
                <a:latin typeface="Geist Mono" pitchFamily="34" charset="0"/>
                <a:ea typeface="Geist Mono" pitchFamily="34" charset="-122"/>
                <a:cs typeface="Geist Mono" pitchFamily="34" charset="-120"/>
              </a:rPr>
              <a:t>140 &gt; 130</a:t>
            </a:r>
            <a:endParaRPr lang="en-US" sz="808" dirty="0"/>
          </a:p>
        </p:txBody>
      </p:sp>
      <p:sp>
        <p:nvSpPr>
          <p:cNvPr id="118" name="Text 115"/>
          <p:cNvSpPr/>
          <p:nvPr/>
        </p:nvSpPr>
        <p:spPr>
          <a:xfrm>
            <a:off x="10282810" y="6401658"/>
            <a:ext cx="630727" cy="168783"/>
          </a:xfrm>
          <a:prstGeom prst="rect">
            <a:avLst/>
          </a:prstGeom>
          <a:noFill/>
          <a:ln/>
        </p:spPr>
        <p:txBody>
          <a:bodyPr wrap="square" lIns="25400" tIns="25400" rIns="25400" bIns="25400" rtlCol="0" anchor="t">
            <a:normAutofit/>
          </a:bodyPr>
          <a:lstStyle/>
          <a:p>
            <a:pPr algn="l" indent="0" marL="0">
              <a:buNone/>
            </a:pPr>
            <a:r>
              <a:rPr lang="en-US" sz="808" dirty="0">
                <a:solidFill>
                  <a:srgbClr val="FBFBFA"/>
                </a:solidFill>
                <a:latin typeface="Geist Mono" pitchFamily="34" charset="0"/>
                <a:ea typeface="Geist Mono" pitchFamily="34" charset="-122"/>
                <a:cs typeface="Geist Mono" pitchFamily="34" charset="-120"/>
              </a:rPr>
              <a:t>treatment</a:t>
            </a:r>
            <a:endParaRPr lang="en-US" sz="808" dirty="0"/>
          </a:p>
        </p:txBody>
      </p:sp>
      <p:sp>
        <p:nvSpPr>
          <p:cNvPr id="119" name="Text 116"/>
          <p:cNvSpPr/>
          <p:nvPr/>
        </p:nvSpPr>
        <p:spPr>
          <a:xfrm>
            <a:off x="10949350" y="6401658"/>
            <a:ext cx="4328903" cy="168783"/>
          </a:xfrm>
          <a:prstGeom prst="rect">
            <a:avLst/>
          </a:prstGeom>
          <a:noFill/>
          <a:ln/>
        </p:spPr>
        <p:txBody>
          <a:bodyPr wrap="square" lIns="25400" tIns="25400" rIns="25400" bIns="25400" rtlCol="0" anchor="t">
            <a:normAutofit/>
          </a:bodyPr>
          <a:lstStyle/>
          <a:p>
            <a:pPr algn="l" indent="0" marL="0">
              <a:buNone/>
            </a:pPr>
            <a:r>
              <a:rPr lang="en-US" sz="808" dirty="0">
                <a:solidFill>
                  <a:srgbClr val="FBFBFA"/>
                </a:solidFill>
                <a:latin typeface="Geist Mono" pitchFamily="34" charset="0"/>
                <a:ea typeface="Geist Mono" pitchFamily="34" charset="-122"/>
                <a:cs typeface="Geist Mono" pitchFamily="34" charset="-120"/>
              </a:rPr>
              <a:t>WITHHOLD_SERIALIZE</a:t>
            </a:r>
            <a:endParaRPr lang="en-US" sz="808" dirty="0"/>
          </a:p>
        </p:txBody>
      </p:sp>
      <p:sp>
        <p:nvSpPr>
          <p:cNvPr id="120" name="Text 117"/>
          <p:cNvSpPr/>
          <p:nvPr/>
        </p:nvSpPr>
        <p:spPr>
          <a:xfrm>
            <a:off x="14996731" y="6401658"/>
            <a:ext cx="692276" cy="168783"/>
          </a:xfrm>
          <a:prstGeom prst="rect">
            <a:avLst/>
          </a:prstGeom>
          <a:noFill/>
          <a:ln/>
        </p:spPr>
        <p:txBody>
          <a:bodyPr wrap="square" lIns="25400" tIns="25400" rIns="25400" bIns="25400" rtlCol="0" anchor="t">
            <a:normAutofit/>
          </a:bodyPr>
          <a:lstStyle/>
          <a:p>
            <a:pPr algn="l" indent="0" marL="0">
              <a:buNone/>
            </a:pPr>
            <a:r>
              <a:rPr lang="en-US" sz="808" dirty="0">
                <a:solidFill>
                  <a:srgbClr val="FBFBFA"/>
                </a:solidFill>
                <a:latin typeface="Geist Mono" pitchFamily="34" charset="0"/>
                <a:ea typeface="Geist Mono" pitchFamily="34" charset="-122"/>
                <a:cs typeface="Geist Mono" pitchFamily="34" charset="-120"/>
              </a:rPr>
              <a:t>120 &lt;= 130</a:t>
            </a:r>
            <a:endParaRPr lang="en-US" sz="808" dirty="0"/>
          </a:p>
        </p:txBody>
      </p:sp>
      <p:sp>
        <p:nvSpPr>
          <p:cNvPr id="121" name="Text 118"/>
          <p:cNvSpPr/>
          <p:nvPr/>
        </p:nvSpPr>
        <p:spPr>
          <a:xfrm>
            <a:off x="10282810" y="6579013"/>
            <a:ext cx="630727" cy="168783"/>
          </a:xfrm>
          <a:prstGeom prst="rect">
            <a:avLst/>
          </a:prstGeom>
          <a:noFill/>
          <a:ln/>
        </p:spPr>
        <p:txBody>
          <a:bodyPr wrap="square" lIns="25400" tIns="25400" rIns="25400" bIns="25400" rtlCol="0" anchor="t">
            <a:normAutofit/>
          </a:bodyPr>
          <a:lstStyle/>
          <a:p>
            <a:pPr algn="l" indent="0" marL="0">
              <a:buNone/>
            </a:pPr>
            <a:r>
              <a:rPr lang="en-US" sz="808" dirty="0">
                <a:solidFill>
                  <a:srgbClr val="9BA2A2"/>
                </a:solidFill>
                <a:latin typeface="Geist Mono" pitchFamily="34" charset="0"/>
                <a:ea typeface="Geist Mono" pitchFamily="34" charset="-122"/>
                <a:cs typeface="Geist Mono" pitchFamily="34" charset="-120"/>
              </a:rPr>
              <a:t>perturbed</a:t>
            </a:r>
            <a:endParaRPr lang="en-US" sz="808" dirty="0"/>
          </a:p>
        </p:txBody>
      </p:sp>
      <p:sp>
        <p:nvSpPr>
          <p:cNvPr id="122" name="Text 119"/>
          <p:cNvSpPr/>
          <p:nvPr/>
        </p:nvSpPr>
        <p:spPr>
          <a:xfrm>
            <a:off x="10949350" y="6579013"/>
            <a:ext cx="4328903" cy="168783"/>
          </a:xfrm>
          <a:prstGeom prst="rect">
            <a:avLst/>
          </a:prstGeom>
          <a:noFill/>
          <a:ln/>
        </p:spPr>
        <p:txBody>
          <a:bodyPr wrap="square" lIns="25400" tIns="25400" rIns="25400" bIns="25400" rtlCol="0" anchor="t">
            <a:normAutofit/>
          </a:bodyPr>
          <a:lstStyle/>
          <a:p>
            <a:pPr algn="l" indent="0" marL="0">
              <a:buNone/>
            </a:pPr>
            <a:r>
              <a:rPr lang="en-US" sz="808" dirty="0">
                <a:solidFill>
                  <a:srgbClr val="9BA2A2"/>
                </a:solidFill>
                <a:latin typeface="Geist Mono" pitchFamily="34" charset="0"/>
                <a:ea typeface="Geist Mono" pitchFamily="34" charset="-122"/>
                <a:cs typeface="Geist Mono" pitchFamily="34" charset="-120"/>
              </a:rPr>
              <a:t>ALLOW_PARALLEL</a:t>
            </a:r>
            <a:endParaRPr lang="en-US" sz="808" dirty="0"/>
          </a:p>
        </p:txBody>
      </p:sp>
      <p:sp>
        <p:nvSpPr>
          <p:cNvPr id="123" name="Text 120"/>
          <p:cNvSpPr/>
          <p:nvPr/>
        </p:nvSpPr>
        <p:spPr>
          <a:xfrm>
            <a:off x="14996731" y="6579013"/>
            <a:ext cx="692276" cy="168783"/>
          </a:xfrm>
          <a:prstGeom prst="rect">
            <a:avLst/>
          </a:prstGeom>
          <a:noFill/>
          <a:ln/>
        </p:spPr>
        <p:txBody>
          <a:bodyPr wrap="square" lIns="25400" tIns="25400" rIns="25400" bIns="25400" rtlCol="0" anchor="t">
            <a:normAutofit/>
          </a:bodyPr>
          <a:lstStyle/>
          <a:p>
            <a:pPr algn="l" indent="0" marL="0">
              <a:buNone/>
            </a:pPr>
            <a:r>
              <a:rPr lang="en-US" sz="808" dirty="0">
                <a:solidFill>
                  <a:srgbClr val="9BA2A2"/>
                </a:solidFill>
                <a:latin typeface="Geist Mono" pitchFamily="34" charset="0"/>
                <a:ea typeface="Geist Mono" pitchFamily="34" charset="-122"/>
                <a:cs typeface="Geist Mono" pitchFamily="34" charset="-120"/>
              </a:rPr>
              <a:t>140 &gt; 130</a:t>
            </a:r>
            <a:endParaRPr lang="en-US" sz="808" dirty="0"/>
          </a:p>
        </p:txBody>
      </p:sp>
      <p:sp>
        <p:nvSpPr>
          <p:cNvPr id="124" name="Shape 121"/>
          <p:cNvSpPr/>
          <p:nvPr/>
        </p:nvSpPr>
        <p:spPr>
          <a:xfrm>
            <a:off x="10282810" y="6793706"/>
            <a:ext cx="5329998" cy="9525"/>
          </a:xfrm>
          <a:prstGeom prst="rect">
            <a:avLst/>
          </a:prstGeom>
          <a:solidFill>
            <a:srgbClr val="1E2323"/>
          </a:solidFill>
          <a:ln/>
        </p:spPr>
      </p:sp>
      <p:sp>
        <p:nvSpPr>
          <p:cNvPr id="125" name="Text 122"/>
          <p:cNvSpPr/>
          <p:nvPr/>
        </p:nvSpPr>
        <p:spPr>
          <a:xfrm>
            <a:off x="10282810" y="6877717"/>
            <a:ext cx="5489898" cy="362912"/>
          </a:xfrm>
          <a:prstGeom prst="rect">
            <a:avLst/>
          </a:prstGeom>
          <a:noFill/>
          <a:ln/>
        </p:spPr>
        <p:txBody>
          <a:bodyPr wrap="square" lIns="25400" tIns="25400" rIns="25400" bIns="25400" rtlCol="0" anchor="t">
            <a:normAutofit/>
          </a:bodyPr>
          <a:lstStyle/>
          <a:p>
            <a:pPr algn="l" indent="0" marL="0">
              <a:lnSpc>
                <a:spcPct val="112258"/>
              </a:lnSpc>
              <a:buNone/>
            </a:pPr>
            <a:r>
              <a:rPr lang="en-US" sz="882" dirty="0">
                <a:solidFill>
                  <a:srgbClr val="9BA2A2"/>
                </a:solidFill>
                <a:latin typeface="Geist" pitchFamily="34" charset="0"/>
                <a:ea typeface="Geist" pitchFamily="34" charset="-122"/>
                <a:cs typeface="Geist" pitchFamily="34" charset="-120"/>
              </a:rPr>
              <a:t>Each arm is a recorded result. Selecting an arm changes which recorded arm is displayed. Nothing is executed in the browser.</a:t>
            </a:r>
            <a:endParaRPr lang="en-US" sz="882" dirty="0"/>
          </a:p>
        </p:txBody>
      </p:sp>
      <p:sp>
        <p:nvSpPr>
          <p:cNvPr id="126" name="Text 123"/>
          <p:cNvSpPr/>
          <p:nvPr/>
        </p:nvSpPr>
        <p:spPr>
          <a:xfrm>
            <a:off x="10282810" y="8011859"/>
            <a:ext cx="5862998"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REGION 4 · VERIFICATION</a:t>
            </a:r>
            <a:endParaRPr lang="en-US" sz="662" dirty="0"/>
          </a:p>
        </p:txBody>
      </p:sp>
      <p:sp>
        <p:nvSpPr>
          <p:cNvPr id="127" name="Shape 124"/>
          <p:cNvSpPr/>
          <p:nvPr/>
        </p:nvSpPr>
        <p:spPr>
          <a:xfrm>
            <a:off x="10282810" y="8193881"/>
            <a:ext cx="5329998" cy="354711"/>
          </a:xfrm>
          <a:prstGeom prst="rect">
            <a:avLst/>
          </a:prstGeom>
          <a:solidFill>
            <a:srgbClr val="FBFBFA"/>
          </a:solidFill>
          <a:ln w="9335">
            <a:solidFill>
              <a:srgbClr val="FBFBFA"/>
            </a:solidFill>
            <a:prstDash val="solid"/>
          </a:ln>
          <a:effectLst>
            <a:outerShdw sx="100000" sy="100000" kx="0" ky="0" algn="bl" rotWithShape="0" blurRad="19050" dist="9525" dir="5400000">
              <a:srgbClr val="000000">
                <a:alpha val="50000"/>
              </a:srgbClr>
            </a:outerShdw>
          </a:effectLst>
        </p:spPr>
      </p:sp>
      <p:sp>
        <p:nvSpPr>
          <p:cNvPr id="128" name="Text 125"/>
          <p:cNvSpPr/>
          <p:nvPr/>
        </p:nvSpPr>
        <p:spPr>
          <a:xfrm>
            <a:off x="10422827" y="8305895"/>
            <a:ext cx="5209863" cy="168783"/>
          </a:xfrm>
          <a:prstGeom prst="rect">
            <a:avLst/>
          </a:prstGeom>
          <a:noFill/>
          <a:ln/>
        </p:spPr>
        <p:txBody>
          <a:bodyPr wrap="square" lIns="25400" tIns="25400" rIns="25400" bIns="25400" rtlCol="0" anchor="t">
            <a:normAutofit/>
          </a:bodyPr>
          <a:lstStyle/>
          <a:p>
            <a:pPr algn="l" indent="0" marL="0">
              <a:buNone/>
            </a:pPr>
            <a:r>
              <a:rPr lang="en-US" sz="808" spc="65" kern="0" dirty="0">
                <a:solidFill>
                  <a:srgbClr val="0B0D0E"/>
                </a:solidFill>
                <a:latin typeface="Geist Mono" pitchFamily="34" charset="0"/>
                <a:ea typeface="Geist Mono" pitchFamily="34" charset="-122"/>
                <a:cs typeface="Geist Mono" pitchFamily="34" charset="-120"/>
              </a:rPr>
              <a:t>VERIFY THIS DECISION</a:t>
            </a:r>
            <a:endParaRPr lang="en-US" sz="808" dirty="0"/>
          </a:p>
        </p:txBody>
      </p:sp>
      <p:sp>
        <p:nvSpPr>
          <p:cNvPr id="129" name="Shape 126"/>
          <p:cNvSpPr/>
          <p:nvPr/>
        </p:nvSpPr>
        <p:spPr>
          <a:xfrm>
            <a:off x="10282810" y="8623268"/>
            <a:ext cx="2627661" cy="326707"/>
          </a:xfrm>
          <a:prstGeom prst="rect">
            <a:avLst/>
          </a:prstGeom>
          <a:ln w="9335">
            <a:solidFill>
              <a:srgbClr val="515858"/>
            </a:solidFill>
            <a:prstDash val="solid"/>
          </a:ln>
        </p:spPr>
      </p:sp>
      <p:sp>
        <p:nvSpPr>
          <p:cNvPr id="130" name="Text 127"/>
          <p:cNvSpPr/>
          <p:nvPr/>
        </p:nvSpPr>
        <p:spPr>
          <a:xfrm>
            <a:off x="10364743" y="8725948"/>
            <a:ext cx="2463793" cy="159448"/>
          </a:xfrm>
          <a:prstGeom prst="rect">
            <a:avLst/>
          </a:prstGeom>
          <a:noFill/>
          <a:ln/>
        </p:spPr>
        <p:txBody>
          <a:bodyPr wrap="square" lIns="25400" tIns="25400" rIns="25400" bIns="25400" rtlCol="0" anchor="t">
            <a:normAutofit/>
          </a:bodyPr>
          <a:lstStyle/>
          <a:p>
            <a:pPr algn="ctr" indent="0" marL="0">
              <a:buNone/>
            </a:pPr>
            <a:r>
              <a:rPr lang="en-US" sz="735" spc="59" kern="0" dirty="0">
                <a:solidFill>
                  <a:srgbClr val="FBFBFA"/>
                </a:solidFill>
                <a:latin typeface="Geist Mono" pitchFamily="34" charset="0"/>
                <a:ea typeface="Geist Mono" pitchFamily="34" charset="-122"/>
                <a:cs typeface="Geist Mono" pitchFamily="34" charset="-120"/>
              </a:rPr>
              <a:t>SHOW ME THE RAW PROOF</a:t>
            </a:r>
            <a:endParaRPr lang="en-US" sz="735" dirty="0"/>
          </a:p>
        </p:txBody>
      </p:sp>
      <p:sp>
        <p:nvSpPr>
          <p:cNvPr id="131" name="Shape 128"/>
          <p:cNvSpPr/>
          <p:nvPr/>
        </p:nvSpPr>
        <p:spPr>
          <a:xfrm>
            <a:off x="12985147" y="8623268"/>
            <a:ext cx="2627661" cy="326707"/>
          </a:xfrm>
          <a:prstGeom prst="rect">
            <a:avLst/>
          </a:prstGeom>
          <a:ln w="9335">
            <a:solidFill>
              <a:srgbClr val="515858"/>
            </a:solidFill>
            <a:prstDash val="solid"/>
          </a:ln>
        </p:spPr>
      </p:sp>
      <p:sp>
        <p:nvSpPr>
          <p:cNvPr id="132" name="Text 129"/>
          <p:cNvSpPr/>
          <p:nvPr/>
        </p:nvSpPr>
        <p:spPr>
          <a:xfrm>
            <a:off x="13067081" y="8725948"/>
            <a:ext cx="2463793" cy="159448"/>
          </a:xfrm>
          <a:prstGeom prst="rect">
            <a:avLst/>
          </a:prstGeom>
          <a:noFill/>
          <a:ln/>
        </p:spPr>
        <p:txBody>
          <a:bodyPr wrap="square" lIns="25400" tIns="25400" rIns="25400" bIns="25400" rtlCol="0" anchor="t">
            <a:normAutofit/>
          </a:bodyPr>
          <a:lstStyle/>
          <a:p>
            <a:pPr algn="ctr" indent="0" marL="0">
              <a:buNone/>
            </a:pPr>
            <a:r>
              <a:rPr lang="en-US" sz="735" spc="59" kern="0" dirty="0">
                <a:solidFill>
                  <a:srgbClr val="FBFBFA"/>
                </a:solidFill>
                <a:latin typeface="Geist Mono" pitchFamily="34" charset="0"/>
                <a:ea typeface="Geist Mono" pitchFamily="34" charset="-122"/>
                <a:cs typeface="Geist Mono" pitchFamily="34" charset="-120"/>
              </a:rPr>
              <a:t>WHAT IS NOT CLAIMED?</a:t>
            </a:r>
            <a:endParaRPr lang="en-US" sz="735" dirty="0"/>
          </a:p>
        </p:txBody>
      </p:sp>
      <p:sp>
        <p:nvSpPr>
          <p:cNvPr id="133" name="Shape 130"/>
          <p:cNvSpPr/>
          <p:nvPr/>
        </p:nvSpPr>
        <p:spPr>
          <a:xfrm>
            <a:off x="10282810" y="9024652"/>
            <a:ext cx="5329998" cy="308038"/>
          </a:xfrm>
          <a:prstGeom prst="rect">
            <a:avLst/>
          </a:prstGeom>
          <a:ln w="9335">
            <a:solidFill>
              <a:srgbClr val="515858"/>
            </a:solidFill>
            <a:prstDash val="dash"/>
          </a:ln>
        </p:spPr>
      </p:sp>
      <p:sp>
        <p:nvSpPr>
          <p:cNvPr id="134" name="Text 131"/>
          <p:cNvSpPr/>
          <p:nvPr/>
        </p:nvSpPr>
        <p:spPr>
          <a:xfrm>
            <a:off x="10324208" y="9117997"/>
            <a:ext cx="5247201" cy="159448"/>
          </a:xfrm>
          <a:prstGeom prst="rect">
            <a:avLst/>
          </a:prstGeom>
          <a:noFill/>
          <a:ln/>
        </p:spPr>
        <p:txBody>
          <a:bodyPr wrap="square" lIns="25400" tIns="25400" rIns="25400" bIns="25400" rtlCol="0" anchor="t">
            <a:normAutofit/>
          </a:bodyPr>
          <a:lstStyle/>
          <a:p>
            <a:pPr algn="ctr" indent="0" marL="0">
              <a:buNone/>
            </a:pPr>
            <a:r>
              <a:rPr lang="en-US" sz="735" spc="59" kern="0" dirty="0">
                <a:solidFill>
                  <a:srgbClr val="737B7B"/>
                </a:solidFill>
                <a:latin typeface="Geist Mono" pitchFamily="34" charset="0"/>
                <a:ea typeface="Geist Mono" pitchFamily="34" charset="-122"/>
                <a:cs typeface="Geist Mono" pitchFamily="34" charset="-120"/>
              </a:rPr>
              <a:t>EVALUATION SURFACE · NOT YET BOUND</a:t>
            </a:r>
            <a:endParaRPr lang="en-US" sz="735" dirty="0"/>
          </a:p>
        </p:txBody>
      </p:sp>
      <p:sp>
        <p:nvSpPr>
          <p:cNvPr id="135" name="Shape 132"/>
          <p:cNvSpPr/>
          <p:nvPr/>
        </p:nvSpPr>
        <p:spPr>
          <a:xfrm>
            <a:off x="2432494" y="9500711"/>
            <a:ext cx="13441681" cy="336042"/>
          </a:xfrm>
          <a:prstGeom prst="rect">
            <a:avLst/>
          </a:prstGeom>
          <a:solidFill>
            <a:srgbClr val="0F1212"/>
          </a:solidFill>
          <a:ln/>
        </p:spPr>
      </p:sp>
      <p:sp>
        <p:nvSpPr>
          <p:cNvPr id="136" name="Shape 133"/>
          <p:cNvSpPr/>
          <p:nvPr/>
        </p:nvSpPr>
        <p:spPr>
          <a:xfrm>
            <a:off x="2432494" y="9500711"/>
            <a:ext cx="13441681" cy="9525"/>
          </a:xfrm>
          <a:prstGeom prst="rect">
            <a:avLst/>
          </a:prstGeom>
          <a:solidFill>
            <a:srgbClr val="1E2323"/>
          </a:solidFill>
          <a:ln/>
        </p:spPr>
      </p:sp>
      <p:sp>
        <p:nvSpPr>
          <p:cNvPr id="137" name="Text 134"/>
          <p:cNvSpPr/>
          <p:nvPr/>
        </p:nvSpPr>
        <p:spPr>
          <a:xfrm>
            <a:off x="2693860" y="9619726"/>
            <a:ext cx="1279177"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FBFBFA"/>
                </a:solidFill>
                <a:latin typeface="Geist Mono" pitchFamily="34" charset="0"/>
                <a:ea typeface="Geist Mono" pitchFamily="34" charset="-122"/>
                <a:cs typeface="Geist Mono" pitchFamily="34" charset="-120"/>
              </a:rPr>
              <a:t>RUN.LOCAL.TREATMENT</a:t>
            </a:r>
            <a:endParaRPr lang="en-US" sz="662" dirty="0"/>
          </a:p>
        </p:txBody>
      </p:sp>
      <p:sp>
        <p:nvSpPr>
          <p:cNvPr id="138" name="Shape 135"/>
          <p:cNvSpPr/>
          <p:nvPr/>
        </p:nvSpPr>
        <p:spPr>
          <a:xfrm>
            <a:off x="3992523" y="9619726"/>
            <a:ext cx="9525" cy="107347"/>
          </a:xfrm>
          <a:prstGeom prst="rect">
            <a:avLst/>
          </a:prstGeom>
          <a:solidFill>
            <a:srgbClr val="1E2323"/>
          </a:solidFill>
          <a:ln/>
        </p:spPr>
      </p:sp>
      <p:sp>
        <p:nvSpPr>
          <p:cNvPr id="139" name="Text 136"/>
          <p:cNvSpPr/>
          <p:nvPr/>
        </p:nvSpPr>
        <p:spPr>
          <a:xfrm>
            <a:off x="4151209" y="9619726"/>
            <a:ext cx="3690365"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?RUN=HAC330-LOCAL&amp;PROOF=LOCAL&amp;STATE=RUN.LOCAL.TREATMENT</a:t>
            </a:r>
            <a:endParaRPr lang="en-US" sz="662" dirty="0"/>
          </a:p>
        </p:txBody>
      </p:sp>
      <p:sp>
        <p:nvSpPr>
          <p:cNvPr id="140" name="Shape 137"/>
          <p:cNvSpPr/>
          <p:nvPr/>
        </p:nvSpPr>
        <p:spPr>
          <a:xfrm>
            <a:off x="7627435" y="9619726"/>
            <a:ext cx="9525" cy="107347"/>
          </a:xfrm>
          <a:prstGeom prst="rect">
            <a:avLst/>
          </a:prstGeom>
          <a:solidFill>
            <a:srgbClr val="1E2323"/>
          </a:solidFill>
          <a:ln/>
        </p:spPr>
      </p:sp>
      <p:sp>
        <p:nvSpPr>
          <p:cNvPr id="141" name="Text 138"/>
          <p:cNvSpPr/>
          <p:nvPr/>
        </p:nvSpPr>
        <p:spPr>
          <a:xfrm>
            <a:off x="7786122" y="9619726"/>
            <a:ext cx="1960377"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CLASSIFICATION EVIDENCE-BOUND</a:t>
            </a:r>
            <a:endParaRPr lang="en-US" sz="662" dirty="0"/>
          </a:p>
        </p:txBody>
      </p:sp>
      <p:sp>
        <p:nvSpPr>
          <p:cNvPr id="142" name="Shape 139"/>
          <p:cNvSpPr/>
          <p:nvPr/>
        </p:nvSpPr>
        <p:spPr>
          <a:xfrm>
            <a:off x="12308760" y="9619726"/>
            <a:ext cx="9525" cy="107347"/>
          </a:xfrm>
          <a:prstGeom prst="rect">
            <a:avLst/>
          </a:prstGeom>
          <a:solidFill>
            <a:srgbClr val="1E2323"/>
          </a:solidFill>
          <a:ln/>
        </p:spPr>
      </p:sp>
      <p:sp>
        <p:nvSpPr>
          <p:cNvPr id="143" name="Text 140"/>
          <p:cNvSpPr/>
          <p:nvPr/>
        </p:nvSpPr>
        <p:spPr>
          <a:xfrm>
            <a:off x="12467447" y="9619726"/>
            <a:ext cx="3475765"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NOT A SECURITY, SAFETY OR PRODUCTION-READINESS CLAIM</a:t>
            </a:r>
            <a:endParaRPr lang="en-US" sz="66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DE0E0"/>
        </a:solidFill>
      </p:bgPr>
    </p:bg>
    <p:spTree>
      <p:nvGrpSpPr>
        <p:cNvPr id="1" name=""/>
        <p:cNvGrpSpPr/>
        <p:nvPr/>
      </p:nvGrpSpPr>
      <p:grpSpPr>
        <a:xfrm>
          <a:off x="0" y="0"/>
          <a:ext cx="0" cy="0"/>
          <a:chOff x="0" y="0"/>
          <a:chExt cx="0" cy="0"/>
        </a:xfrm>
      </p:grpSpPr>
      <p:sp>
        <p:nvSpPr>
          <p:cNvPr id="2" name="Text 0"/>
          <p:cNvSpPr/>
          <p:nvPr/>
        </p:nvSpPr>
        <p:spPr>
          <a:xfrm>
            <a:off x="1143000" y="247650"/>
            <a:ext cx="4260004" cy="457200"/>
          </a:xfrm>
          <a:prstGeom prst="rect">
            <a:avLst/>
          </a:prstGeom>
          <a:noFill/>
          <a:ln/>
        </p:spPr>
        <p:txBody>
          <a:bodyPr wrap="square" lIns="25400" tIns="25400" rIns="25400" bIns="25400" rtlCol="0" anchor="t">
            <a:normAutofit/>
          </a:bodyPr>
          <a:lstStyle/>
          <a:p>
            <a:pPr algn="l" indent="0" marL="0">
              <a:buNone/>
            </a:pPr>
            <a:r>
              <a:rPr lang="en-US" sz="2550" spc="-51" kern="0" dirty="0">
                <a:solidFill>
                  <a:srgbClr val="0B0D0E"/>
                </a:solidFill>
                <a:latin typeface="Geist" pitchFamily="34" charset="0"/>
                <a:ea typeface="Geist" pitchFamily="34" charset="-122"/>
                <a:cs typeface="Geist" pitchFamily="34" charset="-120"/>
              </a:rPr>
              <a:t>Google Cloud participation</a:t>
            </a:r>
            <a:endParaRPr lang="en-US" sz="2550" dirty="0"/>
          </a:p>
        </p:txBody>
      </p:sp>
      <p:sp>
        <p:nvSpPr>
          <p:cNvPr id="3" name="Text 1"/>
          <p:cNvSpPr/>
          <p:nvPr/>
        </p:nvSpPr>
        <p:spPr>
          <a:xfrm>
            <a:off x="1143000" y="733425"/>
            <a:ext cx="6412230" cy="347663"/>
          </a:xfrm>
          <a:prstGeom prst="rect">
            <a:avLst/>
          </a:prstGeom>
          <a:noFill/>
          <a:ln/>
        </p:spPr>
        <p:txBody>
          <a:bodyPr wrap="square" lIns="25400" tIns="25400" rIns="25400" bIns="25400" rtlCol="0" anchor="t">
            <a:normAutofit/>
          </a:bodyPr>
          <a:lstStyle/>
          <a:p>
            <a:pPr algn="l" indent="0" marL="0">
              <a:buNone/>
            </a:pPr>
            <a:r>
              <a:rPr lang="en-US" sz="1875" spc="150" kern="0" dirty="0">
                <a:solidFill>
                  <a:srgbClr val="515858"/>
                </a:solidFill>
                <a:latin typeface="Geist Mono" pitchFamily="34" charset="0"/>
                <a:ea typeface="Geist Mono" pitchFamily="34" charset="-122"/>
                <a:cs typeface="Geist Mono" pitchFamily="34" charset="-120"/>
              </a:rPr>
              <a:t>RUN.CLOUD.OVERVIEW · EVIDENCE ON INK</a:t>
            </a:r>
            <a:endParaRPr lang="en-US" sz="1875" dirty="0"/>
          </a:p>
        </p:txBody>
      </p:sp>
      <p:sp>
        <p:nvSpPr>
          <p:cNvPr id="4" name="Text 2"/>
          <p:cNvSpPr/>
          <p:nvPr/>
        </p:nvSpPr>
        <p:spPr>
          <a:xfrm>
            <a:off x="13477875" y="333375"/>
            <a:ext cx="4033838" cy="347663"/>
          </a:xfrm>
          <a:prstGeom prst="rect">
            <a:avLst/>
          </a:prstGeom>
          <a:noFill/>
          <a:ln/>
        </p:spPr>
        <p:txBody>
          <a:bodyPr wrap="none" lIns="25400" tIns="25400" rIns="25400" bIns="25400" rtlCol="0" anchor="t">
            <a:normAutofit/>
          </a:bodyPr>
          <a:lstStyle/>
          <a:p>
            <a:pPr algn="l" indent="0" marL="0">
              <a:buNone/>
            </a:pPr>
            <a:r>
              <a:rPr lang="en-US" sz="1875" spc="188" kern="0" dirty="0">
                <a:solidFill>
                  <a:srgbClr val="515858"/>
                </a:solidFill>
                <a:latin typeface="Geist Mono" pitchFamily="34" charset="0"/>
                <a:ea typeface="Geist Mono" pitchFamily="34" charset="-122"/>
                <a:cs typeface="Geist Mono" pitchFamily="34" charset="-120"/>
              </a:rPr>
              <a:t>03 · THE RUN · HAC-341</a:t>
            </a:r>
            <a:endParaRPr lang="en-US" sz="1875" dirty="0"/>
          </a:p>
        </p:txBody>
      </p:sp>
      <p:sp>
        <p:nvSpPr>
          <p:cNvPr id="5" name="Shape 3"/>
          <p:cNvSpPr/>
          <p:nvPr/>
        </p:nvSpPr>
        <p:spPr>
          <a:xfrm>
            <a:off x="2423160" y="1426369"/>
            <a:ext cx="13441682" cy="8401050"/>
          </a:xfrm>
          <a:prstGeom prst="rect">
            <a:avLst/>
          </a:prstGeom>
          <a:solidFill>
            <a:srgbClr val="0B0D0E"/>
          </a:solidFill>
          <a:ln w="9335">
            <a:solidFill>
              <a:srgbClr val="343A3A"/>
            </a:solidFill>
            <a:prstDash val="solid"/>
          </a:ln>
        </p:spPr>
      </p:sp>
      <p:sp>
        <p:nvSpPr>
          <p:cNvPr id="6" name="Shape 4"/>
          <p:cNvSpPr/>
          <p:nvPr/>
        </p:nvSpPr>
        <p:spPr>
          <a:xfrm>
            <a:off x="2432494" y="1435703"/>
            <a:ext cx="13441681" cy="522732"/>
          </a:xfrm>
          <a:prstGeom prst="rect">
            <a:avLst/>
          </a:prstGeom>
          <a:solidFill>
            <a:srgbClr val="0F1212"/>
          </a:solidFill>
          <a:ln/>
        </p:spPr>
      </p:sp>
      <p:sp>
        <p:nvSpPr>
          <p:cNvPr id="7" name="Shape 5"/>
          <p:cNvSpPr/>
          <p:nvPr/>
        </p:nvSpPr>
        <p:spPr>
          <a:xfrm>
            <a:off x="2432494" y="1949101"/>
            <a:ext cx="13441681" cy="9525"/>
          </a:xfrm>
          <a:prstGeom prst="rect">
            <a:avLst/>
          </a:prstGeom>
          <a:solidFill>
            <a:srgbClr val="1E2323"/>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693860" y="1589722"/>
            <a:ext cx="205359" cy="205359"/>
          </a:xfrm>
          <a:prstGeom prst="rect">
            <a:avLst/>
          </a:prstGeom>
        </p:spPr>
      </p:pic>
      <p:sp>
        <p:nvSpPr>
          <p:cNvPr id="9" name="Text 6"/>
          <p:cNvSpPr/>
          <p:nvPr/>
        </p:nvSpPr>
        <p:spPr>
          <a:xfrm>
            <a:off x="2958727" y="1619476"/>
            <a:ext cx="646334" cy="183879"/>
          </a:xfrm>
          <a:prstGeom prst="rect">
            <a:avLst/>
          </a:prstGeom>
          <a:noFill/>
          <a:ln/>
        </p:spPr>
        <p:txBody>
          <a:bodyPr wrap="square" lIns="25400" tIns="25400" rIns="25400" bIns="25400" rtlCol="0" anchor="t">
            <a:normAutofit/>
          </a:bodyPr>
          <a:lstStyle/>
          <a:p>
            <a:pPr algn="l" indent="0" marL="0">
              <a:lnSpc>
                <a:spcPct val="78100"/>
              </a:lnSpc>
              <a:buNone/>
            </a:pPr>
            <a:r>
              <a:rPr lang="en-US" sz="1148" spc="-34" kern="0" dirty="0">
                <a:solidFill>
                  <a:srgbClr val="FBFBFA"/>
                </a:solidFill>
                <a:latin typeface="Geist" pitchFamily="34" charset="0"/>
                <a:ea typeface="Geist" pitchFamily="34" charset="-122"/>
                <a:cs typeface="Geist" pitchFamily="34" charset="-120"/>
              </a:rPr>
              <a:t>Interlock</a:t>
            </a:r>
            <a:endParaRPr lang="en-US" sz="1148" dirty="0"/>
          </a:p>
        </p:txBody>
      </p:sp>
      <p:sp>
        <p:nvSpPr>
          <p:cNvPr id="10" name="Text 7"/>
          <p:cNvSpPr/>
          <p:nvPr/>
        </p:nvSpPr>
        <p:spPr>
          <a:xfrm>
            <a:off x="3678212" y="1638729"/>
            <a:ext cx="523162" cy="145447"/>
          </a:xfrm>
          <a:prstGeom prst="rect">
            <a:avLst/>
          </a:prstGeom>
          <a:noFill/>
          <a:ln/>
        </p:spPr>
        <p:txBody>
          <a:bodyPr wrap="square" lIns="25400" tIns="25400" rIns="25400" bIns="25400" rtlCol="0" anchor="t">
            <a:normAutofit/>
          </a:bodyPr>
          <a:lstStyle/>
          <a:p>
            <a:pPr algn="l" indent="0" marL="0">
              <a:buNone/>
            </a:pPr>
            <a:r>
              <a:rPr lang="en-US" sz="662" spc="106" kern="0" dirty="0">
                <a:solidFill>
                  <a:srgbClr val="737B7B"/>
                </a:solidFill>
                <a:latin typeface="Geist Mono" pitchFamily="34" charset="0"/>
                <a:ea typeface="Geist Mono" pitchFamily="34" charset="-122"/>
                <a:cs typeface="Geist Mono" pitchFamily="34" charset="-120"/>
              </a:rPr>
              <a:t>THE RUN</a:t>
            </a:r>
            <a:endParaRPr lang="en-US" sz="662" dirty="0"/>
          </a:p>
        </p:txBody>
      </p:sp>
      <p:sp>
        <p:nvSpPr>
          <p:cNvPr id="11" name="Shape 8"/>
          <p:cNvSpPr/>
          <p:nvPr/>
        </p:nvSpPr>
        <p:spPr>
          <a:xfrm>
            <a:off x="4274526" y="1578054"/>
            <a:ext cx="9525" cy="228695"/>
          </a:xfrm>
          <a:prstGeom prst="rect">
            <a:avLst/>
          </a:prstGeom>
          <a:solidFill>
            <a:srgbClr val="1E2323"/>
          </a:solidFill>
          <a:ln/>
        </p:spPr>
      </p:sp>
      <p:sp>
        <p:nvSpPr>
          <p:cNvPr id="12" name="Text 9"/>
          <p:cNvSpPr/>
          <p:nvPr/>
        </p:nvSpPr>
        <p:spPr>
          <a:xfrm>
            <a:off x="4433213" y="1578054"/>
            <a:ext cx="2379262" cy="266795"/>
          </a:xfrm>
          <a:prstGeom prst="rect">
            <a:avLst/>
          </a:prstGeom>
          <a:noFill/>
          <a:ln/>
        </p:spPr>
        <p:txBody>
          <a:bodyPr wrap="none" lIns="25400" tIns="25400" rIns="25400" bIns="25400" rtlCol="0" anchor="t">
            <a:normAutofit/>
          </a:bodyPr>
          <a:lstStyle/>
          <a:p>
            <a:pPr algn="l" indent="0" marL="0">
              <a:buNone/>
            </a:pPr>
            <a:r>
              <a:rPr lang="en-US" sz="1397" spc="-20" kern="0" dirty="0">
                <a:solidFill>
                  <a:srgbClr val="FBFBFA"/>
                </a:solidFill>
                <a:latin typeface="Geist" pitchFamily="34" charset="0"/>
                <a:ea typeface="Geist" pitchFamily="34" charset="-122"/>
                <a:cs typeface="Geist" pitchFamily="34" charset="-120"/>
              </a:rPr>
              <a:t>Google Cloud participation</a:t>
            </a:r>
            <a:endParaRPr lang="en-US" sz="1397" dirty="0"/>
          </a:p>
        </p:txBody>
      </p:sp>
      <p:sp>
        <p:nvSpPr>
          <p:cNvPr id="13" name="Text 10"/>
          <p:cNvSpPr/>
          <p:nvPr/>
        </p:nvSpPr>
        <p:spPr>
          <a:xfrm>
            <a:off x="10635623" y="1638729"/>
            <a:ext cx="395470" cy="145447"/>
          </a:xfrm>
          <a:prstGeom prst="rect">
            <a:avLst/>
          </a:prstGeom>
          <a:noFill/>
          <a:ln/>
        </p:spPr>
        <p:txBody>
          <a:bodyPr wrap="square" lIns="25400" tIns="25400" rIns="25400" bIns="25400" rtlCol="0" anchor="t">
            <a:normAutofit/>
          </a:bodyPr>
          <a:lstStyle/>
          <a:p>
            <a:pPr algn="l" indent="0" marL="0">
              <a:buNone/>
            </a:pPr>
            <a:r>
              <a:rPr lang="en-US" sz="662" spc="106" kern="0" dirty="0">
                <a:solidFill>
                  <a:srgbClr val="737B7B"/>
                </a:solidFill>
                <a:latin typeface="Geist Mono" pitchFamily="34" charset="0"/>
                <a:ea typeface="Geist Mono" pitchFamily="34" charset="-122"/>
                <a:cs typeface="Geist Mono" pitchFamily="34" charset="-120"/>
              </a:rPr>
              <a:t>PROOF</a:t>
            </a:r>
            <a:endParaRPr lang="en-US" sz="662" dirty="0"/>
          </a:p>
        </p:txBody>
      </p:sp>
      <p:sp>
        <p:nvSpPr>
          <p:cNvPr id="14" name="Shape 11"/>
          <p:cNvSpPr/>
          <p:nvPr/>
        </p:nvSpPr>
        <p:spPr>
          <a:xfrm>
            <a:off x="11048237" y="1547717"/>
            <a:ext cx="4564570" cy="289370"/>
          </a:xfrm>
          <a:prstGeom prst="rect">
            <a:avLst/>
          </a:prstGeom>
          <a:ln w="9335">
            <a:solidFill>
              <a:srgbClr val="515858"/>
            </a:solidFill>
            <a:prstDash val="solid"/>
          </a:ln>
        </p:spPr>
      </p:sp>
      <p:sp>
        <p:nvSpPr>
          <p:cNvPr id="15" name="Text 12"/>
          <p:cNvSpPr/>
          <p:nvPr/>
        </p:nvSpPr>
        <p:spPr>
          <a:xfrm>
            <a:off x="11178920" y="1631728"/>
            <a:ext cx="2167128" cy="159448"/>
          </a:xfrm>
          <a:prstGeom prst="rect">
            <a:avLst/>
          </a:prstGeom>
          <a:noFill/>
          <a:ln/>
        </p:spPr>
        <p:txBody>
          <a:bodyPr wrap="none" lIns="25400" tIns="25400" rIns="25400" bIns="25400" rtlCol="0" anchor="t">
            <a:normAutofit/>
          </a:bodyPr>
          <a:lstStyle/>
          <a:p>
            <a:pPr algn="l" indent="0" marL="0">
              <a:buNone/>
            </a:pPr>
            <a:r>
              <a:rPr lang="en-US" sz="735" spc="74" kern="0" dirty="0">
                <a:solidFill>
                  <a:srgbClr val="9BA2A2"/>
                </a:solidFill>
                <a:latin typeface="Geist Mono" pitchFamily="34" charset="0"/>
                <a:ea typeface="Geist Mono" pitchFamily="34" charset="-122"/>
                <a:cs typeface="Geist Mono" pitchFamily="34" charset="-120"/>
              </a:rPr>
              <a:t>A · CONTROLLED CAUSAL EXPERIMENT</a:t>
            </a:r>
            <a:endParaRPr lang="en-US" sz="735" dirty="0"/>
          </a:p>
        </p:txBody>
      </p:sp>
      <p:sp>
        <p:nvSpPr>
          <p:cNvPr id="16" name="Shape 13"/>
          <p:cNvSpPr/>
          <p:nvPr/>
        </p:nvSpPr>
        <p:spPr>
          <a:xfrm>
            <a:off x="13391197" y="1557052"/>
            <a:ext cx="2212277" cy="270700"/>
          </a:xfrm>
          <a:prstGeom prst="rect">
            <a:avLst/>
          </a:prstGeom>
          <a:solidFill>
            <a:srgbClr val="FBFBFA"/>
          </a:solidFill>
          <a:ln/>
          <a:effectLst>
            <a:outerShdw sx="100000" sy="100000" kx="0" ky="0" algn="bl" rotWithShape="0" blurRad="19050" dist="9525" dir="5400000">
              <a:srgbClr val="000000">
                <a:alpha val="50000"/>
              </a:srgbClr>
            </a:outerShdw>
          </a:effectLst>
        </p:spPr>
      </p:sp>
      <p:sp>
        <p:nvSpPr>
          <p:cNvPr id="17" name="Shape 14"/>
          <p:cNvSpPr/>
          <p:nvPr/>
        </p:nvSpPr>
        <p:spPr>
          <a:xfrm>
            <a:off x="13391197" y="1557052"/>
            <a:ext cx="9525" cy="270700"/>
          </a:xfrm>
          <a:prstGeom prst="rect">
            <a:avLst/>
          </a:prstGeom>
          <a:solidFill>
            <a:srgbClr val="515858"/>
          </a:solidFill>
          <a:ln/>
        </p:spPr>
      </p:sp>
      <p:sp>
        <p:nvSpPr>
          <p:cNvPr id="18" name="Text 15"/>
          <p:cNvSpPr/>
          <p:nvPr/>
        </p:nvSpPr>
        <p:spPr>
          <a:xfrm>
            <a:off x="13521880" y="1631728"/>
            <a:ext cx="2036445" cy="159448"/>
          </a:xfrm>
          <a:prstGeom prst="rect">
            <a:avLst/>
          </a:prstGeom>
          <a:noFill/>
          <a:ln/>
        </p:spPr>
        <p:txBody>
          <a:bodyPr wrap="none" lIns="25400" tIns="25400" rIns="25400" bIns="25400" rtlCol="0" anchor="t">
            <a:normAutofit/>
          </a:bodyPr>
          <a:lstStyle/>
          <a:p>
            <a:pPr algn="l" indent="0" marL="0">
              <a:buNone/>
            </a:pPr>
            <a:r>
              <a:rPr lang="en-US" sz="735" spc="74" kern="0" dirty="0">
                <a:solidFill>
                  <a:srgbClr val="0B0D0E"/>
                </a:solidFill>
                <a:latin typeface="Geist Mono" pitchFamily="34" charset="0"/>
                <a:ea typeface="Geist Mono" pitchFamily="34" charset="-122"/>
                <a:cs typeface="Geist Mono" pitchFamily="34" charset="-120"/>
              </a:rPr>
              <a:t>B · GOOGLE CLOUD PARTICIPATION</a:t>
            </a:r>
            <a:endParaRPr lang="en-US" sz="735" dirty="0"/>
          </a:p>
        </p:txBody>
      </p:sp>
      <p:sp>
        <p:nvSpPr>
          <p:cNvPr id="19" name="Shape 16"/>
          <p:cNvSpPr/>
          <p:nvPr/>
        </p:nvSpPr>
        <p:spPr>
          <a:xfrm>
            <a:off x="2432494" y="1958435"/>
            <a:ext cx="13441681" cy="354711"/>
          </a:xfrm>
          <a:prstGeom prst="rect">
            <a:avLst/>
          </a:prstGeom>
          <a:solidFill>
            <a:srgbClr val="141818"/>
          </a:solidFill>
          <a:ln/>
        </p:spPr>
      </p:sp>
      <p:sp>
        <p:nvSpPr>
          <p:cNvPr id="20" name="Shape 17"/>
          <p:cNvSpPr/>
          <p:nvPr/>
        </p:nvSpPr>
        <p:spPr>
          <a:xfrm>
            <a:off x="2432494" y="2294477"/>
            <a:ext cx="13441681" cy="18669"/>
          </a:xfrm>
          <a:prstGeom prst="rect">
            <a:avLst/>
          </a:prstGeom>
          <a:solidFill>
            <a:srgbClr val="FBFBFA"/>
          </a:solidFill>
          <a:ln/>
        </p:spPr>
      </p:sp>
      <p:sp>
        <p:nvSpPr>
          <p:cNvPr id="21" name="Text 18"/>
          <p:cNvSpPr/>
          <p:nvPr/>
        </p:nvSpPr>
        <p:spPr>
          <a:xfrm>
            <a:off x="2693860" y="2065782"/>
            <a:ext cx="266682"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737B7B"/>
                </a:solidFill>
                <a:latin typeface="Geist Mono" pitchFamily="34" charset="0"/>
                <a:ea typeface="Geist Mono" pitchFamily="34" charset="-122"/>
                <a:cs typeface="Geist Mono" pitchFamily="34" charset="-120"/>
              </a:rPr>
              <a:t>run</a:t>
            </a:r>
            <a:endParaRPr lang="en-US" sz="735" dirty="0"/>
          </a:p>
        </p:txBody>
      </p:sp>
      <p:sp>
        <p:nvSpPr>
          <p:cNvPr id="22" name="Text 19"/>
          <p:cNvSpPr/>
          <p:nvPr/>
        </p:nvSpPr>
        <p:spPr>
          <a:xfrm>
            <a:off x="2949684" y="2065782"/>
            <a:ext cx="2094662"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FBFBFA"/>
                </a:solidFill>
                <a:latin typeface="Geist Mono" pitchFamily="34" charset="0"/>
                <a:ea typeface="Geist Mono" pitchFamily="34" charset="-122"/>
                <a:cs typeface="Geist Mono" pitchFamily="34" charset="-120"/>
              </a:rPr>
              <a:t>ilk-hac340-cloud-1786730369123</a:t>
            </a:r>
            <a:endParaRPr lang="en-US" sz="735" dirty="0"/>
          </a:p>
        </p:txBody>
      </p:sp>
      <p:sp>
        <p:nvSpPr>
          <p:cNvPr id="23" name="Shape 20"/>
          <p:cNvSpPr/>
          <p:nvPr/>
        </p:nvSpPr>
        <p:spPr>
          <a:xfrm>
            <a:off x="5021943" y="2065782"/>
            <a:ext cx="9525" cy="121348"/>
          </a:xfrm>
          <a:prstGeom prst="rect">
            <a:avLst/>
          </a:prstGeom>
          <a:solidFill>
            <a:srgbClr val="1E2323"/>
          </a:solidFill>
          <a:ln/>
        </p:spPr>
      </p:sp>
      <p:sp>
        <p:nvSpPr>
          <p:cNvPr id="24" name="Text 21"/>
          <p:cNvSpPr/>
          <p:nvPr/>
        </p:nvSpPr>
        <p:spPr>
          <a:xfrm>
            <a:off x="5199298" y="2065782"/>
            <a:ext cx="393573"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737B7B"/>
                </a:solidFill>
                <a:latin typeface="Geist Mono" pitchFamily="34" charset="0"/>
                <a:ea typeface="Geist Mono" pitchFamily="34" charset="-122"/>
                <a:cs typeface="Geist Mono" pitchFamily="34" charset="-120"/>
              </a:rPr>
              <a:t>issue</a:t>
            </a:r>
            <a:endParaRPr lang="en-US" sz="735" dirty="0"/>
          </a:p>
        </p:txBody>
      </p:sp>
      <p:sp>
        <p:nvSpPr>
          <p:cNvPr id="25" name="Text 22"/>
          <p:cNvSpPr/>
          <p:nvPr/>
        </p:nvSpPr>
        <p:spPr>
          <a:xfrm>
            <a:off x="5582013" y="2065782"/>
            <a:ext cx="520537"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FBFBFA"/>
                </a:solidFill>
                <a:latin typeface="Geist Mono" pitchFamily="34" charset="0"/>
                <a:ea typeface="Geist Mono" pitchFamily="34" charset="-122"/>
                <a:cs typeface="Geist Mono" pitchFamily="34" charset="-120"/>
              </a:rPr>
              <a:t>HAC-340</a:t>
            </a:r>
            <a:endParaRPr lang="en-US" sz="735" dirty="0"/>
          </a:p>
        </p:txBody>
      </p:sp>
      <p:sp>
        <p:nvSpPr>
          <p:cNvPr id="26" name="Shape 23"/>
          <p:cNvSpPr/>
          <p:nvPr/>
        </p:nvSpPr>
        <p:spPr>
          <a:xfrm>
            <a:off x="6194371" y="2065782"/>
            <a:ext cx="9525" cy="121348"/>
          </a:xfrm>
          <a:prstGeom prst="rect">
            <a:avLst/>
          </a:prstGeom>
          <a:solidFill>
            <a:srgbClr val="1E2323"/>
          </a:solidFill>
          <a:ln/>
        </p:spPr>
      </p:sp>
      <p:sp>
        <p:nvSpPr>
          <p:cNvPr id="27" name="Text 24"/>
          <p:cNvSpPr/>
          <p:nvPr/>
        </p:nvSpPr>
        <p:spPr>
          <a:xfrm>
            <a:off x="6371726" y="2065782"/>
            <a:ext cx="393573"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737B7B"/>
                </a:solidFill>
                <a:latin typeface="Geist Mono" pitchFamily="34" charset="0"/>
                <a:ea typeface="Geist Mono" pitchFamily="34" charset="-122"/>
                <a:cs typeface="Geist Mono" pitchFamily="34" charset="-120"/>
              </a:rPr>
              <a:t>state</a:t>
            </a:r>
            <a:endParaRPr lang="en-US" sz="735" dirty="0"/>
          </a:p>
        </p:txBody>
      </p:sp>
      <p:sp>
        <p:nvSpPr>
          <p:cNvPr id="28" name="Text 25"/>
          <p:cNvSpPr/>
          <p:nvPr/>
        </p:nvSpPr>
        <p:spPr>
          <a:xfrm>
            <a:off x="6754441" y="2065782"/>
            <a:ext cx="490710" cy="159448"/>
          </a:xfrm>
          <a:prstGeom prst="rect">
            <a:avLst/>
          </a:prstGeom>
          <a:noFill/>
          <a:ln/>
        </p:spPr>
        <p:txBody>
          <a:bodyPr wrap="square" lIns="25400" tIns="25400" rIns="25400" bIns="25400" rtlCol="0" anchor="t">
            <a:normAutofit/>
          </a:bodyPr>
          <a:lstStyle/>
          <a:p>
            <a:pPr algn="l" indent="0" marL="0">
              <a:buNone/>
            </a:pPr>
            <a:r>
              <a:rPr lang="en-US" sz="735" spc="103" kern="0" dirty="0">
                <a:solidFill>
                  <a:srgbClr val="FBFBFA"/>
                </a:solidFill>
                <a:latin typeface="Geist Mono" pitchFamily="34" charset="0"/>
                <a:ea typeface="Geist Mono" pitchFamily="34" charset="-122"/>
                <a:cs typeface="Geist Mono" pitchFamily="34" charset="-120"/>
              </a:rPr>
              <a:t>FROZEN</a:t>
            </a:r>
            <a:endParaRPr lang="en-US" sz="735" dirty="0"/>
          </a:p>
        </p:txBody>
      </p:sp>
      <p:sp>
        <p:nvSpPr>
          <p:cNvPr id="29" name="Shape 26"/>
          <p:cNvSpPr/>
          <p:nvPr/>
        </p:nvSpPr>
        <p:spPr>
          <a:xfrm>
            <a:off x="7336972" y="2065782"/>
            <a:ext cx="9525" cy="121348"/>
          </a:xfrm>
          <a:prstGeom prst="rect">
            <a:avLst/>
          </a:prstGeom>
          <a:solidFill>
            <a:srgbClr val="1E2323"/>
          </a:solidFill>
          <a:ln/>
        </p:spPr>
      </p:sp>
      <p:sp>
        <p:nvSpPr>
          <p:cNvPr id="30" name="Text 27"/>
          <p:cNvSpPr/>
          <p:nvPr/>
        </p:nvSpPr>
        <p:spPr>
          <a:xfrm>
            <a:off x="7514327" y="2065782"/>
            <a:ext cx="520537"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737B7B"/>
                </a:solidFill>
                <a:latin typeface="Geist Mono" pitchFamily="34" charset="0"/>
                <a:ea typeface="Geist Mono" pitchFamily="34" charset="-122"/>
                <a:cs typeface="Geist Mono" pitchFamily="34" charset="-120"/>
              </a:rPr>
              <a:t>runtime</a:t>
            </a:r>
            <a:endParaRPr lang="en-US" sz="735" dirty="0"/>
          </a:p>
        </p:txBody>
      </p:sp>
      <p:sp>
        <p:nvSpPr>
          <p:cNvPr id="31" name="Text 28"/>
          <p:cNvSpPr/>
          <p:nvPr/>
        </p:nvSpPr>
        <p:spPr>
          <a:xfrm>
            <a:off x="8024006" y="2065782"/>
            <a:ext cx="520537"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FBFBFA"/>
                </a:solidFill>
                <a:latin typeface="Geist Mono" pitchFamily="34" charset="0"/>
                <a:ea typeface="Geist Mono" pitchFamily="34" charset="-122"/>
                <a:cs typeface="Geist Mono" pitchFamily="34" charset="-120"/>
              </a:rPr>
              <a:t>ae6d0d3</a:t>
            </a:r>
            <a:endParaRPr lang="en-US" sz="735" dirty="0"/>
          </a:p>
        </p:txBody>
      </p:sp>
      <p:sp>
        <p:nvSpPr>
          <p:cNvPr id="32" name="Shape 29"/>
          <p:cNvSpPr/>
          <p:nvPr/>
        </p:nvSpPr>
        <p:spPr>
          <a:xfrm>
            <a:off x="8636364" y="2065782"/>
            <a:ext cx="9525" cy="121348"/>
          </a:xfrm>
          <a:prstGeom prst="rect">
            <a:avLst/>
          </a:prstGeom>
          <a:solidFill>
            <a:srgbClr val="1E2323"/>
          </a:solidFill>
          <a:ln/>
        </p:spPr>
      </p:sp>
      <p:sp>
        <p:nvSpPr>
          <p:cNvPr id="33" name="Text 30"/>
          <p:cNvSpPr/>
          <p:nvPr/>
        </p:nvSpPr>
        <p:spPr>
          <a:xfrm>
            <a:off x="8813719" y="2065782"/>
            <a:ext cx="774464"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737B7B"/>
                </a:solidFill>
                <a:latin typeface="Geist Mono" pitchFamily="34" charset="0"/>
                <a:ea typeface="Geist Mono" pitchFamily="34" charset="-122"/>
                <a:cs typeface="Geist Mono" pitchFamily="34" charset="-120"/>
              </a:rPr>
              <a:t>publication</a:t>
            </a:r>
            <a:endParaRPr lang="en-US" sz="735" dirty="0"/>
          </a:p>
        </p:txBody>
      </p:sp>
      <p:sp>
        <p:nvSpPr>
          <p:cNvPr id="34" name="Text 31"/>
          <p:cNvSpPr/>
          <p:nvPr/>
        </p:nvSpPr>
        <p:spPr>
          <a:xfrm>
            <a:off x="9577325" y="2065782"/>
            <a:ext cx="2094661"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E4B65C"/>
                </a:solidFill>
                <a:latin typeface="Geist Mono" pitchFamily="34" charset="0"/>
                <a:ea typeface="Geist Mono" pitchFamily="34" charset="-122"/>
                <a:cs typeface="Geist Mono" pitchFamily="34" charset="-120"/>
              </a:rPr>
              <a:t>[BIND: evidencePublicationSha]</a:t>
            </a:r>
            <a:endParaRPr lang="en-US" sz="735" dirty="0"/>
          </a:p>
        </p:txBody>
      </p:sp>
      <p:sp>
        <p:nvSpPr>
          <p:cNvPr id="35" name="Shape 32"/>
          <p:cNvSpPr/>
          <p:nvPr/>
        </p:nvSpPr>
        <p:spPr>
          <a:xfrm>
            <a:off x="13021535" y="2065782"/>
            <a:ext cx="9525" cy="121348"/>
          </a:xfrm>
          <a:prstGeom prst="rect">
            <a:avLst/>
          </a:prstGeom>
          <a:solidFill>
            <a:srgbClr val="1E2323"/>
          </a:solidFill>
          <a:ln/>
        </p:spPr>
      </p:sp>
      <p:sp>
        <p:nvSpPr>
          <p:cNvPr id="36" name="Text 33"/>
          <p:cNvSpPr/>
          <p:nvPr/>
        </p:nvSpPr>
        <p:spPr>
          <a:xfrm>
            <a:off x="13198892" y="2065782"/>
            <a:ext cx="393574"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737B7B"/>
                </a:solidFill>
                <a:latin typeface="Geist Mono" pitchFamily="34" charset="0"/>
                <a:ea typeface="Geist Mono" pitchFamily="34" charset="-122"/>
                <a:cs typeface="Geist Mono" pitchFamily="34" charset="-120"/>
              </a:rPr>
              <a:t>claim</a:t>
            </a:r>
            <a:endParaRPr lang="en-US" sz="735" dirty="0"/>
          </a:p>
        </p:txBody>
      </p:sp>
      <p:sp>
        <p:nvSpPr>
          <p:cNvPr id="37" name="Text 34"/>
          <p:cNvSpPr/>
          <p:nvPr/>
        </p:nvSpPr>
        <p:spPr>
          <a:xfrm>
            <a:off x="13581606" y="2065782"/>
            <a:ext cx="2234322" cy="159448"/>
          </a:xfrm>
          <a:prstGeom prst="rect">
            <a:avLst/>
          </a:prstGeom>
          <a:noFill/>
          <a:ln/>
        </p:spPr>
        <p:txBody>
          <a:bodyPr wrap="square" lIns="25400" tIns="25400" rIns="25400" bIns="25400" rtlCol="0" anchor="t">
            <a:normAutofit/>
          </a:bodyPr>
          <a:lstStyle/>
          <a:p>
            <a:pPr algn="l" indent="0" marL="0">
              <a:buNone/>
            </a:pPr>
            <a:r>
              <a:rPr lang="en-US" sz="735" spc="59" kern="0" dirty="0">
                <a:solidFill>
                  <a:srgbClr val="737B7B"/>
                </a:solidFill>
                <a:latin typeface="Geist Mono" pitchFamily="34" charset="0"/>
                <a:ea typeface="Geist Mono" pitchFamily="34" charset="-122"/>
                <a:cs typeface="Geist Mono" pitchFamily="34" charset="-120"/>
              </a:rPr>
              <a:t>participation, not certification</a:t>
            </a:r>
            <a:endParaRPr lang="en-US" sz="735" dirty="0"/>
          </a:p>
        </p:txBody>
      </p:sp>
      <p:sp>
        <p:nvSpPr>
          <p:cNvPr id="38" name="Shape 35"/>
          <p:cNvSpPr/>
          <p:nvPr/>
        </p:nvSpPr>
        <p:spPr>
          <a:xfrm>
            <a:off x="2432494" y="2313146"/>
            <a:ext cx="13441681" cy="578739"/>
          </a:xfrm>
          <a:prstGeom prst="rect">
            <a:avLst/>
          </a:prstGeom>
          <a:solidFill>
            <a:srgbClr val="0F1212"/>
          </a:solidFill>
          <a:ln/>
        </p:spPr>
      </p:sp>
      <p:sp>
        <p:nvSpPr>
          <p:cNvPr id="39" name="Shape 36"/>
          <p:cNvSpPr/>
          <p:nvPr/>
        </p:nvSpPr>
        <p:spPr>
          <a:xfrm>
            <a:off x="2432494" y="2882551"/>
            <a:ext cx="13441681" cy="9525"/>
          </a:xfrm>
          <a:prstGeom prst="rect">
            <a:avLst/>
          </a:prstGeom>
          <a:solidFill>
            <a:srgbClr val="1E2323"/>
          </a:solidFill>
          <a:ln/>
        </p:spPr>
      </p:sp>
      <p:sp>
        <p:nvSpPr>
          <p:cNvPr id="40" name="Shape 37"/>
          <p:cNvSpPr/>
          <p:nvPr/>
        </p:nvSpPr>
        <p:spPr>
          <a:xfrm>
            <a:off x="2693860" y="2434495"/>
            <a:ext cx="2138768" cy="182023"/>
          </a:xfrm>
          <a:prstGeom prst="rect">
            <a:avLst/>
          </a:prstGeom>
          <a:ln w="9335">
            <a:solidFill>
              <a:srgbClr val="515858"/>
            </a:solidFill>
            <a:prstDash val="dash"/>
          </a:ln>
        </p:spPr>
      </p:sp>
      <p:sp>
        <p:nvSpPr>
          <p:cNvPr id="41" name="Text 38"/>
          <p:cNvSpPr/>
          <p:nvPr/>
        </p:nvSpPr>
        <p:spPr>
          <a:xfrm>
            <a:off x="2768536" y="2471833"/>
            <a:ext cx="2065616" cy="145447"/>
          </a:xfrm>
          <a:prstGeom prst="rect">
            <a:avLst/>
          </a:prstGeom>
          <a:noFill/>
          <a:ln/>
        </p:spPr>
        <p:txBody>
          <a:bodyPr wrap="none" lIns="25400" tIns="25400" rIns="25400" bIns="25400" rtlCol="0" anchor="t">
            <a:normAutofit/>
          </a:bodyPr>
          <a:lstStyle/>
          <a:p>
            <a:pPr algn="l" indent="0" marL="0">
              <a:buNone/>
            </a:pPr>
            <a:r>
              <a:rPr lang="en-US" sz="662" spc="93" kern="0" dirty="0">
                <a:solidFill>
                  <a:srgbClr val="737B7B"/>
                </a:solidFill>
                <a:latin typeface="Geist Mono" pitchFamily="34" charset="0"/>
                <a:ea typeface="Geist Mono" pitchFamily="34" charset="-122"/>
                <a:cs typeface="Geist Mono" pitchFamily="34" charset="-120"/>
              </a:rPr>
              <a:t>EDITORIAL CONTEXT · NOT EVIDENCE</a:t>
            </a:r>
            <a:endParaRPr lang="en-US" sz="662" dirty="0"/>
          </a:p>
        </p:txBody>
      </p:sp>
      <p:sp>
        <p:nvSpPr>
          <p:cNvPr id="42" name="Text 39"/>
          <p:cNvSpPr/>
          <p:nvPr/>
        </p:nvSpPr>
        <p:spPr>
          <a:xfrm>
            <a:off x="4963310" y="2415826"/>
            <a:ext cx="8414221" cy="444151"/>
          </a:xfrm>
          <a:prstGeom prst="rect">
            <a:avLst/>
          </a:prstGeom>
          <a:noFill/>
          <a:ln/>
        </p:spPr>
        <p:txBody>
          <a:bodyPr wrap="square" lIns="25400" tIns="25400" rIns="25400" bIns="25400" rtlCol="0" anchor="t">
            <a:normAutofit/>
          </a:bodyPr>
          <a:lstStyle/>
          <a:p>
            <a:pPr algn="l" indent="0" marL="0">
              <a:lnSpc>
                <a:spcPct val="111538"/>
              </a:lnSpc>
              <a:buNone/>
            </a:pPr>
            <a:r>
              <a:rPr lang="en-US" sz="1102" dirty="0">
                <a:solidFill>
                  <a:srgbClr val="EEF0F0"/>
                </a:solidFill>
                <a:latin typeface="Geist" pitchFamily="34" charset="0"/>
                <a:ea typeface="Geist" pitchFamily="34" charset="-122"/>
                <a:cs typeface="Geist" pitchFamily="34" charset="-120"/>
              </a:rPr>
              <a:t>A different run. A recorded Gemini and ADK execution on Cloud Run traversed Interlock, and the resulting state was read back by an independently authenticated reader.</a:t>
            </a:r>
            <a:endParaRPr lang="en-US" sz="1102" dirty="0"/>
          </a:p>
        </p:txBody>
      </p:sp>
      <p:sp>
        <p:nvSpPr>
          <p:cNvPr id="43" name="Shape 40"/>
          <p:cNvSpPr/>
          <p:nvPr/>
        </p:nvSpPr>
        <p:spPr>
          <a:xfrm>
            <a:off x="2432494" y="2891885"/>
            <a:ext cx="13441681" cy="6608826"/>
          </a:xfrm>
          <a:prstGeom prst="rect">
            <a:avLst/>
          </a:prstGeom>
          <a:solidFill>
            <a:srgbClr val="141818"/>
          </a:solidFill>
          <a:ln/>
        </p:spPr>
      </p:sp>
      <p:sp>
        <p:nvSpPr>
          <p:cNvPr id="44" name="Text 41"/>
          <p:cNvSpPr/>
          <p:nvPr/>
        </p:nvSpPr>
        <p:spPr>
          <a:xfrm>
            <a:off x="2693860" y="3059906"/>
            <a:ext cx="1459333" cy="168783"/>
          </a:xfrm>
          <a:prstGeom prst="rect">
            <a:avLst/>
          </a:prstGeom>
          <a:noFill/>
          <a:ln/>
        </p:spPr>
        <p:txBody>
          <a:bodyPr wrap="square" lIns="25400" tIns="25400" rIns="25400" bIns="25400" rtlCol="0" anchor="t">
            <a:normAutofit/>
          </a:bodyPr>
          <a:lstStyle/>
          <a:p>
            <a:pPr algn="l" indent="0" marL="0">
              <a:buNone/>
            </a:pPr>
            <a:r>
              <a:rPr lang="en-US" sz="808" spc="129" kern="0" dirty="0">
                <a:solidFill>
                  <a:srgbClr val="FBFBFA"/>
                </a:solidFill>
                <a:latin typeface="Geist Mono" pitchFamily="34" charset="0"/>
                <a:ea typeface="Geist Mono" pitchFamily="34" charset="-122"/>
                <a:cs typeface="Geist Mono" pitchFamily="34" charset="-120"/>
              </a:rPr>
              <a:t>WHAT ACTUALLY RAN</a:t>
            </a:r>
            <a:endParaRPr lang="en-US" sz="808" dirty="0"/>
          </a:p>
        </p:txBody>
      </p:sp>
      <p:sp>
        <p:nvSpPr>
          <p:cNvPr id="45" name="Text 42"/>
          <p:cNvSpPr/>
          <p:nvPr/>
        </p:nvSpPr>
        <p:spPr>
          <a:xfrm>
            <a:off x="8057041" y="3078575"/>
            <a:ext cx="1863071"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REGION 1 · CAUSAL SPINE · L1</a:t>
            </a:r>
            <a:endParaRPr lang="en-US" sz="662" dirty="0"/>
          </a:p>
        </p:txBody>
      </p:sp>
      <p:sp>
        <p:nvSpPr>
          <p:cNvPr id="46" name="Shape 43"/>
          <p:cNvSpPr/>
          <p:nvPr/>
        </p:nvSpPr>
        <p:spPr>
          <a:xfrm>
            <a:off x="2693860" y="3302603"/>
            <a:ext cx="7056882" cy="9525"/>
          </a:xfrm>
          <a:prstGeom prst="rect">
            <a:avLst/>
          </a:prstGeom>
          <a:solidFill>
            <a:srgbClr val="343A3A"/>
          </a:solidFill>
          <a:ln/>
        </p:spPr>
      </p:sp>
      <p:sp>
        <p:nvSpPr>
          <p:cNvPr id="47" name="Shape 44"/>
          <p:cNvSpPr/>
          <p:nvPr/>
        </p:nvSpPr>
        <p:spPr>
          <a:xfrm>
            <a:off x="2693860" y="3311938"/>
            <a:ext cx="7056882" cy="403717"/>
          </a:xfrm>
          <a:prstGeom prst="rect">
            <a:avLst/>
          </a:prstGeom>
          <a:solidFill>
            <a:srgbClr val="0F1212"/>
          </a:solidFill>
          <a:ln/>
        </p:spPr>
      </p:sp>
      <p:sp>
        <p:nvSpPr>
          <p:cNvPr id="48" name="Shape 45"/>
          <p:cNvSpPr/>
          <p:nvPr/>
        </p:nvSpPr>
        <p:spPr>
          <a:xfrm>
            <a:off x="2693860" y="3706320"/>
            <a:ext cx="7056882" cy="9525"/>
          </a:xfrm>
          <a:prstGeom prst="rect">
            <a:avLst/>
          </a:prstGeom>
          <a:solidFill>
            <a:srgbClr val="1E2323"/>
          </a:solidFill>
          <a:ln/>
        </p:spPr>
      </p:sp>
      <p:sp>
        <p:nvSpPr>
          <p:cNvPr id="49" name="Shape 46"/>
          <p:cNvSpPr/>
          <p:nvPr/>
        </p:nvSpPr>
        <p:spPr>
          <a:xfrm>
            <a:off x="2693860" y="3311938"/>
            <a:ext cx="18669" cy="403717"/>
          </a:xfrm>
          <a:prstGeom prst="rect">
            <a:avLst/>
          </a:prstGeom>
          <a:solidFill>
            <a:srgbClr val="515858"/>
          </a:solidFill>
          <a:ln/>
        </p:spPr>
      </p:sp>
      <p:sp>
        <p:nvSpPr>
          <p:cNvPr id="50" name="Text 47"/>
          <p:cNvSpPr/>
          <p:nvPr/>
        </p:nvSpPr>
        <p:spPr>
          <a:xfrm>
            <a:off x="2824543" y="3455456"/>
            <a:ext cx="1540193" cy="145446"/>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GOOGLE RUNTIME</a:t>
            </a:r>
            <a:endParaRPr lang="en-US" sz="662" dirty="0"/>
          </a:p>
        </p:txBody>
      </p:sp>
      <p:sp>
        <p:nvSpPr>
          <p:cNvPr id="51" name="Text 48"/>
          <p:cNvSpPr/>
          <p:nvPr/>
        </p:nvSpPr>
        <p:spPr>
          <a:xfrm>
            <a:off x="4355401" y="3429786"/>
            <a:ext cx="5359871" cy="196786"/>
          </a:xfrm>
          <a:prstGeom prst="rect">
            <a:avLst/>
          </a:prstGeom>
          <a:noFill/>
          <a:ln/>
        </p:spPr>
        <p:txBody>
          <a:bodyPr wrap="square" lIns="25400" tIns="25400" rIns="25400" bIns="25400" rtlCol="0" anchor="t">
            <a:normAutofit/>
          </a:bodyPr>
          <a:lstStyle/>
          <a:p>
            <a:pPr algn="l" indent="0" marL="0">
              <a:buNone/>
            </a:pPr>
            <a:r>
              <a:rPr lang="en-US" sz="956" dirty="0">
                <a:solidFill>
                  <a:srgbClr val="FBFBFA"/>
                </a:solidFill>
                <a:latin typeface="Geist Mono" pitchFamily="34" charset="0"/>
                <a:ea typeface="Geist Mono" pitchFamily="34" charset="-122"/>
                <a:cs typeface="Geist Mono" pitchFamily="34" charset="-120"/>
              </a:rPr>
              <a:t>gemini-3.5-flash</a:t>
            </a:r>
            <a:endParaRPr lang="en-US" sz="956" dirty="0"/>
          </a:p>
        </p:txBody>
      </p:sp>
      <p:sp>
        <p:nvSpPr>
          <p:cNvPr id="52" name="Text 49"/>
          <p:cNvSpPr/>
          <p:nvPr/>
        </p:nvSpPr>
        <p:spPr>
          <a:xfrm>
            <a:off x="9358693" y="3448455"/>
            <a:ext cx="356235" cy="159448"/>
          </a:xfrm>
          <a:prstGeom prst="rect">
            <a:avLst/>
          </a:prstGeom>
          <a:noFill/>
          <a:ln/>
        </p:spPr>
        <p:txBody>
          <a:bodyPr wrap="square" lIns="25400" tIns="25400" rIns="25400" bIns="25400" rtlCol="0" anchor="t">
            <a:normAutofit/>
          </a:bodyPr>
          <a:lstStyle/>
          <a:p>
            <a:pPr algn="l" indent="0" marL="0">
              <a:buNone/>
            </a:pPr>
            <a:r>
              <a:rPr lang="en-US" sz="735" dirty="0">
                <a:solidFill>
                  <a:srgbClr val="737B7B"/>
                </a:solidFill>
                <a:latin typeface="Geist Mono" pitchFamily="34" charset="0"/>
                <a:ea typeface="Geist Mono" pitchFamily="34" charset="-122"/>
                <a:cs typeface="Geist Mono" pitchFamily="34" charset="-120"/>
              </a:rPr>
              <a:t>model</a:t>
            </a:r>
            <a:endParaRPr lang="en-US" sz="735" dirty="0"/>
          </a:p>
        </p:txBody>
      </p:sp>
      <p:sp>
        <p:nvSpPr>
          <p:cNvPr id="53" name="Shape 50"/>
          <p:cNvSpPr/>
          <p:nvPr/>
        </p:nvSpPr>
        <p:spPr>
          <a:xfrm>
            <a:off x="2693860" y="3715655"/>
            <a:ext cx="7056882" cy="403717"/>
          </a:xfrm>
          <a:prstGeom prst="rect">
            <a:avLst/>
          </a:prstGeom>
          <a:solidFill>
            <a:srgbClr val="0F1212"/>
          </a:solidFill>
          <a:ln/>
        </p:spPr>
      </p:sp>
      <p:sp>
        <p:nvSpPr>
          <p:cNvPr id="54" name="Shape 51"/>
          <p:cNvSpPr/>
          <p:nvPr/>
        </p:nvSpPr>
        <p:spPr>
          <a:xfrm>
            <a:off x="2693860" y="4110038"/>
            <a:ext cx="7056882" cy="9525"/>
          </a:xfrm>
          <a:prstGeom prst="rect">
            <a:avLst/>
          </a:prstGeom>
          <a:solidFill>
            <a:srgbClr val="1E2323"/>
          </a:solidFill>
          <a:ln/>
        </p:spPr>
      </p:sp>
      <p:sp>
        <p:nvSpPr>
          <p:cNvPr id="55" name="Shape 52"/>
          <p:cNvSpPr/>
          <p:nvPr/>
        </p:nvSpPr>
        <p:spPr>
          <a:xfrm>
            <a:off x="2693860" y="3715655"/>
            <a:ext cx="18669" cy="403717"/>
          </a:xfrm>
          <a:prstGeom prst="rect">
            <a:avLst/>
          </a:prstGeom>
          <a:solidFill>
            <a:srgbClr val="515858"/>
          </a:solidFill>
          <a:ln/>
        </p:spPr>
      </p:sp>
      <p:sp>
        <p:nvSpPr>
          <p:cNvPr id="56" name="Text 53"/>
          <p:cNvSpPr/>
          <p:nvPr/>
        </p:nvSpPr>
        <p:spPr>
          <a:xfrm>
            <a:off x="2824543" y="3859173"/>
            <a:ext cx="1540193"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GOOGLE RUNTIME</a:t>
            </a:r>
            <a:endParaRPr lang="en-US" sz="662" dirty="0"/>
          </a:p>
        </p:txBody>
      </p:sp>
      <p:sp>
        <p:nvSpPr>
          <p:cNvPr id="57" name="Text 54"/>
          <p:cNvSpPr/>
          <p:nvPr/>
        </p:nvSpPr>
        <p:spPr>
          <a:xfrm>
            <a:off x="4355401" y="3833503"/>
            <a:ext cx="4743793" cy="196787"/>
          </a:xfrm>
          <a:prstGeom prst="rect">
            <a:avLst/>
          </a:prstGeom>
          <a:noFill/>
          <a:ln/>
        </p:spPr>
        <p:txBody>
          <a:bodyPr wrap="square" lIns="25400" tIns="25400" rIns="25400" bIns="25400" rtlCol="0" anchor="t">
            <a:normAutofit/>
          </a:bodyPr>
          <a:lstStyle/>
          <a:p>
            <a:pPr algn="l" indent="0" marL="0">
              <a:buNone/>
            </a:pPr>
            <a:r>
              <a:rPr lang="en-US" sz="956" dirty="0">
                <a:solidFill>
                  <a:srgbClr val="FBFBFA"/>
                </a:solidFill>
                <a:latin typeface="Geist Mono" pitchFamily="34" charset="0"/>
                <a:ea typeface="Geist Mono" pitchFamily="34" charset="-122"/>
                <a:cs typeface="Geist Mono" pitchFamily="34" charset="-120"/>
              </a:rPr>
              <a:t>Google ADK 1.35.1</a:t>
            </a:r>
            <a:endParaRPr lang="en-US" sz="956" dirty="0"/>
          </a:p>
        </p:txBody>
      </p:sp>
      <p:sp>
        <p:nvSpPr>
          <p:cNvPr id="58" name="Text 55"/>
          <p:cNvSpPr/>
          <p:nvPr/>
        </p:nvSpPr>
        <p:spPr>
          <a:xfrm>
            <a:off x="8798623" y="3852172"/>
            <a:ext cx="916305" cy="159449"/>
          </a:xfrm>
          <a:prstGeom prst="rect">
            <a:avLst/>
          </a:prstGeom>
          <a:noFill/>
          <a:ln/>
        </p:spPr>
        <p:txBody>
          <a:bodyPr wrap="square" lIns="25400" tIns="25400" rIns="25400" bIns="25400" rtlCol="0" anchor="t">
            <a:normAutofit/>
          </a:bodyPr>
          <a:lstStyle/>
          <a:p>
            <a:pPr algn="l" indent="0" marL="0">
              <a:buNone/>
            </a:pPr>
            <a:r>
              <a:rPr lang="en-US" sz="735" dirty="0">
                <a:solidFill>
                  <a:srgbClr val="737B7B"/>
                </a:solidFill>
                <a:latin typeface="Geist Mono" pitchFamily="34" charset="0"/>
                <a:ea typeface="Geist Mono" pitchFamily="34" charset="-122"/>
                <a:cs typeface="Geist Mono" pitchFamily="34" charset="-120"/>
              </a:rPr>
              <a:t>agent framework</a:t>
            </a:r>
            <a:endParaRPr lang="en-US" sz="735" dirty="0"/>
          </a:p>
        </p:txBody>
      </p:sp>
      <p:sp>
        <p:nvSpPr>
          <p:cNvPr id="59" name="Shape 56"/>
          <p:cNvSpPr/>
          <p:nvPr/>
        </p:nvSpPr>
        <p:spPr>
          <a:xfrm>
            <a:off x="2693860" y="4119372"/>
            <a:ext cx="7056882" cy="403717"/>
          </a:xfrm>
          <a:prstGeom prst="rect">
            <a:avLst/>
          </a:prstGeom>
          <a:solidFill>
            <a:srgbClr val="0F1212"/>
          </a:solidFill>
          <a:ln/>
        </p:spPr>
      </p:sp>
      <p:sp>
        <p:nvSpPr>
          <p:cNvPr id="60" name="Shape 57"/>
          <p:cNvSpPr/>
          <p:nvPr/>
        </p:nvSpPr>
        <p:spPr>
          <a:xfrm>
            <a:off x="2693860" y="4513755"/>
            <a:ext cx="7056882" cy="9525"/>
          </a:xfrm>
          <a:prstGeom prst="rect">
            <a:avLst/>
          </a:prstGeom>
          <a:solidFill>
            <a:srgbClr val="1E2323"/>
          </a:solidFill>
          <a:ln/>
        </p:spPr>
      </p:sp>
      <p:sp>
        <p:nvSpPr>
          <p:cNvPr id="61" name="Shape 58"/>
          <p:cNvSpPr/>
          <p:nvPr/>
        </p:nvSpPr>
        <p:spPr>
          <a:xfrm>
            <a:off x="2693860" y="4119372"/>
            <a:ext cx="18669" cy="403717"/>
          </a:xfrm>
          <a:prstGeom prst="rect">
            <a:avLst/>
          </a:prstGeom>
          <a:solidFill>
            <a:srgbClr val="515858"/>
          </a:solidFill>
          <a:ln/>
        </p:spPr>
      </p:sp>
      <p:sp>
        <p:nvSpPr>
          <p:cNvPr id="62" name="Text 59"/>
          <p:cNvSpPr/>
          <p:nvPr/>
        </p:nvSpPr>
        <p:spPr>
          <a:xfrm>
            <a:off x="2824543" y="4262890"/>
            <a:ext cx="1540193"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GOOGLE RUNTIME</a:t>
            </a:r>
            <a:endParaRPr lang="en-US" sz="662" dirty="0"/>
          </a:p>
        </p:txBody>
      </p:sp>
      <p:sp>
        <p:nvSpPr>
          <p:cNvPr id="63" name="Text 60"/>
          <p:cNvSpPr/>
          <p:nvPr/>
        </p:nvSpPr>
        <p:spPr>
          <a:xfrm>
            <a:off x="4355401" y="4237220"/>
            <a:ext cx="4990224" cy="196787"/>
          </a:xfrm>
          <a:prstGeom prst="rect">
            <a:avLst/>
          </a:prstGeom>
          <a:noFill/>
          <a:ln/>
        </p:spPr>
        <p:txBody>
          <a:bodyPr wrap="square" lIns="25400" tIns="25400" rIns="25400" bIns="25400" rtlCol="0" anchor="t">
            <a:normAutofit/>
          </a:bodyPr>
          <a:lstStyle/>
          <a:p>
            <a:pPr algn="l" indent="0" marL="0">
              <a:buNone/>
            </a:pPr>
            <a:r>
              <a:rPr lang="en-US" sz="956" dirty="0">
                <a:solidFill>
                  <a:srgbClr val="FBFBFA"/>
                </a:solidFill>
                <a:latin typeface="Geist Mono" pitchFamily="34" charset="0"/>
                <a:ea typeface="Geist Mono" pitchFamily="34" charset="-122"/>
                <a:cs typeface="Geist Mono" pitchFamily="34" charset="-120"/>
              </a:rPr>
              <a:t>Vertex AI global access</a:t>
            </a:r>
            <a:endParaRPr lang="en-US" sz="956" dirty="0"/>
          </a:p>
        </p:txBody>
      </p:sp>
      <p:sp>
        <p:nvSpPr>
          <p:cNvPr id="64" name="Text 61"/>
          <p:cNvSpPr/>
          <p:nvPr/>
        </p:nvSpPr>
        <p:spPr>
          <a:xfrm>
            <a:off x="9022651" y="4255889"/>
            <a:ext cx="692278" cy="159449"/>
          </a:xfrm>
          <a:prstGeom prst="rect">
            <a:avLst/>
          </a:prstGeom>
          <a:noFill/>
          <a:ln/>
        </p:spPr>
        <p:txBody>
          <a:bodyPr wrap="square" lIns="25400" tIns="25400" rIns="25400" bIns="25400" rtlCol="0" anchor="t">
            <a:normAutofit/>
          </a:bodyPr>
          <a:lstStyle/>
          <a:p>
            <a:pPr algn="l" indent="0" marL="0">
              <a:buNone/>
            </a:pPr>
            <a:r>
              <a:rPr lang="en-US" sz="735" dirty="0">
                <a:solidFill>
                  <a:srgbClr val="737B7B"/>
                </a:solidFill>
                <a:latin typeface="Geist Mono" pitchFamily="34" charset="0"/>
                <a:ea typeface="Geist Mono" pitchFamily="34" charset="-122"/>
                <a:cs typeface="Geist Mono" pitchFamily="34" charset="-120"/>
              </a:rPr>
              <a:t>access path</a:t>
            </a:r>
            <a:endParaRPr lang="en-US" sz="735" dirty="0"/>
          </a:p>
        </p:txBody>
      </p:sp>
      <p:sp>
        <p:nvSpPr>
          <p:cNvPr id="65" name="Shape 62"/>
          <p:cNvSpPr/>
          <p:nvPr/>
        </p:nvSpPr>
        <p:spPr>
          <a:xfrm>
            <a:off x="2693860" y="4523089"/>
            <a:ext cx="7056882" cy="403717"/>
          </a:xfrm>
          <a:prstGeom prst="rect">
            <a:avLst/>
          </a:prstGeom>
          <a:solidFill>
            <a:srgbClr val="0F1212"/>
          </a:solidFill>
          <a:ln/>
        </p:spPr>
      </p:sp>
      <p:sp>
        <p:nvSpPr>
          <p:cNvPr id="66" name="Shape 63"/>
          <p:cNvSpPr/>
          <p:nvPr/>
        </p:nvSpPr>
        <p:spPr>
          <a:xfrm>
            <a:off x="2693860" y="4917472"/>
            <a:ext cx="7056882" cy="9525"/>
          </a:xfrm>
          <a:prstGeom prst="rect">
            <a:avLst/>
          </a:prstGeom>
          <a:solidFill>
            <a:srgbClr val="1E2323"/>
          </a:solidFill>
          <a:ln/>
        </p:spPr>
      </p:sp>
      <p:sp>
        <p:nvSpPr>
          <p:cNvPr id="67" name="Shape 64"/>
          <p:cNvSpPr/>
          <p:nvPr/>
        </p:nvSpPr>
        <p:spPr>
          <a:xfrm>
            <a:off x="2693860" y="4523089"/>
            <a:ext cx="18669" cy="403717"/>
          </a:xfrm>
          <a:prstGeom prst="rect">
            <a:avLst/>
          </a:prstGeom>
          <a:solidFill>
            <a:srgbClr val="515858"/>
          </a:solidFill>
          <a:ln/>
        </p:spPr>
      </p:sp>
      <p:sp>
        <p:nvSpPr>
          <p:cNvPr id="68" name="Text 65"/>
          <p:cNvSpPr/>
          <p:nvPr/>
        </p:nvSpPr>
        <p:spPr>
          <a:xfrm>
            <a:off x="2824543" y="4666607"/>
            <a:ext cx="1540193"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GOOGLE RUNTIME</a:t>
            </a:r>
            <a:endParaRPr lang="en-US" sz="662" dirty="0"/>
          </a:p>
        </p:txBody>
      </p:sp>
      <p:sp>
        <p:nvSpPr>
          <p:cNvPr id="69" name="Text 66"/>
          <p:cNvSpPr/>
          <p:nvPr/>
        </p:nvSpPr>
        <p:spPr>
          <a:xfrm>
            <a:off x="4355401" y="4640937"/>
            <a:ext cx="5421478" cy="196787"/>
          </a:xfrm>
          <a:prstGeom prst="rect">
            <a:avLst/>
          </a:prstGeom>
          <a:noFill/>
          <a:ln/>
        </p:spPr>
        <p:txBody>
          <a:bodyPr wrap="square" lIns="25400" tIns="25400" rIns="25400" bIns="25400" rtlCol="0" anchor="t">
            <a:normAutofit/>
          </a:bodyPr>
          <a:lstStyle/>
          <a:p>
            <a:pPr algn="l" indent="0" marL="0">
              <a:buNone/>
            </a:pPr>
            <a:r>
              <a:rPr lang="en-US" sz="956" dirty="0">
                <a:solidFill>
                  <a:srgbClr val="FBFBFA"/>
                </a:solidFill>
                <a:latin typeface="Geist Mono" pitchFamily="34" charset="0"/>
                <a:ea typeface="Geist Mono" pitchFamily="34" charset="-122"/>
                <a:cs typeface="Geist Mono" pitchFamily="34" charset="-120"/>
              </a:rPr>
              <a:t>Cloud Run-hosted agent</a:t>
            </a:r>
            <a:endParaRPr lang="en-US" sz="956" dirty="0"/>
          </a:p>
        </p:txBody>
      </p:sp>
      <p:sp>
        <p:nvSpPr>
          <p:cNvPr id="70" name="Text 67"/>
          <p:cNvSpPr/>
          <p:nvPr/>
        </p:nvSpPr>
        <p:spPr>
          <a:xfrm>
            <a:off x="9414700" y="4659606"/>
            <a:ext cx="300228" cy="159448"/>
          </a:xfrm>
          <a:prstGeom prst="rect">
            <a:avLst/>
          </a:prstGeom>
          <a:noFill/>
          <a:ln/>
        </p:spPr>
        <p:txBody>
          <a:bodyPr wrap="square" lIns="25400" tIns="25400" rIns="25400" bIns="25400" rtlCol="0" anchor="t">
            <a:normAutofit/>
          </a:bodyPr>
          <a:lstStyle/>
          <a:p>
            <a:pPr algn="l" indent="0" marL="0">
              <a:buNone/>
            </a:pPr>
            <a:r>
              <a:rPr lang="en-US" sz="735" dirty="0">
                <a:solidFill>
                  <a:srgbClr val="737B7B"/>
                </a:solidFill>
                <a:latin typeface="Geist Mono" pitchFamily="34" charset="0"/>
                <a:ea typeface="Geist Mono" pitchFamily="34" charset="-122"/>
                <a:cs typeface="Geist Mono" pitchFamily="34" charset="-120"/>
              </a:rPr>
              <a:t>host</a:t>
            </a:r>
            <a:endParaRPr lang="en-US" sz="735" dirty="0"/>
          </a:p>
        </p:txBody>
      </p:sp>
      <p:sp>
        <p:nvSpPr>
          <p:cNvPr id="71" name="Shape 68"/>
          <p:cNvSpPr/>
          <p:nvPr/>
        </p:nvSpPr>
        <p:spPr>
          <a:xfrm>
            <a:off x="6222302" y="4926806"/>
            <a:ext cx="28004" cy="242697"/>
          </a:xfrm>
          <a:prstGeom prst="rect">
            <a:avLst/>
          </a:prstGeom>
          <a:solidFill>
            <a:srgbClr val="FBFBFA"/>
          </a:solidFill>
          <a:ln/>
        </p:spPr>
      </p:sp>
      <p:sp>
        <p:nvSpPr>
          <p:cNvPr id="72" name="Shape 69"/>
          <p:cNvSpPr/>
          <p:nvPr/>
        </p:nvSpPr>
        <p:spPr>
          <a:xfrm>
            <a:off x="2693860" y="5169503"/>
            <a:ext cx="7056882" cy="1381506"/>
          </a:xfrm>
          <a:prstGeom prst="rect">
            <a:avLst/>
          </a:prstGeom>
          <a:solidFill>
            <a:srgbClr val="1E2323"/>
          </a:solidFill>
          <a:ln w="18669">
            <a:solidFill>
              <a:srgbClr val="FBFBFA"/>
            </a:solidFill>
            <a:prstDash val="solid"/>
          </a:ln>
          <a:effectLst>
            <a:outerShdw sx="100000" sy="100000" kx="0" ky="0" algn="bl" rotWithShape="0" blurRad="228600" dist="76200" dir="5400000">
              <a:srgbClr val="000000">
                <a:alpha val="55000"/>
              </a:srgbClr>
            </a:outerShdw>
          </a:effectLst>
        </p:spPr>
      </p:sp>
      <p:sp>
        <p:nvSpPr>
          <p:cNvPr id="73" name="Text 70"/>
          <p:cNvSpPr/>
          <p:nvPr/>
        </p:nvSpPr>
        <p:spPr>
          <a:xfrm>
            <a:off x="2871216" y="5356193"/>
            <a:ext cx="3115360" cy="159448"/>
          </a:xfrm>
          <a:prstGeom prst="rect">
            <a:avLst/>
          </a:prstGeom>
          <a:noFill/>
          <a:ln/>
        </p:spPr>
        <p:txBody>
          <a:bodyPr wrap="square" lIns="25400" tIns="25400" rIns="25400" bIns="25400" rtlCol="0" anchor="t">
            <a:normAutofit/>
          </a:bodyPr>
          <a:lstStyle/>
          <a:p>
            <a:pPr algn="l" indent="0" marL="0">
              <a:buNone/>
            </a:pPr>
            <a:r>
              <a:rPr lang="en-US" sz="735" spc="103" kern="0" dirty="0">
                <a:solidFill>
                  <a:srgbClr val="FBFBFA"/>
                </a:solidFill>
                <a:latin typeface="Geist Mono" pitchFamily="34" charset="0"/>
                <a:ea typeface="Geist Mono" pitchFamily="34" charset="-122"/>
                <a:cs typeface="Geist Mono" pitchFamily="34" charset="-120"/>
              </a:rPr>
              <a:t>INTERLOCK BOUNDARY · MCP PROXY, TRANSPORT</a:t>
            </a:r>
            <a:endParaRPr lang="en-US" sz="735" dirty="0"/>
          </a:p>
        </p:txBody>
      </p:sp>
      <p:sp>
        <p:nvSpPr>
          <p:cNvPr id="74" name="Shape 71"/>
          <p:cNvSpPr/>
          <p:nvPr/>
        </p:nvSpPr>
        <p:spPr>
          <a:xfrm>
            <a:off x="8397240" y="5318856"/>
            <a:ext cx="1176147" cy="196024"/>
          </a:xfrm>
          <a:prstGeom prst="rect">
            <a:avLst/>
          </a:prstGeom>
          <a:ln w="9335">
            <a:solidFill>
              <a:srgbClr val="65C281"/>
            </a:solidFill>
            <a:prstDash val="solid"/>
          </a:ln>
        </p:spPr>
      </p:sp>
      <p:sp>
        <p:nvSpPr>
          <p:cNvPr id="75" name="Text 72"/>
          <p:cNvSpPr/>
          <p:nvPr/>
        </p:nvSpPr>
        <p:spPr>
          <a:xfrm>
            <a:off x="8481250" y="5356194"/>
            <a:ext cx="1084326" cy="159448"/>
          </a:xfrm>
          <a:prstGeom prst="rect">
            <a:avLst/>
          </a:prstGeom>
          <a:noFill/>
          <a:ln/>
        </p:spPr>
        <p:txBody>
          <a:bodyPr wrap="square" lIns="25400" tIns="25400" rIns="25400" bIns="25400" rtlCol="0" anchor="t">
            <a:normAutofit/>
          </a:bodyPr>
          <a:lstStyle/>
          <a:p>
            <a:pPr algn="l" indent="0" marL="0">
              <a:buNone/>
            </a:pPr>
            <a:r>
              <a:rPr lang="en-US" sz="735" spc="88" kern="0" dirty="0">
                <a:solidFill>
                  <a:srgbClr val="65C281"/>
                </a:solidFill>
                <a:latin typeface="Geist Mono" pitchFamily="34" charset="0"/>
                <a:ea typeface="Geist Mono" pitchFamily="34" charset="-122"/>
                <a:cs typeface="Geist Mono" pitchFamily="34" charset="-120"/>
              </a:rPr>
              <a:t>ALLOW + RECEIPT</a:t>
            </a:r>
            <a:endParaRPr lang="en-US" sz="735" dirty="0"/>
          </a:p>
        </p:txBody>
      </p:sp>
      <p:sp>
        <p:nvSpPr>
          <p:cNvPr id="76" name="Text 73"/>
          <p:cNvSpPr/>
          <p:nvPr/>
        </p:nvSpPr>
        <p:spPr>
          <a:xfrm>
            <a:off x="2871216" y="5608225"/>
            <a:ext cx="5711484" cy="417022"/>
          </a:xfrm>
          <a:prstGeom prst="rect">
            <a:avLst/>
          </a:prstGeom>
          <a:noFill/>
          <a:ln/>
        </p:spPr>
        <p:txBody>
          <a:bodyPr wrap="square" lIns="25400" tIns="25400" rIns="25400" bIns="25400" rtlCol="0" anchor="t">
            <a:normAutofit/>
          </a:bodyPr>
          <a:lstStyle/>
          <a:p>
            <a:pPr algn="l" indent="0" marL="0">
              <a:lnSpc>
                <a:spcPct val="112778"/>
              </a:lnSpc>
              <a:buNone/>
            </a:pPr>
            <a:r>
              <a:rPr lang="en-US" sz="1029" dirty="0">
                <a:solidFill>
                  <a:srgbClr val="EEF0F0"/>
                </a:solidFill>
                <a:latin typeface="Geist" pitchFamily="34" charset="0"/>
                <a:ea typeface="Geist" pitchFamily="34" charset="-122"/>
                <a:cs typeface="Geist" pitchFamily="34" charset="-120"/>
              </a:rPr>
              <a:t>Every call to the protected target crossed Interlock. The decision and its receipt are recorded at that crossing.</a:t>
            </a:r>
            <a:endParaRPr lang="en-US" sz="1029" dirty="0"/>
          </a:p>
        </p:txBody>
      </p:sp>
      <p:sp>
        <p:nvSpPr>
          <p:cNvPr id="77" name="Shape 74"/>
          <p:cNvSpPr/>
          <p:nvPr/>
        </p:nvSpPr>
        <p:spPr>
          <a:xfrm>
            <a:off x="2871216" y="6080492"/>
            <a:ext cx="6702171" cy="9525"/>
          </a:xfrm>
          <a:prstGeom prst="rect">
            <a:avLst/>
          </a:prstGeom>
          <a:solidFill>
            <a:srgbClr val="515858"/>
          </a:solidFill>
          <a:ln/>
        </p:spPr>
      </p:sp>
      <p:sp>
        <p:nvSpPr>
          <p:cNvPr id="78" name="Text 75"/>
          <p:cNvSpPr/>
          <p:nvPr/>
        </p:nvSpPr>
        <p:spPr>
          <a:xfrm>
            <a:off x="2871216" y="6192506"/>
            <a:ext cx="345077" cy="159448"/>
          </a:xfrm>
          <a:prstGeom prst="rect">
            <a:avLst/>
          </a:prstGeom>
          <a:noFill/>
          <a:ln/>
        </p:spPr>
        <p:txBody>
          <a:bodyPr wrap="square" lIns="25400" tIns="25400" rIns="25400" bIns="25400" rtlCol="0" anchor="t">
            <a:normAutofit/>
          </a:bodyPr>
          <a:lstStyle/>
          <a:p>
            <a:pPr algn="l" indent="0" marL="0">
              <a:buNone/>
            </a:pPr>
            <a:r>
              <a:rPr lang="en-US" sz="735" spc="88" kern="0" dirty="0">
                <a:solidFill>
                  <a:srgbClr val="737B7B"/>
                </a:solidFill>
                <a:latin typeface="Geist Mono" pitchFamily="34" charset="0"/>
                <a:ea typeface="Geist Mono" pitchFamily="34" charset="-122"/>
                <a:cs typeface="Geist Mono" pitchFamily="34" charset="-120"/>
              </a:rPr>
              <a:t>GATE</a:t>
            </a:r>
            <a:endParaRPr lang="en-US" sz="735" dirty="0"/>
          </a:p>
        </p:txBody>
      </p:sp>
      <p:sp>
        <p:nvSpPr>
          <p:cNvPr id="79" name="Shape 76"/>
          <p:cNvSpPr/>
          <p:nvPr/>
        </p:nvSpPr>
        <p:spPr>
          <a:xfrm>
            <a:off x="3252107" y="6234511"/>
            <a:ext cx="168021" cy="37338"/>
          </a:xfrm>
          <a:prstGeom prst="rect">
            <a:avLst/>
          </a:prstGeom>
          <a:solidFill>
            <a:srgbClr val="FBFBFA"/>
          </a:solidFill>
          <a:ln/>
        </p:spPr>
      </p:sp>
      <p:sp>
        <p:nvSpPr>
          <p:cNvPr id="80" name="Shape 77"/>
          <p:cNvSpPr/>
          <p:nvPr/>
        </p:nvSpPr>
        <p:spPr>
          <a:xfrm>
            <a:off x="3634821" y="6234511"/>
            <a:ext cx="168021" cy="37338"/>
          </a:xfrm>
          <a:prstGeom prst="rect">
            <a:avLst/>
          </a:prstGeom>
          <a:solidFill>
            <a:srgbClr val="FBFBFA"/>
          </a:solidFill>
          <a:ln/>
        </p:spPr>
      </p:sp>
      <p:sp>
        <p:nvSpPr>
          <p:cNvPr id="81" name="Text 78"/>
          <p:cNvSpPr/>
          <p:nvPr/>
        </p:nvSpPr>
        <p:spPr>
          <a:xfrm>
            <a:off x="3914856" y="6173837"/>
            <a:ext cx="1761997" cy="196787"/>
          </a:xfrm>
          <a:prstGeom prst="rect">
            <a:avLst/>
          </a:prstGeom>
          <a:noFill/>
          <a:ln/>
        </p:spPr>
        <p:txBody>
          <a:bodyPr wrap="square" lIns="25400" tIns="25400" rIns="25400" bIns="25400" rtlCol="0" anchor="t">
            <a:normAutofit/>
          </a:bodyPr>
          <a:lstStyle/>
          <a:p>
            <a:pPr algn="l" indent="0" marL="0">
              <a:buNone/>
            </a:pPr>
            <a:r>
              <a:rPr lang="en-US" sz="956" dirty="0">
                <a:solidFill>
                  <a:srgbClr val="FBFBFA"/>
                </a:solidFill>
                <a:latin typeface="Geist Mono" pitchFamily="34" charset="0"/>
                <a:ea typeface="Geist Mono" pitchFamily="34" charset="-122"/>
                <a:cs typeface="Geist Mono" pitchFamily="34" charset="-120"/>
              </a:rPr>
              <a:t>sha256:9d0fa493…a05234</a:t>
            </a:r>
            <a:endParaRPr lang="en-US" sz="956" dirty="0"/>
          </a:p>
        </p:txBody>
      </p:sp>
      <p:sp>
        <p:nvSpPr>
          <p:cNvPr id="82" name="Shape 79"/>
          <p:cNvSpPr/>
          <p:nvPr/>
        </p:nvSpPr>
        <p:spPr>
          <a:xfrm>
            <a:off x="6222302" y="6551009"/>
            <a:ext cx="28004" cy="242697"/>
          </a:xfrm>
          <a:prstGeom prst="rect">
            <a:avLst/>
          </a:prstGeom>
          <a:solidFill>
            <a:srgbClr val="FBFBFA"/>
          </a:solidFill>
          <a:ln/>
        </p:spPr>
      </p:sp>
      <p:sp>
        <p:nvSpPr>
          <p:cNvPr id="83" name="Shape 80"/>
          <p:cNvSpPr/>
          <p:nvPr/>
        </p:nvSpPr>
        <p:spPr>
          <a:xfrm>
            <a:off x="2693860" y="6793706"/>
            <a:ext cx="7056882" cy="756095"/>
          </a:xfrm>
          <a:prstGeom prst="rect">
            <a:avLst/>
          </a:prstGeom>
          <a:solidFill>
            <a:srgbClr val="0F1212"/>
          </a:solidFill>
          <a:ln/>
          <a:effectLst>
            <a:outerShdw sx="100000" sy="100000" kx="0" ky="0" algn="bl" rotWithShape="0" blurRad="19050" dist="9525" dir="5400000">
              <a:srgbClr val="000000">
                <a:alpha val="50000"/>
              </a:srgbClr>
            </a:outerShdw>
          </a:effectLst>
        </p:spPr>
      </p:sp>
      <p:sp>
        <p:nvSpPr>
          <p:cNvPr id="84" name="Shape 81"/>
          <p:cNvSpPr/>
          <p:nvPr/>
        </p:nvSpPr>
        <p:spPr>
          <a:xfrm>
            <a:off x="2693860" y="7540466"/>
            <a:ext cx="7056882" cy="9525"/>
          </a:xfrm>
          <a:prstGeom prst="rect">
            <a:avLst/>
          </a:prstGeom>
          <a:solidFill>
            <a:srgbClr val="343A3A"/>
          </a:solidFill>
          <a:ln/>
        </p:spPr>
      </p:sp>
      <p:sp>
        <p:nvSpPr>
          <p:cNvPr id="85" name="Shape 82"/>
          <p:cNvSpPr/>
          <p:nvPr/>
        </p:nvSpPr>
        <p:spPr>
          <a:xfrm>
            <a:off x="2693860" y="6793706"/>
            <a:ext cx="7056882" cy="9525"/>
          </a:xfrm>
          <a:prstGeom prst="rect">
            <a:avLst/>
          </a:prstGeom>
          <a:solidFill>
            <a:srgbClr val="343A3A"/>
          </a:solidFill>
          <a:ln/>
        </p:spPr>
      </p:sp>
      <p:sp>
        <p:nvSpPr>
          <p:cNvPr id="86" name="Shape 83"/>
          <p:cNvSpPr/>
          <p:nvPr/>
        </p:nvSpPr>
        <p:spPr>
          <a:xfrm>
            <a:off x="2693860" y="6793706"/>
            <a:ext cx="28004" cy="756095"/>
          </a:xfrm>
          <a:prstGeom prst="rect">
            <a:avLst/>
          </a:prstGeom>
          <a:solidFill>
            <a:srgbClr val="AB8BE3"/>
          </a:solidFill>
          <a:ln/>
        </p:spPr>
      </p:sp>
      <p:sp>
        <p:nvSpPr>
          <p:cNvPr id="87" name="Shape 84"/>
          <p:cNvSpPr/>
          <p:nvPr/>
        </p:nvSpPr>
        <p:spPr>
          <a:xfrm>
            <a:off x="9741408" y="6793706"/>
            <a:ext cx="9525" cy="756095"/>
          </a:xfrm>
          <a:prstGeom prst="rect">
            <a:avLst/>
          </a:prstGeom>
          <a:solidFill>
            <a:srgbClr val="343A3A"/>
          </a:solidFill>
          <a:ln/>
        </p:spPr>
      </p:sp>
      <p:sp>
        <p:nvSpPr>
          <p:cNvPr id="88" name="Text 85"/>
          <p:cNvSpPr/>
          <p:nvPr/>
        </p:nvSpPr>
        <p:spPr>
          <a:xfrm>
            <a:off x="2861881" y="7118080"/>
            <a:ext cx="1540193"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PROTECTED TARGET</a:t>
            </a:r>
            <a:endParaRPr lang="en-US" sz="662" dirty="0"/>
          </a:p>
        </p:txBody>
      </p:sp>
      <p:sp>
        <p:nvSpPr>
          <p:cNvPr id="89" name="Text 86"/>
          <p:cNvSpPr/>
          <p:nvPr/>
        </p:nvSpPr>
        <p:spPr>
          <a:xfrm>
            <a:off x="4392739" y="7092410"/>
            <a:ext cx="4536910" cy="196787"/>
          </a:xfrm>
          <a:prstGeom prst="rect">
            <a:avLst/>
          </a:prstGeom>
          <a:noFill/>
          <a:ln/>
        </p:spPr>
        <p:txBody>
          <a:bodyPr wrap="square" lIns="25400" tIns="25400" rIns="25400" bIns="25400" rtlCol="0" anchor="t">
            <a:normAutofit/>
          </a:bodyPr>
          <a:lstStyle/>
          <a:p>
            <a:pPr algn="l" indent="0" marL="0">
              <a:buNone/>
            </a:pPr>
            <a:r>
              <a:rPr lang="en-US" sz="956" dirty="0">
                <a:solidFill>
                  <a:srgbClr val="FBFBFA"/>
                </a:solidFill>
                <a:latin typeface="Geist Mono" pitchFamily="34" charset="0"/>
                <a:ea typeface="Geist Mono" pitchFamily="34" charset="-122"/>
                <a:cs typeface="Geist Mono" pitchFamily="34" charset="-120"/>
              </a:rPr>
              <a:t>protected target mutation</a:t>
            </a:r>
            <a:endParaRPr lang="en-US" sz="956" dirty="0"/>
          </a:p>
        </p:txBody>
      </p:sp>
      <p:sp>
        <p:nvSpPr>
          <p:cNvPr id="90" name="Shape 87"/>
          <p:cNvSpPr/>
          <p:nvPr/>
        </p:nvSpPr>
        <p:spPr>
          <a:xfrm>
            <a:off x="8647886" y="7042967"/>
            <a:ext cx="953505" cy="257574"/>
          </a:xfrm>
          <a:prstGeom prst="roundRect">
            <a:avLst>
              <a:gd name="adj" fmla="val 7248"/>
            </a:avLst>
          </a:prstGeom>
          <a:solidFill>
            <a:srgbClr val="A889E0">
              <a:alpha val="16000"/>
            </a:srgbClr>
          </a:solidFill>
          <a:ln w="28004">
            <a:solidFill>
              <a:srgbClr val="AC8AE3">
                <a:alpha val="60000"/>
              </a:srgbClr>
            </a:solidFill>
            <a:prstDash val="solid"/>
          </a:ln>
        </p:spPr>
      </p:sp>
      <p:sp>
        <p:nvSpPr>
          <p:cNvPr id="91" name="Shape 88"/>
          <p:cNvSpPr/>
          <p:nvPr/>
        </p:nvSpPr>
        <p:spPr>
          <a:xfrm>
            <a:off x="8713227" y="7103860"/>
            <a:ext cx="135788" cy="135788"/>
          </a:xfrm>
          <a:prstGeom prst="roundRect">
            <a:avLst>
              <a:gd name="adj" fmla="val 13749"/>
            </a:avLst>
          </a:prstGeom>
          <a:solidFill>
            <a:srgbClr val="A889E0">
              <a:alpha val="16000"/>
            </a:srgbClr>
          </a:solidFill>
          <a:ln/>
        </p:spPr>
      </p:sp>
      <p:sp>
        <p:nvSpPr>
          <p:cNvPr id="92" name="Text 89"/>
          <p:cNvSpPr/>
          <p:nvPr/>
        </p:nvSpPr>
        <p:spPr>
          <a:xfrm>
            <a:off x="8675127" y="7103860"/>
            <a:ext cx="211988" cy="173888"/>
          </a:xfrm>
          <a:prstGeom prst="rect">
            <a:avLst/>
          </a:prstGeom>
          <a:noFill/>
          <a:ln/>
        </p:spPr>
        <p:txBody>
          <a:bodyPr wrap="none" lIns="25400" tIns="25400" rIns="25400" bIns="25400" rtlCol="0" anchor="ctr">
            <a:normAutofit/>
          </a:bodyPr>
          <a:lstStyle/>
          <a:p>
            <a:pPr algn="ctr" indent="0" marL="0">
              <a:lnSpc>
                <a:spcPct val="79063"/>
              </a:lnSpc>
              <a:buNone/>
            </a:pPr>
            <a:r>
              <a:rPr lang="en-US" sz="930" spc="81" kern="0" dirty="0">
                <a:solidFill>
                  <a:srgbClr val="AB8BE3"/>
                </a:solidFill>
                <a:latin typeface="Geist Mono" pitchFamily="34" charset="0"/>
                <a:ea typeface="Geist Mono" pitchFamily="34" charset="-122"/>
                <a:cs typeface="Geist Mono" pitchFamily="34" charset="-120"/>
              </a:rPr>
              <a:t>⦿</a:t>
            </a:r>
            <a:endParaRPr lang="en-US" sz="930" dirty="0"/>
          </a:p>
        </p:txBody>
      </p:sp>
      <p:sp>
        <p:nvSpPr>
          <p:cNvPr id="93" name="Text 90"/>
          <p:cNvSpPr/>
          <p:nvPr/>
        </p:nvSpPr>
        <p:spPr>
          <a:xfrm>
            <a:off x="8923691" y="7103641"/>
            <a:ext cx="651220" cy="168783"/>
          </a:xfrm>
          <a:prstGeom prst="rect">
            <a:avLst/>
          </a:prstGeom>
          <a:noFill/>
          <a:ln/>
        </p:spPr>
        <p:txBody>
          <a:bodyPr wrap="none" lIns="0" tIns="0" rIns="0" bIns="0" rtlCol="0" anchor="t">
            <a:normAutofit/>
          </a:bodyPr>
          <a:lstStyle/>
          <a:p>
            <a:pPr algn="l" indent="0" marL="0">
              <a:lnSpc>
                <a:spcPct val="125714"/>
              </a:lnSpc>
              <a:buNone/>
            </a:pPr>
            <a:r>
              <a:rPr lang="en-US" sz="808" spc="81" kern="0" dirty="0">
                <a:solidFill>
                  <a:srgbClr val="AB8BE3"/>
                </a:solidFill>
                <a:latin typeface="Geist Mono" pitchFamily="34" charset="0"/>
                <a:ea typeface="Geist Mono" pitchFamily="34" charset="-122"/>
                <a:cs typeface="Geist Mono" pitchFamily="34" charset="-120"/>
              </a:rPr>
              <a:t>EXECUTED</a:t>
            </a:r>
            <a:endParaRPr lang="en-US" sz="808" dirty="0"/>
          </a:p>
        </p:txBody>
      </p:sp>
      <p:sp>
        <p:nvSpPr>
          <p:cNvPr id="94" name="Shape 91"/>
          <p:cNvSpPr/>
          <p:nvPr/>
        </p:nvSpPr>
        <p:spPr>
          <a:xfrm>
            <a:off x="2693860" y="7643146"/>
            <a:ext cx="7056882" cy="756095"/>
          </a:xfrm>
          <a:prstGeom prst="rect">
            <a:avLst/>
          </a:prstGeom>
          <a:solidFill>
            <a:srgbClr val="0F1212"/>
          </a:solidFill>
          <a:ln/>
          <a:effectLst>
            <a:outerShdw sx="100000" sy="100000" kx="0" ky="0" algn="bl" rotWithShape="0" blurRad="19050" dist="9525" dir="5400000">
              <a:srgbClr val="000000">
                <a:alpha val="50000"/>
              </a:srgbClr>
            </a:outerShdw>
          </a:effectLst>
        </p:spPr>
      </p:sp>
      <p:sp>
        <p:nvSpPr>
          <p:cNvPr id="95" name="Shape 92"/>
          <p:cNvSpPr/>
          <p:nvPr/>
        </p:nvSpPr>
        <p:spPr>
          <a:xfrm>
            <a:off x="2693860" y="8389906"/>
            <a:ext cx="7056882" cy="9525"/>
          </a:xfrm>
          <a:prstGeom prst="rect">
            <a:avLst/>
          </a:prstGeom>
          <a:solidFill>
            <a:srgbClr val="343A3A"/>
          </a:solidFill>
          <a:ln/>
        </p:spPr>
      </p:sp>
      <p:sp>
        <p:nvSpPr>
          <p:cNvPr id="96" name="Shape 93"/>
          <p:cNvSpPr/>
          <p:nvPr/>
        </p:nvSpPr>
        <p:spPr>
          <a:xfrm>
            <a:off x="2693860" y="7643146"/>
            <a:ext cx="7056882" cy="9525"/>
          </a:xfrm>
          <a:prstGeom prst="rect">
            <a:avLst/>
          </a:prstGeom>
          <a:solidFill>
            <a:srgbClr val="343A3A"/>
          </a:solidFill>
          <a:ln/>
        </p:spPr>
      </p:sp>
      <p:sp>
        <p:nvSpPr>
          <p:cNvPr id="97" name="Shape 94"/>
          <p:cNvSpPr/>
          <p:nvPr/>
        </p:nvSpPr>
        <p:spPr>
          <a:xfrm>
            <a:off x="2693860" y="7643146"/>
            <a:ext cx="28004" cy="756095"/>
          </a:xfrm>
          <a:prstGeom prst="rect">
            <a:avLst/>
          </a:prstGeom>
          <a:solidFill>
            <a:srgbClr val="64C2CC"/>
          </a:solidFill>
          <a:ln/>
        </p:spPr>
      </p:sp>
      <p:sp>
        <p:nvSpPr>
          <p:cNvPr id="98" name="Shape 95"/>
          <p:cNvSpPr/>
          <p:nvPr/>
        </p:nvSpPr>
        <p:spPr>
          <a:xfrm>
            <a:off x="9741408" y="7643146"/>
            <a:ext cx="9525" cy="756095"/>
          </a:xfrm>
          <a:prstGeom prst="rect">
            <a:avLst/>
          </a:prstGeom>
          <a:solidFill>
            <a:srgbClr val="343A3A"/>
          </a:solidFill>
          <a:ln/>
        </p:spPr>
      </p:sp>
      <p:sp>
        <p:nvSpPr>
          <p:cNvPr id="99" name="Text 96"/>
          <p:cNvSpPr/>
          <p:nvPr/>
        </p:nvSpPr>
        <p:spPr>
          <a:xfrm>
            <a:off x="2861881" y="7967519"/>
            <a:ext cx="1540193"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INDEPENDENT OBSERVER</a:t>
            </a:r>
            <a:endParaRPr lang="en-US" sz="662" dirty="0"/>
          </a:p>
        </p:txBody>
      </p:sp>
      <p:sp>
        <p:nvSpPr>
          <p:cNvPr id="100" name="Text 97"/>
          <p:cNvSpPr/>
          <p:nvPr/>
        </p:nvSpPr>
        <p:spPr>
          <a:xfrm>
            <a:off x="4392739" y="7941850"/>
            <a:ext cx="4567714" cy="196786"/>
          </a:xfrm>
          <a:prstGeom prst="rect">
            <a:avLst/>
          </a:prstGeom>
          <a:noFill/>
          <a:ln/>
        </p:spPr>
        <p:txBody>
          <a:bodyPr wrap="square" lIns="25400" tIns="25400" rIns="25400" bIns="25400" rtlCol="0" anchor="t">
            <a:normAutofit/>
          </a:bodyPr>
          <a:lstStyle/>
          <a:p>
            <a:pPr algn="l" indent="0" marL="0">
              <a:buNone/>
            </a:pPr>
            <a:r>
              <a:rPr lang="en-US" sz="956" dirty="0">
                <a:solidFill>
                  <a:srgbClr val="FBFBFA"/>
                </a:solidFill>
                <a:latin typeface="Geist Mono" pitchFamily="34" charset="0"/>
                <a:ea typeface="Geist Mono" pitchFamily="34" charset="-122"/>
                <a:cs typeface="Geist Mono" pitchFamily="34" charset="-120"/>
              </a:rPr>
              <a:t>independently authenticated read-back</a:t>
            </a:r>
            <a:endParaRPr lang="en-US" sz="956" dirty="0"/>
          </a:p>
        </p:txBody>
      </p:sp>
      <p:sp>
        <p:nvSpPr>
          <p:cNvPr id="101" name="Shape 98"/>
          <p:cNvSpPr/>
          <p:nvPr/>
        </p:nvSpPr>
        <p:spPr>
          <a:xfrm>
            <a:off x="8675889" y="7906408"/>
            <a:ext cx="925501" cy="229570"/>
          </a:xfrm>
          <a:prstGeom prst="roundRect">
            <a:avLst>
              <a:gd name="adj" fmla="val 8132"/>
            </a:avLst>
          </a:prstGeom>
          <a:solidFill>
            <a:srgbClr val="64C1CD">
              <a:alpha val="16000"/>
            </a:srgbClr>
          </a:solidFill>
          <a:ln w="14002">
            <a:solidFill>
              <a:srgbClr val="64C1CB">
                <a:alpha val="60000"/>
              </a:srgbClr>
            </a:solidFill>
            <a:prstDash val="dot"/>
          </a:ln>
        </p:spPr>
      </p:sp>
      <p:sp>
        <p:nvSpPr>
          <p:cNvPr id="102" name="Shape 99"/>
          <p:cNvSpPr/>
          <p:nvPr/>
        </p:nvSpPr>
        <p:spPr>
          <a:xfrm>
            <a:off x="8727229" y="7953299"/>
            <a:ext cx="135788" cy="135788"/>
          </a:xfrm>
          <a:prstGeom prst="roundRect">
            <a:avLst>
              <a:gd name="adj" fmla="val 13749"/>
            </a:avLst>
          </a:prstGeom>
          <a:solidFill>
            <a:srgbClr val="64C1CD">
              <a:alpha val="16000"/>
            </a:srgbClr>
          </a:solidFill>
          <a:ln/>
        </p:spPr>
      </p:sp>
      <p:sp>
        <p:nvSpPr>
          <p:cNvPr id="103" name="Text 100"/>
          <p:cNvSpPr/>
          <p:nvPr/>
        </p:nvSpPr>
        <p:spPr>
          <a:xfrm>
            <a:off x="8689129" y="7953299"/>
            <a:ext cx="211988" cy="173888"/>
          </a:xfrm>
          <a:prstGeom prst="rect">
            <a:avLst/>
          </a:prstGeom>
          <a:noFill/>
          <a:ln/>
        </p:spPr>
        <p:txBody>
          <a:bodyPr wrap="none" lIns="25400" tIns="25400" rIns="25400" bIns="25400" rtlCol="0" anchor="ctr">
            <a:normAutofit/>
          </a:bodyPr>
          <a:lstStyle/>
          <a:p>
            <a:pPr algn="ctr" indent="0" marL="0">
              <a:lnSpc>
                <a:spcPct val="79063"/>
              </a:lnSpc>
              <a:buNone/>
            </a:pPr>
            <a:r>
              <a:rPr lang="en-US" sz="930" spc="81" kern="0" dirty="0">
                <a:solidFill>
                  <a:srgbClr val="64C2CC"/>
                </a:solidFill>
                <a:latin typeface="Geist Mono" pitchFamily="34" charset="0"/>
                <a:ea typeface="Geist Mono" pitchFamily="34" charset="-122"/>
                <a:cs typeface="Geist Mono" pitchFamily="34" charset="-120"/>
              </a:rPr>
              <a:t>◎</a:t>
            </a:r>
            <a:endParaRPr lang="en-US" sz="930" dirty="0"/>
          </a:p>
        </p:txBody>
      </p:sp>
      <p:sp>
        <p:nvSpPr>
          <p:cNvPr id="104" name="Text 101"/>
          <p:cNvSpPr/>
          <p:nvPr/>
        </p:nvSpPr>
        <p:spPr>
          <a:xfrm>
            <a:off x="8937693" y="7953080"/>
            <a:ext cx="651220" cy="168783"/>
          </a:xfrm>
          <a:prstGeom prst="rect">
            <a:avLst/>
          </a:prstGeom>
          <a:noFill/>
          <a:ln/>
        </p:spPr>
        <p:txBody>
          <a:bodyPr wrap="none" lIns="0" tIns="0" rIns="0" bIns="0" rtlCol="0" anchor="t">
            <a:normAutofit/>
          </a:bodyPr>
          <a:lstStyle/>
          <a:p>
            <a:pPr algn="l" indent="0" marL="0">
              <a:lnSpc>
                <a:spcPct val="125714"/>
              </a:lnSpc>
              <a:buNone/>
            </a:pPr>
            <a:r>
              <a:rPr lang="en-US" sz="808" spc="81" kern="0" dirty="0">
                <a:solidFill>
                  <a:srgbClr val="64C2CC"/>
                </a:solidFill>
                <a:latin typeface="Geist Mono" pitchFamily="34" charset="0"/>
                <a:ea typeface="Geist Mono" pitchFamily="34" charset="-122"/>
                <a:cs typeface="Geist Mono" pitchFamily="34" charset="-120"/>
              </a:rPr>
              <a:t>OBSERVED</a:t>
            </a:r>
            <a:endParaRPr lang="en-US" sz="808" dirty="0"/>
          </a:p>
        </p:txBody>
      </p:sp>
      <p:sp>
        <p:nvSpPr>
          <p:cNvPr id="105" name="Text 102"/>
          <p:cNvSpPr/>
          <p:nvPr/>
        </p:nvSpPr>
        <p:spPr>
          <a:xfrm>
            <a:off x="2693860" y="8634936"/>
            <a:ext cx="862559"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CLOUD LOGGING</a:t>
            </a:r>
            <a:endParaRPr lang="en-US" sz="662" dirty="0"/>
          </a:p>
        </p:txBody>
      </p:sp>
      <p:sp>
        <p:nvSpPr>
          <p:cNvPr id="106" name="Text 103"/>
          <p:cNvSpPr/>
          <p:nvPr/>
        </p:nvSpPr>
        <p:spPr>
          <a:xfrm>
            <a:off x="3610902" y="8623268"/>
            <a:ext cx="1355369" cy="168783"/>
          </a:xfrm>
          <a:prstGeom prst="rect">
            <a:avLst/>
          </a:prstGeom>
          <a:noFill/>
          <a:ln/>
        </p:spPr>
        <p:txBody>
          <a:bodyPr wrap="square" lIns="25400" tIns="25400" rIns="25400" bIns="25400" rtlCol="0" anchor="t">
            <a:normAutofit/>
          </a:bodyPr>
          <a:lstStyle/>
          <a:p>
            <a:pPr algn="l" indent="0" marL="0">
              <a:buNone/>
            </a:pPr>
            <a:r>
              <a:rPr lang="en-US" sz="808" dirty="0">
                <a:solidFill>
                  <a:srgbClr val="EEF0F0"/>
                </a:solidFill>
                <a:latin typeface="Geist Mono" pitchFamily="34" charset="0"/>
                <a:ea typeface="Geist Mono" pitchFamily="34" charset="-122"/>
                <a:cs typeface="Geist Mono" pitchFamily="34" charset="-120"/>
              </a:rPr>
              <a:t>correlated by run id</a:t>
            </a:r>
            <a:endParaRPr lang="en-US" sz="808" dirty="0"/>
          </a:p>
        </p:txBody>
      </p:sp>
      <p:sp>
        <p:nvSpPr>
          <p:cNvPr id="107" name="Shape 104"/>
          <p:cNvSpPr/>
          <p:nvPr/>
        </p:nvSpPr>
        <p:spPr>
          <a:xfrm>
            <a:off x="2693860" y="8884634"/>
            <a:ext cx="7056882" cy="448056"/>
          </a:xfrm>
          <a:prstGeom prst="rect">
            <a:avLst/>
          </a:prstGeom>
          <a:solidFill>
            <a:srgbClr val="0F1212"/>
          </a:solidFill>
          <a:ln/>
        </p:spPr>
      </p:sp>
      <p:sp>
        <p:nvSpPr>
          <p:cNvPr id="108" name="Shape 105"/>
          <p:cNvSpPr/>
          <p:nvPr/>
        </p:nvSpPr>
        <p:spPr>
          <a:xfrm>
            <a:off x="2693860" y="9323356"/>
            <a:ext cx="7056882" cy="9525"/>
          </a:xfrm>
          <a:prstGeom prst="rect">
            <a:avLst/>
          </a:prstGeom>
          <a:solidFill>
            <a:srgbClr val="1E2323"/>
          </a:solidFill>
          <a:ln/>
        </p:spPr>
      </p:sp>
      <p:sp>
        <p:nvSpPr>
          <p:cNvPr id="109" name="Shape 106"/>
          <p:cNvSpPr/>
          <p:nvPr/>
        </p:nvSpPr>
        <p:spPr>
          <a:xfrm>
            <a:off x="2693860" y="8884634"/>
            <a:ext cx="7056882" cy="9525"/>
          </a:xfrm>
          <a:prstGeom prst="rect">
            <a:avLst/>
          </a:prstGeom>
          <a:solidFill>
            <a:srgbClr val="1E2323"/>
          </a:solidFill>
          <a:ln/>
        </p:spPr>
      </p:sp>
      <p:sp>
        <p:nvSpPr>
          <p:cNvPr id="110" name="Shape 107"/>
          <p:cNvSpPr/>
          <p:nvPr/>
        </p:nvSpPr>
        <p:spPr>
          <a:xfrm>
            <a:off x="2693860" y="8884634"/>
            <a:ext cx="28004" cy="448056"/>
          </a:xfrm>
          <a:prstGeom prst="rect">
            <a:avLst/>
          </a:prstGeom>
          <a:solidFill>
            <a:srgbClr val="F47D67"/>
          </a:solidFill>
          <a:ln/>
        </p:spPr>
      </p:sp>
      <p:sp>
        <p:nvSpPr>
          <p:cNvPr id="111" name="Shape 108"/>
          <p:cNvSpPr/>
          <p:nvPr/>
        </p:nvSpPr>
        <p:spPr>
          <a:xfrm>
            <a:off x="9741408" y="8884634"/>
            <a:ext cx="9525" cy="448056"/>
          </a:xfrm>
          <a:prstGeom prst="rect">
            <a:avLst/>
          </a:prstGeom>
          <a:solidFill>
            <a:srgbClr val="1E2323"/>
          </a:solidFill>
          <a:ln/>
        </p:spPr>
      </p:sp>
      <p:sp>
        <p:nvSpPr>
          <p:cNvPr id="112" name="Text 109"/>
          <p:cNvSpPr/>
          <p:nvPr/>
        </p:nvSpPr>
        <p:spPr>
          <a:xfrm>
            <a:off x="2852547" y="9054989"/>
            <a:ext cx="1596907" cy="145446"/>
          </a:xfrm>
          <a:prstGeom prst="rect">
            <a:avLst/>
          </a:prstGeom>
          <a:noFill/>
          <a:ln/>
        </p:spPr>
        <p:txBody>
          <a:bodyPr wrap="none" lIns="25400" tIns="25400" rIns="25400" bIns="25400" rtlCol="0" anchor="t">
            <a:normAutofit/>
          </a:bodyPr>
          <a:lstStyle/>
          <a:p>
            <a:pPr algn="l" indent="0" marL="0">
              <a:buNone/>
            </a:pPr>
            <a:r>
              <a:rPr lang="en-US" sz="662" spc="79" kern="0" dirty="0">
                <a:solidFill>
                  <a:srgbClr val="9BA2A2"/>
                </a:solidFill>
                <a:latin typeface="Geist Mono" pitchFamily="34" charset="0"/>
                <a:ea typeface="Geist Mono" pitchFamily="34" charset="-122"/>
                <a:cs typeface="Geist Mono" pitchFamily="34" charset="-120"/>
              </a:rPr>
              <a:t>NOT ON THE RECORDED PATH</a:t>
            </a:r>
            <a:endParaRPr lang="en-US" sz="662" dirty="0"/>
          </a:p>
        </p:txBody>
      </p:sp>
      <p:sp>
        <p:nvSpPr>
          <p:cNvPr id="113" name="Text 110"/>
          <p:cNvSpPr/>
          <p:nvPr/>
        </p:nvSpPr>
        <p:spPr>
          <a:xfrm>
            <a:off x="4434963" y="9043321"/>
            <a:ext cx="3049582" cy="168783"/>
          </a:xfrm>
          <a:prstGeom prst="rect">
            <a:avLst/>
          </a:prstGeom>
          <a:noFill/>
          <a:ln/>
        </p:spPr>
        <p:txBody>
          <a:bodyPr wrap="square" lIns="25400" tIns="25400" rIns="25400" bIns="25400" rtlCol="0" anchor="t">
            <a:normAutofit/>
          </a:bodyPr>
          <a:lstStyle/>
          <a:p>
            <a:pPr algn="l" indent="0" marL="0">
              <a:buNone/>
            </a:pPr>
            <a:r>
              <a:rPr lang="en-US" sz="808" dirty="0">
                <a:solidFill>
                  <a:srgbClr val="FBFBFA"/>
                </a:solidFill>
                <a:latin typeface="Geist Mono" pitchFamily="34" charset="0"/>
                <a:ea typeface="Geist Mono" pitchFamily="34" charset="-122"/>
                <a:cs typeface="Geist Mono" pitchFamily="34" charset="-120"/>
              </a:rPr>
              <a:t>Agent Runtime · Agent Gateway · CONTENT_AUTHZ</a:t>
            </a:r>
            <a:endParaRPr lang="en-US" sz="808" dirty="0"/>
          </a:p>
        </p:txBody>
      </p:sp>
      <p:sp>
        <p:nvSpPr>
          <p:cNvPr id="114" name="Shape 111"/>
          <p:cNvSpPr/>
          <p:nvPr/>
        </p:nvSpPr>
        <p:spPr>
          <a:xfrm>
            <a:off x="10012107" y="2891885"/>
            <a:ext cx="9525" cy="6608826"/>
          </a:xfrm>
          <a:prstGeom prst="rect">
            <a:avLst/>
          </a:prstGeom>
          <a:solidFill>
            <a:srgbClr val="1E2323"/>
          </a:solidFill>
          <a:ln/>
        </p:spPr>
      </p:sp>
      <p:sp>
        <p:nvSpPr>
          <p:cNvPr id="115" name="Text 112"/>
          <p:cNvSpPr/>
          <p:nvPr/>
        </p:nvSpPr>
        <p:spPr>
          <a:xfrm>
            <a:off x="10282810" y="3059906"/>
            <a:ext cx="2489335" cy="168783"/>
          </a:xfrm>
          <a:prstGeom prst="rect">
            <a:avLst/>
          </a:prstGeom>
          <a:noFill/>
          <a:ln/>
        </p:spPr>
        <p:txBody>
          <a:bodyPr wrap="square" lIns="25400" tIns="25400" rIns="25400" bIns="25400" rtlCol="0" anchor="t">
            <a:normAutofit/>
          </a:bodyPr>
          <a:lstStyle/>
          <a:p>
            <a:pPr algn="l" indent="0" marL="0">
              <a:buNone/>
            </a:pPr>
            <a:r>
              <a:rPr lang="en-US" sz="808" spc="129" kern="0" dirty="0">
                <a:solidFill>
                  <a:srgbClr val="FBFBFA"/>
                </a:solidFill>
                <a:latin typeface="Geist Mono" pitchFamily="34" charset="0"/>
                <a:ea typeface="Geist Mono" pitchFamily="34" charset="-122"/>
                <a:cs typeface="Geist Mono" pitchFamily="34" charset="-120"/>
              </a:rPr>
              <a:t>DECISION, EFFECT, OBSERVATION</a:t>
            </a:r>
            <a:endParaRPr lang="en-US" sz="808" dirty="0"/>
          </a:p>
        </p:txBody>
      </p:sp>
      <p:sp>
        <p:nvSpPr>
          <p:cNvPr id="116" name="Text 113"/>
          <p:cNvSpPr/>
          <p:nvPr/>
        </p:nvSpPr>
        <p:spPr>
          <a:xfrm>
            <a:off x="14524027" y="3078575"/>
            <a:ext cx="1164980"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REGION 2 · OUTCOME</a:t>
            </a:r>
            <a:endParaRPr lang="en-US" sz="662" dirty="0"/>
          </a:p>
        </p:txBody>
      </p:sp>
      <p:sp>
        <p:nvSpPr>
          <p:cNvPr id="117" name="Shape 114"/>
          <p:cNvSpPr/>
          <p:nvPr/>
        </p:nvSpPr>
        <p:spPr>
          <a:xfrm>
            <a:off x="10282810" y="3302603"/>
            <a:ext cx="5329998" cy="989457"/>
          </a:xfrm>
          <a:prstGeom prst="rect">
            <a:avLst/>
          </a:prstGeom>
          <a:solidFill>
            <a:srgbClr val="0F1212"/>
          </a:solidFill>
          <a:ln w="9335">
            <a:solidFill>
              <a:srgbClr val="343A3A"/>
            </a:solidFill>
            <a:prstDash val="solid"/>
          </a:ln>
        </p:spPr>
      </p:sp>
      <p:sp>
        <p:nvSpPr>
          <p:cNvPr id="118" name="Shape 115"/>
          <p:cNvSpPr/>
          <p:nvPr/>
        </p:nvSpPr>
        <p:spPr>
          <a:xfrm>
            <a:off x="10404158" y="3386614"/>
            <a:ext cx="28004" cy="392049"/>
          </a:xfrm>
          <a:prstGeom prst="rect">
            <a:avLst/>
          </a:prstGeom>
          <a:solidFill>
            <a:srgbClr val="65C281"/>
          </a:solidFill>
          <a:ln/>
        </p:spPr>
      </p:sp>
      <p:sp>
        <p:nvSpPr>
          <p:cNvPr id="119" name="Text 116"/>
          <p:cNvSpPr/>
          <p:nvPr/>
        </p:nvSpPr>
        <p:spPr>
          <a:xfrm>
            <a:off x="10534841" y="3409950"/>
            <a:ext cx="5452280" cy="145447"/>
          </a:xfrm>
          <a:prstGeom prst="rect">
            <a:avLst/>
          </a:prstGeom>
          <a:noFill/>
          <a:ln/>
        </p:spPr>
        <p:txBody>
          <a:bodyPr wrap="square" lIns="25400" tIns="25400" rIns="25400" bIns="25400" rtlCol="0" anchor="t">
            <a:normAutofit/>
          </a:bodyPr>
          <a:lstStyle/>
          <a:p>
            <a:pPr algn="l" indent="0" marL="0">
              <a:buNone/>
            </a:pPr>
            <a:r>
              <a:rPr lang="en-US" sz="662" spc="93" kern="0" dirty="0">
                <a:solidFill>
                  <a:srgbClr val="737B7B"/>
                </a:solidFill>
                <a:latin typeface="Geist Mono" pitchFamily="34" charset="0"/>
                <a:ea typeface="Geist Mono" pitchFamily="34" charset="-122"/>
                <a:cs typeface="Geist Mono" pitchFamily="34" charset="-120"/>
              </a:rPr>
              <a:t>DECISION · NOT AN AUTHORIZATION LIFECYCLE STATE</a:t>
            </a:r>
            <a:endParaRPr lang="en-US" sz="662" dirty="0"/>
          </a:p>
        </p:txBody>
      </p:sp>
      <p:sp>
        <p:nvSpPr>
          <p:cNvPr id="120" name="Text 117"/>
          <p:cNvSpPr/>
          <p:nvPr/>
        </p:nvSpPr>
        <p:spPr>
          <a:xfrm>
            <a:off x="10534841" y="3535966"/>
            <a:ext cx="1663408" cy="257461"/>
          </a:xfrm>
          <a:prstGeom prst="rect">
            <a:avLst/>
          </a:prstGeom>
          <a:noFill/>
          <a:ln/>
        </p:spPr>
        <p:txBody>
          <a:bodyPr wrap="square" lIns="25400" tIns="25400" rIns="25400" bIns="25400" rtlCol="0" anchor="t">
            <a:normAutofit/>
          </a:bodyPr>
          <a:lstStyle/>
          <a:p>
            <a:pPr algn="l" indent="0" marL="0">
              <a:buNone/>
            </a:pPr>
            <a:r>
              <a:rPr lang="en-US" sz="1323" dirty="0">
                <a:solidFill>
                  <a:srgbClr val="FBFBFA"/>
                </a:solidFill>
                <a:latin typeface="Geist Mono" pitchFamily="34" charset="0"/>
                <a:ea typeface="Geist Mono" pitchFamily="34" charset="-122"/>
                <a:cs typeface="Geist Mono" pitchFamily="34" charset="-120"/>
              </a:rPr>
              <a:t>ALLOW + receipt</a:t>
            </a:r>
            <a:endParaRPr lang="en-US" sz="1323" dirty="0"/>
          </a:p>
        </p:txBody>
      </p:sp>
      <p:sp>
        <p:nvSpPr>
          <p:cNvPr id="121" name="Text 118"/>
          <p:cNvSpPr/>
          <p:nvPr/>
        </p:nvSpPr>
        <p:spPr>
          <a:xfrm>
            <a:off x="12159044" y="3610642"/>
            <a:ext cx="3665657" cy="159448"/>
          </a:xfrm>
          <a:prstGeom prst="rect">
            <a:avLst/>
          </a:prstGeom>
          <a:noFill/>
          <a:ln/>
        </p:spPr>
        <p:txBody>
          <a:bodyPr wrap="square" lIns="25400" tIns="25400" rIns="25400" bIns="25400" rtlCol="0" anchor="t">
            <a:normAutofit/>
          </a:bodyPr>
          <a:lstStyle/>
          <a:p>
            <a:pPr algn="l" indent="0" marL="0">
              <a:buNone/>
            </a:pPr>
            <a:r>
              <a:rPr lang="en-US" sz="735" dirty="0">
                <a:solidFill>
                  <a:srgbClr val="9BA2A2"/>
                </a:solidFill>
                <a:latin typeface="Geist Mono" pitchFamily="34" charset="0"/>
                <a:ea typeface="Geist Mono" pitchFamily="34" charset="-122"/>
                <a:cs typeface="Geist Mono" pitchFamily="34" charset="-120"/>
              </a:rPr>
              <a:t>sha256:9d0fa493…a05234</a:t>
            </a:r>
            <a:endParaRPr lang="en-US" sz="735" dirty="0"/>
          </a:p>
        </p:txBody>
      </p:sp>
      <p:sp>
        <p:nvSpPr>
          <p:cNvPr id="122" name="Shape 119"/>
          <p:cNvSpPr/>
          <p:nvPr/>
        </p:nvSpPr>
        <p:spPr>
          <a:xfrm>
            <a:off x="10404158" y="3816001"/>
            <a:ext cx="28004" cy="392049"/>
          </a:xfrm>
          <a:prstGeom prst="rect">
            <a:avLst/>
          </a:prstGeom>
          <a:solidFill>
            <a:srgbClr val="AB8BE3"/>
          </a:solidFill>
          <a:ln/>
        </p:spPr>
      </p:sp>
      <p:sp>
        <p:nvSpPr>
          <p:cNvPr id="123" name="Text 120"/>
          <p:cNvSpPr/>
          <p:nvPr/>
        </p:nvSpPr>
        <p:spPr>
          <a:xfrm>
            <a:off x="10534841" y="3820230"/>
            <a:ext cx="5452280" cy="145447"/>
          </a:xfrm>
          <a:prstGeom prst="rect">
            <a:avLst/>
          </a:prstGeom>
          <a:noFill/>
          <a:ln/>
        </p:spPr>
        <p:txBody>
          <a:bodyPr wrap="square" lIns="25400" tIns="25400" rIns="25400" bIns="25400" rtlCol="0" anchor="t">
            <a:normAutofit/>
          </a:bodyPr>
          <a:lstStyle/>
          <a:p>
            <a:pPr algn="l" indent="0" marL="0">
              <a:buNone/>
            </a:pPr>
            <a:r>
              <a:rPr lang="en-US" sz="662" spc="93" kern="0" dirty="0">
                <a:solidFill>
                  <a:srgbClr val="737B7B"/>
                </a:solidFill>
                <a:latin typeface="Geist Mono" pitchFamily="34" charset="0"/>
                <a:ea typeface="Geist Mono" pitchFamily="34" charset="-122"/>
                <a:cs typeface="Geist Mono" pitchFamily="34" charset="-120"/>
              </a:rPr>
              <a:t>EFFECT · EXECUTED</a:t>
            </a:r>
            <a:endParaRPr lang="en-US" sz="662" dirty="0"/>
          </a:p>
        </p:txBody>
      </p:sp>
      <p:sp>
        <p:nvSpPr>
          <p:cNvPr id="124" name="Text 121"/>
          <p:cNvSpPr/>
          <p:nvPr/>
        </p:nvSpPr>
        <p:spPr>
          <a:xfrm>
            <a:off x="10534841" y="3990075"/>
            <a:ext cx="4280210" cy="207944"/>
          </a:xfrm>
          <a:prstGeom prst="rect">
            <a:avLst/>
          </a:prstGeom>
          <a:noFill/>
          <a:ln/>
        </p:spPr>
        <p:txBody>
          <a:bodyPr wrap="square" lIns="25400" tIns="25400" rIns="25400" bIns="25400" rtlCol="0" anchor="t">
            <a:normAutofit/>
          </a:bodyPr>
          <a:lstStyle/>
          <a:p>
            <a:pPr algn="l" indent="0" marL="0">
              <a:lnSpc>
                <a:spcPct val="107059"/>
              </a:lnSpc>
              <a:buNone/>
            </a:pPr>
            <a:r>
              <a:rPr lang="en-US" sz="956" dirty="0">
                <a:solidFill>
                  <a:srgbClr val="EEF0F0"/>
                </a:solidFill>
                <a:latin typeface="Geist" pitchFamily="34" charset="0"/>
                <a:ea typeface="Geist" pitchFamily="34" charset="-122"/>
                <a:cs typeface="Geist" pitchFamily="34" charset="-120"/>
              </a:rPr>
              <a:t>The mutation was committed against the protected target.</a:t>
            </a:r>
            <a:endParaRPr lang="en-US" sz="956" dirty="0"/>
          </a:p>
        </p:txBody>
      </p:sp>
      <p:sp>
        <p:nvSpPr>
          <p:cNvPr id="125" name="Shape 122"/>
          <p:cNvSpPr/>
          <p:nvPr/>
        </p:nvSpPr>
        <p:spPr>
          <a:xfrm>
            <a:off x="14537954" y="3946246"/>
            <a:ext cx="953505" cy="257574"/>
          </a:xfrm>
          <a:prstGeom prst="roundRect">
            <a:avLst>
              <a:gd name="adj" fmla="val 7248"/>
            </a:avLst>
          </a:prstGeom>
          <a:solidFill>
            <a:srgbClr val="A889E0">
              <a:alpha val="16000"/>
            </a:srgbClr>
          </a:solidFill>
          <a:ln w="28004">
            <a:solidFill>
              <a:srgbClr val="AC8AE3">
                <a:alpha val="60000"/>
              </a:srgbClr>
            </a:solidFill>
            <a:prstDash val="solid"/>
          </a:ln>
        </p:spPr>
      </p:sp>
      <p:sp>
        <p:nvSpPr>
          <p:cNvPr id="126" name="Shape 123"/>
          <p:cNvSpPr/>
          <p:nvPr/>
        </p:nvSpPr>
        <p:spPr>
          <a:xfrm>
            <a:off x="14603297" y="4007139"/>
            <a:ext cx="135787" cy="135788"/>
          </a:xfrm>
          <a:prstGeom prst="roundRect">
            <a:avLst>
              <a:gd name="adj" fmla="val 13749"/>
            </a:avLst>
          </a:prstGeom>
          <a:solidFill>
            <a:srgbClr val="A889E0">
              <a:alpha val="16000"/>
            </a:srgbClr>
          </a:solidFill>
          <a:ln/>
        </p:spPr>
      </p:sp>
      <p:sp>
        <p:nvSpPr>
          <p:cNvPr id="127" name="Text 124"/>
          <p:cNvSpPr/>
          <p:nvPr/>
        </p:nvSpPr>
        <p:spPr>
          <a:xfrm>
            <a:off x="14565197" y="4007139"/>
            <a:ext cx="211987" cy="173888"/>
          </a:xfrm>
          <a:prstGeom prst="rect">
            <a:avLst/>
          </a:prstGeom>
          <a:noFill/>
          <a:ln/>
        </p:spPr>
        <p:txBody>
          <a:bodyPr wrap="none" lIns="25400" tIns="25400" rIns="25400" bIns="25400" rtlCol="0" anchor="ctr">
            <a:normAutofit/>
          </a:bodyPr>
          <a:lstStyle/>
          <a:p>
            <a:pPr algn="ctr" indent="0" marL="0">
              <a:lnSpc>
                <a:spcPct val="79063"/>
              </a:lnSpc>
              <a:buNone/>
            </a:pPr>
            <a:r>
              <a:rPr lang="en-US" sz="930" spc="81" kern="0" dirty="0">
                <a:solidFill>
                  <a:srgbClr val="AB8BE3"/>
                </a:solidFill>
                <a:latin typeface="Geist Mono" pitchFamily="34" charset="0"/>
                <a:ea typeface="Geist Mono" pitchFamily="34" charset="-122"/>
                <a:cs typeface="Geist Mono" pitchFamily="34" charset="-120"/>
              </a:rPr>
              <a:t>⦿</a:t>
            </a:r>
            <a:endParaRPr lang="en-US" sz="930" dirty="0"/>
          </a:p>
        </p:txBody>
      </p:sp>
      <p:sp>
        <p:nvSpPr>
          <p:cNvPr id="128" name="Text 125"/>
          <p:cNvSpPr/>
          <p:nvPr/>
        </p:nvSpPr>
        <p:spPr>
          <a:xfrm>
            <a:off x="14813761" y="4006921"/>
            <a:ext cx="651218" cy="168783"/>
          </a:xfrm>
          <a:prstGeom prst="rect">
            <a:avLst/>
          </a:prstGeom>
          <a:noFill/>
          <a:ln/>
        </p:spPr>
        <p:txBody>
          <a:bodyPr wrap="none" lIns="0" tIns="0" rIns="0" bIns="0" rtlCol="0" anchor="t">
            <a:normAutofit/>
          </a:bodyPr>
          <a:lstStyle/>
          <a:p>
            <a:pPr algn="l" indent="0" marL="0">
              <a:lnSpc>
                <a:spcPct val="125714"/>
              </a:lnSpc>
              <a:buNone/>
            </a:pPr>
            <a:r>
              <a:rPr lang="en-US" sz="808" spc="81" kern="0" dirty="0">
                <a:solidFill>
                  <a:srgbClr val="AB8BE3"/>
                </a:solidFill>
                <a:latin typeface="Geist Mono" pitchFamily="34" charset="0"/>
                <a:ea typeface="Geist Mono" pitchFamily="34" charset="-122"/>
                <a:cs typeface="Geist Mono" pitchFamily="34" charset="-120"/>
              </a:rPr>
              <a:t>EXECUTED</a:t>
            </a:r>
            <a:endParaRPr lang="en-US" sz="808" dirty="0"/>
          </a:p>
        </p:txBody>
      </p:sp>
      <p:sp>
        <p:nvSpPr>
          <p:cNvPr id="129" name="Shape 126"/>
          <p:cNvSpPr/>
          <p:nvPr/>
        </p:nvSpPr>
        <p:spPr>
          <a:xfrm>
            <a:off x="10282810" y="4478750"/>
            <a:ext cx="5329998" cy="1026795"/>
          </a:xfrm>
          <a:prstGeom prst="rect">
            <a:avLst/>
          </a:prstGeom>
          <a:solidFill>
            <a:srgbClr val="1E2323"/>
          </a:solidFill>
          <a:ln w="18669">
            <a:solidFill>
              <a:srgbClr val="FBFBFA"/>
            </a:solidFill>
            <a:prstDash val="solid"/>
          </a:ln>
          <a:effectLst>
            <a:outerShdw sx="100000" sy="100000" kx="0" ky="0" algn="bl" rotWithShape="0" blurRad="228600" dist="76200" dir="5400000">
              <a:srgbClr val="000000">
                <a:alpha val="55000"/>
              </a:srgbClr>
            </a:outerShdw>
          </a:effectLst>
        </p:spPr>
      </p:sp>
      <p:sp>
        <p:nvSpPr>
          <p:cNvPr id="130" name="Text 127"/>
          <p:cNvSpPr/>
          <p:nvPr/>
        </p:nvSpPr>
        <p:spPr>
          <a:xfrm>
            <a:off x="10450830" y="4611767"/>
            <a:ext cx="5493354" cy="145447"/>
          </a:xfrm>
          <a:prstGeom prst="rect">
            <a:avLst/>
          </a:prstGeom>
          <a:noFill/>
          <a:ln/>
        </p:spPr>
        <p:txBody>
          <a:bodyPr wrap="square" lIns="25400" tIns="25400" rIns="25400" bIns="25400" rtlCol="0" anchor="t">
            <a:normAutofit/>
          </a:bodyPr>
          <a:lstStyle/>
          <a:p>
            <a:pPr algn="l" indent="0" marL="0">
              <a:buNone/>
            </a:pPr>
            <a:r>
              <a:rPr lang="en-US" sz="662" spc="93" kern="0" dirty="0">
                <a:solidFill>
                  <a:srgbClr val="737B7B"/>
                </a:solidFill>
                <a:latin typeface="Geist Mono" pitchFamily="34" charset="0"/>
                <a:ea typeface="Geist Mono" pitchFamily="34" charset="-122"/>
                <a:cs typeface="Geist Mono" pitchFamily="34" charset="-120"/>
              </a:rPr>
              <a:t>OBSERVATION · OBSERVED</a:t>
            </a:r>
            <a:endParaRPr lang="en-US" sz="662" dirty="0"/>
          </a:p>
        </p:txBody>
      </p:sp>
      <p:sp>
        <p:nvSpPr>
          <p:cNvPr id="131" name="Text 128"/>
          <p:cNvSpPr/>
          <p:nvPr/>
        </p:nvSpPr>
        <p:spPr>
          <a:xfrm>
            <a:off x="10450830" y="4775121"/>
            <a:ext cx="1675762" cy="448818"/>
          </a:xfrm>
          <a:prstGeom prst="rect">
            <a:avLst/>
          </a:prstGeom>
          <a:noFill/>
          <a:ln/>
        </p:spPr>
        <p:txBody>
          <a:bodyPr wrap="square" lIns="25400" tIns="25400" rIns="25400" bIns="25400" rtlCol="0" anchor="t">
            <a:normAutofit/>
          </a:bodyPr>
          <a:lstStyle/>
          <a:p>
            <a:pPr algn="l" indent="0" marL="0">
              <a:buNone/>
            </a:pPr>
            <a:r>
              <a:rPr lang="en-US" sz="2499" dirty="0">
                <a:solidFill>
                  <a:srgbClr val="FBFBFA"/>
                </a:solidFill>
                <a:latin typeface="Geist Mono" pitchFamily="34" charset="0"/>
                <a:ea typeface="Geist Mono" pitchFamily="34" charset="-122"/>
                <a:cs typeface="Geist Mono" pitchFamily="34" charset="-120"/>
              </a:rPr>
              <a:t>alpha=45</a:t>
            </a:r>
            <a:endParaRPr lang="en-US" sz="2499" dirty="0"/>
          </a:p>
        </p:txBody>
      </p:sp>
      <p:sp>
        <p:nvSpPr>
          <p:cNvPr id="132" name="Text 129"/>
          <p:cNvSpPr/>
          <p:nvPr/>
        </p:nvSpPr>
        <p:spPr>
          <a:xfrm>
            <a:off x="12104933" y="4989814"/>
            <a:ext cx="2507466" cy="168783"/>
          </a:xfrm>
          <a:prstGeom prst="rect">
            <a:avLst/>
          </a:prstGeom>
          <a:noFill/>
          <a:ln/>
        </p:spPr>
        <p:txBody>
          <a:bodyPr wrap="square" lIns="25400" tIns="25400" rIns="25400" bIns="25400" rtlCol="0" anchor="t">
            <a:normAutofit/>
          </a:bodyPr>
          <a:lstStyle/>
          <a:p>
            <a:pPr algn="l" indent="0" marL="0">
              <a:buNone/>
            </a:pPr>
            <a:r>
              <a:rPr lang="en-US" sz="808" dirty="0">
                <a:solidFill>
                  <a:srgbClr val="9BA2A2"/>
                </a:solidFill>
                <a:latin typeface="Geist Mono" pitchFamily="34" charset="0"/>
                <a:ea typeface="Geist Mono" pitchFamily="34" charset="-122"/>
                <a:cs typeface="Geist Mono" pitchFamily="34" charset="-120"/>
              </a:rPr>
              <a:t>independently authenticated read-back</a:t>
            </a:r>
            <a:endParaRPr lang="en-US" sz="808" dirty="0"/>
          </a:p>
        </p:txBody>
      </p:sp>
      <p:sp>
        <p:nvSpPr>
          <p:cNvPr id="133" name="Text 130"/>
          <p:cNvSpPr/>
          <p:nvPr/>
        </p:nvSpPr>
        <p:spPr>
          <a:xfrm>
            <a:off x="10450830" y="5241846"/>
            <a:ext cx="5493354" cy="168783"/>
          </a:xfrm>
          <a:prstGeom prst="rect">
            <a:avLst/>
          </a:prstGeom>
          <a:noFill/>
          <a:ln/>
        </p:spPr>
        <p:txBody>
          <a:bodyPr wrap="square" lIns="25400" tIns="25400" rIns="25400" bIns="25400" rtlCol="0" anchor="t">
            <a:normAutofit/>
          </a:bodyPr>
          <a:lstStyle/>
          <a:p>
            <a:pPr algn="l" indent="0" marL="0">
              <a:buNone/>
            </a:pPr>
            <a:r>
              <a:rPr lang="en-US" sz="808" dirty="0">
                <a:solidFill>
                  <a:srgbClr val="9BA2A2"/>
                </a:solidFill>
                <a:latin typeface="Geist Mono" pitchFamily="34" charset="0"/>
                <a:ea typeface="Geist Mono" pitchFamily="34" charset="-122"/>
                <a:cs typeface="Geist Mono" pitchFamily="34" charset="-120"/>
              </a:rPr>
              <a:t>recorded read-back value. Not a safety claim.</a:t>
            </a:r>
            <a:endParaRPr lang="en-US" sz="808" dirty="0"/>
          </a:p>
        </p:txBody>
      </p:sp>
      <p:sp>
        <p:nvSpPr>
          <p:cNvPr id="134" name="Shape 131"/>
          <p:cNvSpPr/>
          <p:nvPr/>
        </p:nvSpPr>
        <p:spPr>
          <a:xfrm>
            <a:off x="10282810" y="5505545"/>
            <a:ext cx="5329998" cy="9525"/>
          </a:xfrm>
          <a:prstGeom prst="rect">
            <a:avLst/>
          </a:prstGeom>
          <a:solidFill>
            <a:srgbClr val="FBFBFA"/>
          </a:solidFill>
          <a:ln/>
        </p:spPr>
      </p:sp>
      <p:sp>
        <p:nvSpPr>
          <p:cNvPr id="135" name="Text 132"/>
          <p:cNvSpPr/>
          <p:nvPr/>
        </p:nvSpPr>
        <p:spPr>
          <a:xfrm>
            <a:off x="10282810" y="5626894"/>
            <a:ext cx="1975618" cy="159448"/>
          </a:xfrm>
          <a:prstGeom prst="rect">
            <a:avLst/>
          </a:prstGeom>
          <a:noFill/>
          <a:ln/>
        </p:spPr>
        <p:txBody>
          <a:bodyPr wrap="square" lIns="25400" tIns="25400" rIns="25400" bIns="25400" rtlCol="0" anchor="t">
            <a:normAutofit/>
          </a:bodyPr>
          <a:lstStyle/>
          <a:p>
            <a:pPr algn="l" indent="0" marL="0">
              <a:buNone/>
            </a:pPr>
            <a:r>
              <a:rPr lang="en-US" sz="735" spc="103" kern="0" dirty="0">
                <a:solidFill>
                  <a:srgbClr val="FBFBFA"/>
                </a:solidFill>
                <a:latin typeface="Geist Mono" pitchFamily="34" charset="0"/>
                <a:ea typeface="Geist Mono" pitchFamily="34" charset="-122"/>
                <a:cs typeface="Geist Mono" pitchFamily="34" charset="-120"/>
              </a:rPr>
              <a:t>RECORDED NEGATIVE CONTROLS</a:t>
            </a:r>
            <a:endParaRPr lang="en-US" sz="735" dirty="0"/>
          </a:p>
        </p:txBody>
      </p:sp>
      <p:sp>
        <p:nvSpPr>
          <p:cNvPr id="136" name="Text 133"/>
          <p:cNvSpPr/>
          <p:nvPr/>
        </p:nvSpPr>
        <p:spPr>
          <a:xfrm>
            <a:off x="14524027" y="5636228"/>
            <a:ext cx="1164980"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REGION 3 · CONTROL</a:t>
            </a:r>
            <a:endParaRPr lang="en-US" sz="662" dirty="0"/>
          </a:p>
        </p:txBody>
      </p:sp>
      <p:sp>
        <p:nvSpPr>
          <p:cNvPr id="137" name="Shape 134"/>
          <p:cNvSpPr/>
          <p:nvPr/>
        </p:nvSpPr>
        <p:spPr>
          <a:xfrm>
            <a:off x="10282810" y="5832253"/>
            <a:ext cx="5329998" cy="308039"/>
          </a:xfrm>
          <a:prstGeom prst="rect">
            <a:avLst/>
          </a:prstGeom>
          <a:solidFill>
            <a:srgbClr val="0F1212"/>
          </a:solidFill>
          <a:ln w="9335">
            <a:solidFill>
              <a:srgbClr val="343A3A"/>
            </a:solidFill>
            <a:prstDash val="solid"/>
          </a:ln>
        </p:spPr>
      </p:sp>
      <p:sp>
        <p:nvSpPr>
          <p:cNvPr id="138" name="Text 135"/>
          <p:cNvSpPr/>
          <p:nvPr/>
        </p:nvSpPr>
        <p:spPr>
          <a:xfrm>
            <a:off x="10394824" y="5916263"/>
            <a:ext cx="1490937" cy="178118"/>
          </a:xfrm>
          <a:prstGeom prst="rect">
            <a:avLst/>
          </a:prstGeom>
          <a:noFill/>
          <a:ln/>
        </p:spPr>
        <p:txBody>
          <a:bodyPr wrap="square" lIns="25400" tIns="25400" rIns="25400" bIns="25400" rtlCol="0" anchor="t">
            <a:normAutofit/>
          </a:bodyPr>
          <a:lstStyle/>
          <a:p>
            <a:pPr algn="l" indent="0" marL="0">
              <a:buNone/>
            </a:pPr>
            <a:r>
              <a:rPr lang="en-US" sz="808" dirty="0">
                <a:solidFill>
                  <a:srgbClr val="EEF0F0"/>
                </a:solidFill>
                <a:latin typeface="Geist Mono" pitchFamily="34" charset="0"/>
                <a:ea typeface="Geist Mono" pitchFamily="34" charset="-122"/>
                <a:cs typeface="Geist Mono" pitchFamily="34" charset="-120"/>
              </a:rPr>
              <a:t>forged identity header</a:t>
            </a:r>
            <a:endParaRPr lang="en-US" sz="808" dirty="0"/>
          </a:p>
        </p:txBody>
      </p:sp>
      <p:sp>
        <p:nvSpPr>
          <p:cNvPr id="139" name="Text 136"/>
          <p:cNvSpPr/>
          <p:nvPr/>
        </p:nvSpPr>
        <p:spPr>
          <a:xfrm>
            <a:off x="15192682" y="5916263"/>
            <a:ext cx="384311" cy="178118"/>
          </a:xfrm>
          <a:prstGeom prst="rect">
            <a:avLst/>
          </a:prstGeom>
          <a:noFill/>
          <a:ln/>
        </p:spPr>
        <p:txBody>
          <a:bodyPr wrap="square" lIns="25400" tIns="25400" rIns="25400" bIns="25400" rtlCol="0" anchor="t">
            <a:normAutofit/>
          </a:bodyPr>
          <a:lstStyle/>
          <a:p>
            <a:pPr algn="l" indent="0" marL="0">
              <a:buNone/>
            </a:pPr>
            <a:r>
              <a:rPr lang="en-US" sz="808" dirty="0">
                <a:solidFill>
                  <a:srgbClr val="F47D67"/>
                </a:solidFill>
                <a:latin typeface="Geist Mono" pitchFamily="34" charset="0"/>
                <a:ea typeface="Geist Mono" pitchFamily="34" charset="-122"/>
                <a:cs typeface="Geist Mono" pitchFamily="34" charset="-120"/>
              </a:rPr>
              <a:t>‖ 403</a:t>
            </a:r>
            <a:endParaRPr lang="en-US" sz="808" dirty="0"/>
          </a:p>
        </p:txBody>
      </p:sp>
      <p:sp>
        <p:nvSpPr>
          <p:cNvPr id="140" name="Shape 137"/>
          <p:cNvSpPr/>
          <p:nvPr/>
        </p:nvSpPr>
        <p:spPr>
          <a:xfrm>
            <a:off x="10282810" y="6196299"/>
            <a:ext cx="5329998" cy="308038"/>
          </a:xfrm>
          <a:prstGeom prst="rect">
            <a:avLst/>
          </a:prstGeom>
          <a:solidFill>
            <a:srgbClr val="0F1212"/>
          </a:solidFill>
          <a:ln w="9335">
            <a:solidFill>
              <a:srgbClr val="343A3A"/>
            </a:solidFill>
            <a:prstDash val="solid"/>
          </a:ln>
        </p:spPr>
      </p:sp>
      <p:sp>
        <p:nvSpPr>
          <p:cNvPr id="141" name="Text 138"/>
          <p:cNvSpPr/>
          <p:nvPr/>
        </p:nvSpPr>
        <p:spPr>
          <a:xfrm>
            <a:off x="10394824" y="6280309"/>
            <a:ext cx="1355368" cy="178118"/>
          </a:xfrm>
          <a:prstGeom prst="rect">
            <a:avLst/>
          </a:prstGeom>
          <a:noFill/>
          <a:ln/>
        </p:spPr>
        <p:txBody>
          <a:bodyPr wrap="square" lIns="25400" tIns="25400" rIns="25400" bIns="25400" rtlCol="0" anchor="t">
            <a:normAutofit/>
          </a:bodyPr>
          <a:lstStyle/>
          <a:p>
            <a:pPr algn="l" indent="0" marL="0">
              <a:buNone/>
            </a:pPr>
            <a:r>
              <a:rPr lang="en-US" sz="808" dirty="0">
                <a:solidFill>
                  <a:srgbClr val="EEF0F0"/>
                </a:solidFill>
                <a:latin typeface="Geist Mono" pitchFamily="34" charset="0"/>
                <a:ea typeface="Geist Mono" pitchFamily="34" charset="-122"/>
                <a:cs typeface="Geist Mono" pitchFamily="34" charset="-120"/>
              </a:rPr>
              <a:t>invalid bearer token</a:t>
            </a:r>
            <a:endParaRPr lang="en-US" sz="808" dirty="0"/>
          </a:p>
        </p:txBody>
      </p:sp>
      <p:sp>
        <p:nvSpPr>
          <p:cNvPr id="142" name="Text 139"/>
          <p:cNvSpPr/>
          <p:nvPr/>
        </p:nvSpPr>
        <p:spPr>
          <a:xfrm>
            <a:off x="15192682" y="6280309"/>
            <a:ext cx="384311" cy="178118"/>
          </a:xfrm>
          <a:prstGeom prst="rect">
            <a:avLst/>
          </a:prstGeom>
          <a:noFill/>
          <a:ln/>
        </p:spPr>
        <p:txBody>
          <a:bodyPr wrap="square" lIns="25400" tIns="25400" rIns="25400" bIns="25400" rtlCol="0" anchor="t">
            <a:normAutofit/>
          </a:bodyPr>
          <a:lstStyle/>
          <a:p>
            <a:pPr algn="l" indent="0" marL="0">
              <a:buNone/>
            </a:pPr>
            <a:r>
              <a:rPr lang="en-US" sz="808" dirty="0">
                <a:solidFill>
                  <a:srgbClr val="F47D67"/>
                </a:solidFill>
                <a:latin typeface="Geist Mono" pitchFamily="34" charset="0"/>
                <a:ea typeface="Geist Mono" pitchFamily="34" charset="-122"/>
                <a:cs typeface="Geist Mono" pitchFamily="34" charset="-120"/>
              </a:rPr>
              <a:t>‖ 401</a:t>
            </a:r>
            <a:endParaRPr lang="en-US" sz="808" dirty="0"/>
          </a:p>
        </p:txBody>
      </p:sp>
      <p:sp>
        <p:nvSpPr>
          <p:cNvPr id="143" name="Shape 140"/>
          <p:cNvSpPr/>
          <p:nvPr/>
        </p:nvSpPr>
        <p:spPr>
          <a:xfrm>
            <a:off x="10282810" y="6560344"/>
            <a:ext cx="5329998" cy="308039"/>
          </a:xfrm>
          <a:prstGeom prst="rect">
            <a:avLst/>
          </a:prstGeom>
          <a:solidFill>
            <a:srgbClr val="0F1212"/>
          </a:solidFill>
          <a:ln w="9335">
            <a:solidFill>
              <a:srgbClr val="343A3A"/>
            </a:solidFill>
            <a:prstDash val="solid"/>
          </a:ln>
        </p:spPr>
      </p:sp>
      <p:sp>
        <p:nvSpPr>
          <p:cNvPr id="144" name="Text 141"/>
          <p:cNvSpPr/>
          <p:nvPr/>
        </p:nvSpPr>
        <p:spPr>
          <a:xfrm>
            <a:off x="10394824" y="6644354"/>
            <a:ext cx="2439679" cy="178118"/>
          </a:xfrm>
          <a:prstGeom prst="rect">
            <a:avLst/>
          </a:prstGeom>
          <a:noFill/>
          <a:ln/>
        </p:spPr>
        <p:txBody>
          <a:bodyPr wrap="square" lIns="25400" tIns="25400" rIns="25400" bIns="25400" rtlCol="0" anchor="t">
            <a:normAutofit/>
          </a:bodyPr>
          <a:lstStyle/>
          <a:p>
            <a:pPr algn="l" indent="0" marL="0">
              <a:buNone/>
            </a:pPr>
            <a:r>
              <a:rPr lang="en-US" sz="808" dirty="0">
                <a:solidFill>
                  <a:srgbClr val="EEF0F0"/>
                </a:solidFill>
                <a:latin typeface="Geist Mono" pitchFamily="34" charset="0"/>
                <a:ea typeface="Geist Mono" pitchFamily="34" charset="-122"/>
                <a:cs typeface="Geist Mono" pitchFamily="34" charset="-120"/>
              </a:rPr>
              <a:t>direct target bypass without receipt</a:t>
            </a:r>
            <a:endParaRPr lang="en-US" sz="808" dirty="0"/>
          </a:p>
        </p:txBody>
      </p:sp>
      <p:sp>
        <p:nvSpPr>
          <p:cNvPr id="145" name="Text 142"/>
          <p:cNvSpPr/>
          <p:nvPr/>
        </p:nvSpPr>
        <p:spPr>
          <a:xfrm>
            <a:off x="15192682" y="6644354"/>
            <a:ext cx="384311" cy="178118"/>
          </a:xfrm>
          <a:prstGeom prst="rect">
            <a:avLst/>
          </a:prstGeom>
          <a:noFill/>
          <a:ln/>
        </p:spPr>
        <p:txBody>
          <a:bodyPr wrap="square" lIns="25400" tIns="25400" rIns="25400" bIns="25400" rtlCol="0" anchor="t">
            <a:normAutofit/>
          </a:bodyPr>
          <a:lstStyle/>
          <a:p>
            <a:pPr algn="l" indent="0" marL="0">
              <a:buNone/>
            </a:pPr>
            <a:r>
              <a:rPr lang="en-US" sz="808" dirty="0">
                <a:solidFill>
                  <a:srgbClr val="F47D67"/>
                </a:solidFill>
                <a:latin typeface="Geist Mono" pitchFamily="34" charset="0"/>
                <a:ea typeface="Geist Mono" pitchFamily="34" charset="-122"/>
                <a:cs typeface="Geist Mono" pitchFamily="34" charset="-120"/>
              </a:rPr>
              <a:t>‖ 403</a:t>
            </a:r>
            <a:endParaRPr lang="en-US" sz="808" dirty="0"/>
          </a:p>
        </p:txBody>
      </p:sp>
      <p:sp>
        <p:nvSpPr>
          <p:cNvPr id="146" name="Shape 143"/>
          <p:cNvSpPr/>
          <p:nvPr/>
        </p:nvSpPr>
        <p:spPr>
          <a:xfrm>
            <a:off x="10282810" y="6952393"/>
            <a:ext cx="5329998" cy="9525"/>
          </a:xfrm>
          <a:prstGeom prst="rect">
            <a:avLst/>
          </a:prstGeom>
          <a:solidFill>
            <a:srgbClr val="1E2323"/>
          </a:solidFill>
          <a:ln/>
        </p:spPr>
      </p:sp>
      <p:sp>
        <p:nvSpPr>
          <p:cNvPr id="147" name="Text 144"/>
          <p:cNvSpPr/>
          <p:nvPr/>
        </p:nvSpPr>
        <p:spPr>
          <a:xfrm>
            <a:off x="10282810" y="7036404"/>
            <a:ext cx="5489898" cy="200505"/>
          </a:xfrm>
          <a:prstGeom prst="rect">
            <a:avLst/>
          </a:prstGeom>
          <a:noFill/>
          <a:ln/>
        </p:spPr>
        <p:txBody>
          <a:bodyPr wrap="square" lIns="25400" tIns="25400" rIns="25400" bIns="25400" rtlCol="0" anchor="t">
            <a:normAutofit/>
          </a:bodyPr>
          <a:lstStyle/>
          <a:p>
            <a:pPr algn="l" indent="0" marL="0">
              <a:lnSpc>
                <a:spcPct val="112258"/>
              </a:lnSpc>
              <a:buNone/>
            </a:pPr>
            <a:r>
              <a:rPr lang="en-US" sz="882" dirty="0">
                <a:solidFill>
                  <a:srgbClr val="9BA2A2"/>
                </a:solidFill>
                <a:latin typeface="Geist" pitchFamily="34" charset="0"/>
                <a:ea typeface="Geist" pitchFamily="34" charset="-122"/>
                <a:cs typeface="Geist" pitchFamily="34" charset="-120"/>
              </a:rPr>
              <a:t>Three recorded refusals. Not a security claim.</a:t>
            </a:r>
            <a:endParaRPr lang="en-US" sz="882" dirty="0"/>
          </a:p>
        </p:txBody>
      </p:sp>
      <p:sp>
        <p:nvSpPr>
          <p:cNvPr id="148" name="Text 145"/>
          <p:cNvSpPr/>
          <p:nvPr/>
        </p:nvSpPr>
        <p:spPr>
          <a:xfrm>
            <a:off x="10282810" y="8011859"/>
            <a:ext cx="5862998"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REGION 4 · VERIFICATION</a:t>
            </a:r>
            <a:endParaRPr lang="en-US" sz="662" dirty="0"/>
          </a:p>
        </p:txBody>
      </p:sp>
      <p:sp>
        <p:nvSpPr>
          <p:cNvPr id="149" name="Shape 146"/>
          <p:cNvSpPr/>
          <p:nvPr/>
        </p:nvSpPr>
        <p:spPr>
          <a:xfrm>
            <a:off x="10282810" y="8193881"/>
            <a:ext cx="5329998" cy="354711"/>
          </a:xfrm>
          <a:prstGeom prst="rect">
            <a:avLst/>
          </a:prstGeom>
          <a:solidFill>
            <a:srgbClr val="FBFBFA"/>
          </a:solidFill>
          <a:ln w="9335">
            <a:solidFill>
              <a:srgbClr val="FBFBFA"/>
            </a:solidFill>
            <a:prstDash val="solid"/>
          </a:ln>
          <a:effectLst>
            <a:outerShdw sx="100000" sy="100000" kx="0" ky="0" algn="bl" rotWithShape="0" blurRad="19050" dist="9525" dir="5400000">
              <a:srgbClr val="000000">
                <a:alpha val="50000"/>
              </a:srgbClr>
            </a:outerShdw>
          </a:effectLst>
        </p:spPr>
      </p:sp>
      <p:sp>
        <p:nvSpPr>
          <p:cNvPr id="150" name="Text 147"/>
          <p:cNvSpPr/>
          <p:nvPr/>
        </p:nvSpPr>
        <p:spPr>
          <a:xfrm>
            <a:off x="10422827" y="8305895"/>
            <a:ext cx="5209863" cy="168783"/>
          </a:xfrm>
          <a:prstGeom prst="rect">
            <a:avLst/>
          </a:prstGeom>
          <a:noFill/>
          <a:ln/>
        </p:spPr>
        <p:txBody>
          <a:bodyPr wrap="square" lIns="25400" tIns="25400" rIns="25400" bIns="25400" rtlCol="0" anchor="t">
            <a:normAutofit/>
          </a:bodyPr>
          <a:lstStyle/>
          <a:p>
            <a:pPr algn="l" indent="0" marL="0">
              <a:buNone/>
            </a:pPr>
            <a:r>
              <a:rPr lang="en-US" sz="808" spc="65" kern="0" dirty="0">
                <a:solidFill>
                  <a:srgbClr val="0B0D0E"/>
                </a:solidFill>
                <a:latin typeface="Geist Mono" pitchFamily="34" charset="0"/>
                <a:ea typeface="Geist Mono" pitchFamily="34" charset="-122"/>
                <a:cs typeface="Geist Mono" pitchFamily="34" charset="-120"/>
              </a:rPr>
              <a:t>CAN I VERIFY THIS RUN?</a:t>
            </a:r>
            <a:endParaRPr lang="en-US" sz="808" dirty="0"/>
          </a:p>
        </p:txBody>
      </p:sp>
      <p:sp>
        <p:nvSpPr>
          <p:cNvPr id="151" name="Shape 148"/>
          <p:cNvSpPr/>
          <p:nvPr/>
        </p:nvSpPr>
        <p:spPr>
          <a:xfrm>
            <a:off x="10282810" y="8623268"/>
            <a:ext cx="2627661" cy="326707"/>
          </a:xfrm>
          <a:prstGeom prst="rect">
            <a:avLst/>
          </a:prstGeom>
          <a:ln w="9335">
            <a:solidFill>
              <a:srgbClr val="515858"/>
            </a:solidFill>
            <a:prstDash val="solid"/>
          </a:ln>
        </p:spPr>
      </p:sp>
      <p:sp>
        <p:nvSpPr>
          <p:cNvPr id="152" name="Text 149"/>
          <p:cNvSpPr/>
          <p:nvPr/>
        </p:nvSpPr>
        <p:spPr>
          <a:xfrm>
            <a:off x="10364743" y="8725948"/>
            <a:ext cx="2463793" cy="159448"/>
          </a:xfrm>
          <a:prstGeom prst="rect">
            <a:avLst/>
          </a:prstGeom>
          <a:noFill/>
          <a:ln/>
        </p:spPr>
        <p:txBody>
          <a:bodyPr wrap="square" lIns="25400" tIns="25400" rIns="25400" bIns="25400" rtlCol="0" anchor="t">
            <a:normAutofit/>
          </a:bodyPr>
          <a:lstStyle/>
          <a:p>
            <a:pPr algn="ctr" indent="0" marL="0">
              <a:buNone/>
            </a:pPr>
            <a:r>
              <a:rPr lang="en-US" sz="735" spc="59" kern="0" dirty="0">
                <a:solidFill>
                  <a:srgbClr val="FBFBFA"/>
                </a:solidFill>
                <a:latin typeface="Geist Mono" pitchFamily="34" charset="0"/>
                <a:ea typeface="Geist Mono" pitchFamily="34" charset="-122"/>
                <a:cs typeface="Geist Mono" pitchFamily="34" charset="-120"/>
              </a:rPr>
              <a:t>SHOW ME THE RAW PROOF</a:t>
            </a:r>
            <a:endParaRPr lang="en-US" sz="735" dirty="0"/>
          </a:p>
        </p:txBody>
      </p:sp>
      <p:sp>
        <p:nvSpPr>
          <p:cNvPr id="153" name="Shape 150"/>
          <p:cNvSpPr/>
          <p:nvPr/>
        </p:nvSpPr>
        <p:spPr>
          <a:xfrm>
            <a:off x="12985147" y="8623268"/>
            <a:ext cx="2627661" cy="326707"/>
          </a:xfrm>
          <a:prstGeom prst="rect">
            <a:avLst/>
          </a:prstGeom>
          <a:ln w="9335">
            <a:solidFill>
              <a:srgbClr val="515858"/>
            </a:solidFill>
            <a:prstDash val="solid"/>
          </a:ln>
        </p:spPr>
      </p:sp>
      <p:sp>
        <p:nvSpPr>
          <p:cNvPr id="154" name="Text 151"/>
          <p:cNvSpPr/>
          <p:nvPr/>
        </p:nvSpPr>
        <p:spPr>
          <a:xfrm>
            <a:off x="13067081" y="8725948"/>
            <a:ext cx="2463793" cy="159448"/>
          </a:xfrm>
          <a:prstGeom prst="rect">
            <a:avLst/>
          </a:prstGeom>
          <a:noFill/>
          <a:ln/>
        </p:spPr>
        <p:txBody>
          <a:bodyPr wrap="square" lIns="25400" tIns="25400" rIns="25400" bIns="25400" rtlCol="0" anchor="t">
            <a:normAutofit/>
          </a:bodyPr>
          <a:lstStyle/>
          <a:p>
            <a:pPr algn="ctr" indent="0" marL="0">
              <a:buNone/>
            </a:pPr>
            <a:r>
              <a:rPr lang="en-US" sz="735" spc="59" kern="0" dirty="0">
                <a:solidFill>
                  <a:srgbClr val="FBFBFA"/>
                </a:solidFill>
                <a:latin typeface="Geist Mono" pitchFamily="34" charset="0"/>
                <a:ea typeface="Geist Mono" pitchFamily="34" charset="-122"/>
                <a:cs typeface="Geist Mono" pitchFamily="34" charset="-120"/>
              </a:rPr>
              <a:t>WHAT IS NOT CLAIMED?</a:t>
            </a:r>
            <a:endParaRPr lang="en-US" sz="735" dirty="0"/>
          </a:p>
        </p:txBody>
      </p:sp>
      <p:sp>
        <p:nvSpPr>
          <p:cNvPr id="155" name="Shape 152"/>
          <p:cNvSpPr/>
          <p:nvPr/>
        </p:nvSpPr>
        <p:spPr>
          <a:xfrm>
            <a:off x="10282810" y="9024652"/>
            <a:ext cx="5329998" cy="308038"/>
          </a:xfrm>
          <a:prstGeom prst="rect">
            <a:avLst/>
          </a:prstGeom>
          <a:ln w="9335">
            <a:solidFill>
              <a:srgbClr val="515858"/>
            </a:solidFill>
            <a:prstDash val="dash"/>
          </a:ln>
        </p:spPr>
      </p:sp>
      <p:sp>
        <p:nvSpPr>
          <p:cNvPr id="156" name="Text 153"/>
          <p:cNvSpPr/>
          <p:nvPr/>
        </p:nvSpPr>
        <p:spPr>
          <a:xfrm>
            <a:off x="10324208" y="9117997"/>
            <a:ext cx="5247201" cy="159448"/>
          </a:xfrm>
          <a:prstGeom prst="rect">
            <a:avLst/>
          </a:prstGeom>
          <a:noFill/>
          <a:ln/>
        </p:spPr>
        <p:txBody>
          <a:bodyPr wrap="square" lIns="25400" tIns="25400" rIns="25400" bIns="25400" rtlCol="0" anchor="t">
            <a:normAutofit/>
          </a:bodyPr>
          <a:lstStyle/>
          <a:p>
            <a:pPr algn="ctr" indent="0" marL="0">
              <a:buNone/>
            </a:pPr>
            <a:r>
              <a:rPr lang="en-US" sz="735" spc="59" kern="0" dirty="0">
                <a:solidFill>
                  <a:srgbClr val="737B7B"/>
                </a:solidFill>
                <a:latin typeface="Geist Mono" pitchFamily="34" charset="0"/>
                <a:ea typeface="Geist Mono" pitchFamily="34" charset="-122"/>
                <a:cs typeface="Geist Mono" pitchFamily="34" charset="-120"/>
              </a:rPr>
              <a:t>EVALUATION SURFACE · NOT YET BOUND</a:t>
            </a:r>
            <a:endParaRPr lang="en-US" sz="735" dirty="0"/>
          </a:p>
        </p:txBody>
      </p:sp>
      <p:sp>
        <p:nvSpPr>
          <p:cNvPr id="157" name="Shape 154"/>
          <p:cNvSpPr/>
          <p:nvPr/>
        </p:nvSpPr>
        <p:spPr>
          <a:xfrm>
            <a:off x="2432494" y="9500711"/>
            <a:ext cx="13441681" cy="336042"/>
          </a:xfrm>
          <a:prstGeom prst="rect">
            <a:avLst/>
          </a:prstGeom>
          <a:solidFill>
            <a:srgbClr val="0F1212"/>
          </a:solidFill>
          <a:ln/>
        </p:spPr>
      </p:sp>
      <p:sp>
        <p:nvSpPr>
          <p:cNvPr id="158" name="Shape 155"/>
          <p:cNvSpPr/>
          <p:nvPr/>
        </p:nvSpPr>
        <p:spPr>
          <a:xfrm>
            <a:off x="2432494" y="9500711"/>
            <a:ext cx="13441681" cy="9525"/>
          </a:xfrm>
          <a:prstGeom prst="rect">
            <a:avLst/>
          </a:prstGeom>
          <a:solidFill>
            <a:srgbClr val="1E2323"/>
          </a:solidFill>
          <a:ln/>
        </p:spPr>
      </p:sp>
      <p:sp>
        <p:nvSpPr>
          <p:cNvPr id="159" name="Text 156"/>
          <p:cNvSpPr/>
          <p:nvPr/>
        </p:nvSpPr>
        <p:spPr>
          <a:xfrm>
            <a:off x="2693860" y="9619726"/>
            <a:ext cx="1212596"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FBFBFA"/>
                </a:solidFill>
                <a:latin typeface="Geist Mono" pitchFamily="34" charset="0"/>
                <a:ea typeface="Geist Mono" pitchFamily="34" charset="-122"/>
                <a:cs typeface="Geist Mono" pitchFamily="34" charset="-120"/>
              </a:rPr>
              <a:t>RUN.CLOUD.OVERVIEW</a:t>
            </a:r>
            <a:endParaRPr lang="en-US" sz="662" dirty="0"/>
          </a:p>
        </p:txBody>
      </p:sp>
      <p:sp>
        <p:nvSpPr>
          <p:cNvPr id="160" name="Shape 157"/>
          <p:cNvSpPr/>
          <p:nvPr/>
        </p:nvSpPr>
        <p:spPr>
          <a:xfrm>
            <a:off x="3931994" y="9619726"/>
            <a:ext cx="9525" cy="107347"/>
          </a:xfrm>
          <a:prstGeom prst="rect">
            <a:avLst/>
          </a:prstGeom>
          <a:solidFill>
            <a:srgbClr val="1E2323"/>
          </a:solidFill>
          <a:ln/>
        </p:spPr>
      </p:sp>
      <p:sp>
        <p:nvSpPr>
          <p:cNvPr id="161" name="Text 158"/>
          <p:cNvSpPr/>
          <p:nvPr/>
        </p:nvSpPr>
        <p:spPr>
          <a:xfrm>
            <a:off x="4090681" y="9619726"/>
            <a:ext cx="3623784"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?RUN=HAC340-CLOUD&amp;PROOF=CLOUD&amp;STATE=RUN.CLOUD.OVERVIEW</a:t>
            </a:r>
            <a:endParaRPr lang="en-US" sz="662" dirty="0"/>
          </a:p>
        </p:txBody>
      </p:sp>
      <p:sp>
        <p:nvSpPr>
          <p:cNvPr id="162" name="Shape 159"/>
          <p:cNvSpPr/>
          <p:nvPr/>
        </p:nvSpPr>
        <p:spPr>
          <a:xfrm>
            <a:off x="7506378" y="9619726"/>
            <a:ext cx="9525" cy="107347"/>
          </a:xfrm>
          <a:prstGeom prst="rect">
            <a:avLst/>
          </a:prstGeom>
          <a:solidFill>
            <a:srgbClr val="1E2323"/>
          </a:solidFill>
          <a:ln/>
        </p:spPr>
      </p:sp>
      <p:sp>
        <p:nvSpPr>
          <p:cNvPr id="163" name="Text 160"/>
          <p:cNvSpPr/>
          <p:nvPr/>
        </p:nvSpPr>
        <p:spPr>
          <a:xfrm>
            <a:off x="7665065" y="9619726"/>
            <a:ext cx="1960376"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CLASSIFICATION EVIDENCE-BOUND</a:t>
            </a:r>
            <a:endParaRPr lang="en-US" sz="662" dirty="0"/>
          </a:p>
        </p:txBody>
      </p:sp>
      <p:sp>
        <p:nvSpPr>
          <p:cNvPr id="164" name="Shape 161"/>
          <p:cNvSpPr/>
          <p:nvPr/>
        </p:nvSpPr>
        <p:spPr>
          <a:xfrm>
            <a:off x="13518454" y="9619726"/>
            <a:ext cx="9525" cy="107347"/>
          </a:xfrm>
          <a:prstGeom prst="rect">
            <a:avLst/>
          </a:prstGeom>
          <a:solidFill>
            <a:srgbClr val="1E2323"/>
          </a:solidFill>
          <a:ln/>
        </p:spPr>
      </p:sp>
      <p:sp>
        <p:nvSpPr>
          <p:cNvPr id="165" name="Text 162"/>
          <p:cNvSpPr/>
          <p:nvPr/>
        </p:nvSpPr>
        <p:spPr>
          <a:xfrm>
            <a:off x="13677140" y="9619726"/>
            <a:ext cx="2145102"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PARTICIPATION, NOT CERTIFICATION</a:t>
            </a:r>
            <a:endParaRPr lang="en-US" sz="66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DE0E0"/>
        </a:solidFill>
      </p:bgPr>
    </p:bg>
    <p:spTree>
      <p:nvGrpSpPr>
        <p:cNvPr id="1" name=""/>
        <p:cNvGrpSpPr/>
        <p:nvPr/>
      </p:nvGrpSpPr>
      <p:grpSpPr>
        <a:xfrm>
          <a:off x="0" y="0"/>
          <a:ext cx="0" cy="0"/>
          <a:chOff x="0" y="0"/>
          <a:chExt cx="0" cy="0"/>
        </a:xfrm>
      </p:grpSpPr>
      <p:sp>
        <p:nvSpPr>
          <p:cNvPr id="2" name="Text 0"/>
          <p:cNvSpPr/>
          <p:nvPr/>
        </p:nvSpPr>
        <p:spPr>
          <a:xfrm>
            <a:off x="1143000" y="247650"/>
            <a:ext cx="3849745" cy="457200"/>
          </a:xfrm>
          <a:prstGeom prst="rect">
            <a:avLst/>
          </a:prstGeom>
          <a:noFill/>
          <a:ln/>
        </p:spPr>
        <p:txBody>
          <a:bodyPr wrap="square" lIns="25400" tIns="25400" rIns="25400" bIns="25400" rtlCol="0" anchor="t">
            <a:normAutofit/>
          </a:bodyPr>
          <a:lstStyle/>
          <a:p>
            <a:pPr algn="l" indent="0" marL="0">
              <a:buNone/>
            </a:pPr>
            <a:r>
              <a:rPr lang="en-US" sz="2550" spc="-51" kern="0" dirty="0">
                <a:solidFill>
                  <a:srgbClr val="0B0D0E"/>
                </a:solidFill>
                <a:latin typeface="Geist" pitchFamily="34" charset="0"/>
                <a:ea typeface="Geist" pitchFamily="34" charset="-122"/>
                <a:cs typeface="Geist" pitchFamily="34" charset="-120"/>
              </a:rPr>
              <a:t>The shell does not move</a:t>
            </a:r>
            <a:endParaRPr lang="en-US" sz="2550" dirty="0"/>
          </a:p>
        </p:txBody>
      </p:sp>
      <p:sp>
        <p:nvSpPr>
          <p:cNvPr id="3" name="Text 1"/>
          <p:cNvSpPr/>
          <p:nvPr/>
        </p:nvSpPr>
        <p:spPr>
          <a:xfrm>
            <a:off x="1143000" y="733425"/>
            <a:ext cx="6055995" cy="347663"/>
          </a:xfrm>
          <a:prstGeom prst="rect">
            <a:avLst/>
          </a:prstGeom>
          <a:noFill/>
          <a:ln/>
        </p:spPr>
        <p:txBody>
          <a:bodyPr wrap="square" lIns="25400" tIns="25400" rIns="25400" bIns="25400" rtlCol="0" anchor="t">
            <a:normAutofit/>
          </a:bodyPr>
          <a:lstStyle/>
          <a:p>
            <a:pPr algn="l" indent="0" marL="0">
              <a:buNone/>
            </a:pPr>
            <a:r>
              <a:rPr lang="en-US" sz="1875" spc="150" kern="0" dirty="0">
                <a:solidFill>
                  <a:srgbClr val="515858"/>
                </a:solidFill>
                <a:latin typeface="Geist Mono" pitchFamily="34" charset="0"/>
                <a:ea typeface="Geist Mono" pitchFamily="34" charset="-122"/>
                <a:cs typeface="Geist Mono" pitchFamily="34" charset="-120"/>
              </a:rPr>
              <a:t>GEOMETRY IS SHARED, VALUES ARE NOT</a:t>
            </a:r>
            <a:endParaRPr lang="en-US" sz="1875" dirty="0"/>
          </a:p>
        </p:txBody>
      </p:sp>
      <p:sp>
        <p:nvSpPr>
          <p:cNvPr id="4" name="Text 2"/>
          <p:cNvSpPr/>
          <p:nvPr/>
        </p:nvSpPr>
        <p:spPr>
          <a:xfrm>
            <a:off x="13477875" y="333375"/>
            <a:ext cx="4033838" cy="347663"/>
          </a:xfrm>
          <a:prstGeom prst="rect">
            <a:avLst/>
          </a:prstGeom>
          <a:noFill/>
          <a:ln/>
        </p:spPr>
        <p:txBody>
          <a:bodyPr wrap="none" lIns="25400" tIns="25400" rIns="25400" bIns="25400" rtlCol="0" anchor="t">
            <a:normAutofit/>
          </a:bodyPr>
          <a:lstStyle/>
          <a:p>
            <a:pPr algn="l" indent="0" marL="0">
              <a:buNone/>
            </a:pPr>
            <a:r>
              <a:rPr lang="en-US" sz="1875" spc="188" kern="0" dirty="0">
                <a:solidFill>
                  <a:srgbClr val="515858"/>
                </a:solidFill>
                <a:latin typeface="Geist Mono" pitchFamily="34" charset="0"/>
                <a:ea typeface="Geist Mono" pitchFamily="34" charset="-122"/>
                <a:cs typeface="Geist Mono" pitchFamily="34" charset="-120"/>
              </a:rPr>
              <a:t>04 · THE RUN · HAC-341</a:t>
            </a:r>
            <a:endParaRPr lang="en-US" sz="1875" dirty="0"/>
          </a:p>
        </p:txBody>
      </p:sp>
      <p:sp>
        <p:nvSpPr>
          <p:cNvPr id="5" name="Shape 3"/>
          <p:cNvSpPr/>
          <p:nvPr/>
        </p:nvSpPr>
        <p:spPr>
          <a:xfrm>
            <a:off x="1143000" y="1214438"/>
            <a:ext cx="16002000" cy="8824913"/>
          </a:xfrm>
          <a:prstGeom prst="rect">
            <a:avLst/>
          </a:prstGeom>
          <a:solidFill>
            <a:srgbClr val="FFFFFF"/>
          </a:solidFill>
          <a:ln w="9525">
            <a:solidFill>
              <a:srgbClr val="9BA2A2"/>
            </a:solidFill>
            <a:prstDash val="solid"/>
          </a:ln>
        </p:spPr>
      </p:sp>
      <p:sp>
        <p:nvSpPr>
          <p:cNvPr id="6" name="Shape 4"/>
          <p:cNvSpPr/>
          <p:nvPr/>
        </p:nvSpPr>
        <p:spPr>
          <a:xfrm>
            <a:off x="1533525" y="1976438"/>
            <a:ext cx="15220950" cy="19050"/>
          </a:xfrm>
          <a:prstGeom prst="rect">
            <a:avLst/>
          </a:prstGeom>
          <a:solidFill>
            <a:srgbClr val="0B0D0E"/>
          </a:solidFill>
          <a:ln/>
        </p:spPr>
      </p:sp>
      <p:sp>
        <p:nvSpPr>
          <p:cNvPr id="7" name="Text 5"/>
          <p:cNvSpPr/>
          <p:nvPr/>
        </p:nvSpPr>
        <p:spPr>
          <a:xfrm>
            <a:off x="1533525" y="1547813"/>
            <a:ext cx="2933700"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37B7B"/>
                </a:solidFill>
                <a:latin typeface="Geist Mono" pitchFamily="34" charset="0"/>
                <a:ea typeface="Geist Mono" pitchFamily="34" charset="-122"/>
                <a:cs typeface="Geist Mono" pitchFamily="34" charset="-120"/>
              </a:rPr>
              <a:t>FIXED GEOMETRY</a:t>
            </a:r>
            <a:endParaRPr lang="en-US" sz="1800" dirty="0"/>
          </a:p>
        </p:txBody>
      </p:sp>
      <p:sp>
        <p:nvSpPr>
          <p:cNvPr id="8" name="Text 6"/>
          <p:cNvSpPr/>
          <p:nvPr/>
        </p:nvSpPr>
        <p:spPr>
          <a:xfrm>
            <a:off x="4505325" y="1547813"/>
            <a:ext cx="6569393"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0B0D0E"/>
                </a:solidFill>
                <a:latin typeface="Geist Mono" pitchFamily="34" charset="0"/>
                <a:ea typeface="Geist Mono" pitchFamily="34" charset="-122"/>
                <a:cs typeface="Geist Mono" pitchFamily="34" charset="-120"/>
              </a:rPr>
              <a:t>CLASS A · LOCAL EXPERIMENT</a:t>
            </a:r>
            <a:endParaRPr lang="en-US" sz="1800" dirty="0"/>
          </a:p>
        </p:txBody>
      </p:sp>
      <p:sp>
        <p:nvSpPr>
          <p:cNvPr id="9" name="Text 7"/>
          <p:cNvSpPr/>
          <p:nvPr/>
        </p:nvSpPr>
        <p:spPr>
          <a:xfrm>
            <a:off x="10782300" y="1547813"/>
            <a:ext cx="6569393"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0B0D0E"/>
                </a:solidFill>
                <a:latin typeface="Geist Mono" pitchFamily="34" charset="0"/>
                <a:ea typeface="Geist Mono" pitchFamily="34" charset="-122"/>
                <a:cs typeface="Geist Mono" pitchFamily="34" charset="-120"/>
              </a:rPr>
              <a:t>CLASS B · GOOGLE CLOUD</a:t>
            </a:r>
            <a:endParaRPr lang="en-US" sz="1800" dirty="0"/>
          </a:p>
        </p:txBody>
      </p:sp>
      <p:sp>
        <p:nvSpPr>
          <p:cNvPr id="10" name="Shape 8"/>
          <p:cNvSpPr/>
          <p:nvPr/>
        </p:nvSpPr>
        <p:spPr>
          <a:xfrm>
            <a:off x="1533525" y="2979911"/>
            <a:ext cx="15220950" cy="9525"/>
          </a:xfrm>
          <a:prstGeom prst="rect">
            <a:avLst/>
          </a:prstGeom>
          <a:solidFill>
            <a:srgbClr val="DDE0E0"/>
          </a:solidFill>
          <a:ln/>
        </p:spPr>
      </p:sp>
      <p:sp>
        <p:nvSpPr>
          <p:cNvPr id="11" name="Text 9"/>
          <p:cNvSpPr/>
          <p:nvPr/>
        </p:nvSpPr>
        <p:spPr>
          <a:xfrm>
            <a:off x="1533525" y="2504629"/>
            <a:ext cx="2933700" cy="346695"/>
          </a:xfrm>
          <a:prstGeom prst="rect">
            <a:avLst/>
          </a:prstGeom>
          <a:noFill/>
          <a:ln/>
        </p:spPr>
        <p:txBody>
          <a:bodyPr wrap="square" lIns="25400" tIns="25400" rIns="25400" bIns="25400" rtlCol="0" anchor="t">
            <a:normAutofit/>
          </a:bodyPr>
          <a:lstStyle/>
          <a:p>
            <a:pPr algn="l" indent="0" marL="0">
              <a:lnSpc>
                <a:spcPct val="104516"/>
              </a:lnSpc>
              <a:buNone/>
            </a:pPr>
            <a:r>
              <a:rPr lang="en-US" sz="1800" dirty="0">
                <a:solidFill>
                  <a:srgbClr val="0B0D0E"/>
                </a:solidFill>
                <a:latin typeface="Geist Mono" pitchFamily="34" charset="0"/>
                <a:ea typeface="Geist Mono" pitchFamily="34" charset="-122"/>
                <a:cs typeface="Geist Mono" pitchFamily="34" charset="-120"/>
              </a:rPr>
              <a:t>row 1 · 56px</a:t>
            </a:r>
            <a:endParaRPr lang="en-US" sz="1800" dirty="0"/>
          </a:p>
        </p:txBody>
      </p:sp>
      <p:sp>
        <p:nvSpPr>
          <p:cNvPr id="12" name="Text 10"/>
          <p:cNvSpPr/>
          <p:nvPr/>
        </p:nvSpPr>
        <p:spPr>
          <a:xfrm>
            <a:off x="4505325" y="2480816"/>
            <a:ext cx="6569393" cy="384795"/>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1E2323"/>
                </a:solidFill>
                <a:latin typeface="Geist" pitchFamily="34" charset="0"/>
                <a:ea typeface="Geist" pitchFamily="34" charset="-122"/>
                <a:cs typeface="Geist" pitchFamily="34" charset="-120"/>
              </a:rPr>
              <a:t>Lockup, class heading, proof switch</a:t>
            </a:r>
            <a:endParaRPr lang="en-US" sz="1950" dirty="0"/>
          </a:p>
        </p:txBody>
      </p:sp>
      <p:sp>
        <p:nvSpPr>
          <p:cNvPr id="13" name="Text 11"/>
          <p:cNvSpPr/>
          <p:nvPr/>
        </p:nvSpPr>
        <p:spPr>
          <a:xfrm>
            <a:off x="10782300" y="2480816"/>
            <a:ext cx="6569393" cy="384795"/>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1E2323"/>
                </a:solidFill>
                <a:latin typeface="Geist" pitchFamily="34" charset="0"/>
                <a:ea typeface="Geist" pitchFamily="34" charset="-122"/>
                <a:cs typeface="Geist" pitchFamily="34" charset="-120"/>
              </a:rPr>
              <a:t>Identical. Heading replaced.</a:t>
            </a:r>
            <a:endParaRPr lang="en-US" sz="1950" dirty="0"/>
          </a:p>
        </p:txBody>
      </p:sp>
      <p:sp>
        <p:nvSpPr>
          <p:cNvPr id="14" name="Shape 12"/>
          <p:cNvSpPr/>
          <p:nvPr/>
        </p:nvSpPr>
        <p:spPr>
          <a:xfrm>
            <a:off x="1533525" y="3973860"/>
            <a:ext cx="15220950" cy="9525"/>
          </a:xfrm>
          <a:prstGeom prst="rect">
            <a:avLst/>
          </a:prstGeom>
          <a:solidFill>
            <a:srgbClr val="DDE0E0"/>
          </a:solidFill>
          <a:ln/>
        </p:spPr>
      </p:sp>
      <p:sp>
        <p:nvSpPr>
          <p:cNvPr id="15" name="Text 13"/>
          <p:cNvSpPr/>
          <p:nvPr/>
        </p:nvSpPr>
        <p:spPr>
          <a:xfrm>
            <a:off x="1533525" y="3498577"/>
            <a:ext cx="2933700" cy="346695"/>
          </a:xfrm>
          <a:prstGeom prst="rect">
            <a:avLst/>
          </a:prstGeom>
          <a:noFill/>
          <a:ln/>
        </p:spPr>
        <p:txBody>
          <a:bodyPr wrap="square" lIns="25400" tIns="25400" rIns="25400" bIns="25400" rtlCol="0" anchor="t">
            <a:normAutofit/>
          </a:bodyPr>
          <a:lstStyle/>
          <a:p>
            <a:pPr algn="l" indent="0" marL="0">
              <a:lnSpc>
                <a:spcPct val="104516"/>
              </a:lnSpc>
              <a:buNone/>
            </a:pPr>
            <a:r>
              <a:rPr lang="en-US" sz="1800" dirty="0">
                <a:solidFill>
                  <a:srgbClr val="0B0D0E"/>
                </a:solidFill>
                <a:latin typeface="Geist Mono" pitchFamily="34" charset="0"/>
                <a:ea typeface="Geist Mono" pitchFamily="34" charset="-122"/>
                <a:cs typeface="Geist Mono" pitchFamily="34" charset="-120"/>
              </a:rPr>
              <a:t>row 2 · 38px</a:t>
            </a:r>
            <a:endParaRPr lang="en-US" sz="1800" dirty="0"/>
          </a:p>
        </p:txBody>
      </p:sp>
      <p:sp>
        <p:nvSpPr>
          <p:cNvPr id="16" name="Text 14"/>
          <p:cNvSpPr/>
          <p:nvPr/>
        </p:nvSpPr>
        <p:spPr>
          <a:xfrm>
            <a:off x="4505325" y="3474765"/>
            <a:ext cx="6569393" cy="384795"/>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1E2323"/>
                </a:solidFill>
                <a:latin typeface="Geist" pitchFamily="34" charset="0"/>
                <a:ea typeface="Geist" pitchFamily="34" charset="-122"/>
                <a:cs typeface="Geist" pitchFamily="34" charset="-120"/>
              </a:rPr>
              <a:t>run · issue · FROZEN · evidence · claim</a:t>
            </a:r>
            <a:endParaRPr lang="en-US" sz="1950" dirty="0"/>
          </a:p>
        </p:txBody>
      </p:sp>
      <p:sp>
        <p:nvSpPr>
          <p:cNvPr id="17" name="Text 15"/>
          <p:cNvSpPr/>
          <p:nvPr/>
        </p:nvSpPr>
        <p:spPr>
          <a:xfrm>
            <a:off x="10782300" y="3474765"/>
            <a:ext cx="6569393" cy="384795"/>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1E2323"/>
                </a:solidFill>
                <a:latin typeface="Geist" pitchFamily="34" charset="0"/>
                <a:ea typeface="Geist" pitchFamily="34" charset="-122"/>
                <a:cs typeface="Geist" pitchFamily="34" charset="-120"/>
              </a:rPr>
              <a:t>run · issue · FROZEN · runtime · publication · claim</a:t>
            </a:r>
            <a:endParaRPr lang="en-US" sz="1950" dirty="0"/>
          </a:p>
        </p:txBody>
      </p:sp>
      <p:sp>
        <p:nvSpPr>
          <p:cNvPr id="18" name="Shape 16"/>
          <p:cNvSpPr/>
          <p:nvPr/>
        </p:nvSpPr>
        <p:spPr>
          <a:xfrm>
            <a:off x="1533525" y="4967808"/>
            <a:ext cx="15220950" cy="9525"/>
          </a:xfrm>
          <a:prstGeom prst="rect">
            <a:avLst/>
          </a:prstGeom>
          <a:solidFill>
            <a:srgbClr val="DDE0E0"/>
          </a:solidFill>
          <a:ln/>
        </p:spPr>
      </p:sp>
      <p:sp>
        <p:nvSpPr>
          <p:cNvPr id="19" name="Text 17"/>
          <p:cNvSpPr/>
          <p:nvPr/>
        </p:nvSpPr>
        <p:spPr>
          <a:xfrm>
            <a:off x="1533525" y="4492526"/>
            <a:ext cx="2933700" cy="346695"/>
          </a:xfrm>
          <a:prstGeom prst="rect">
            <a:avLst/>
          </a:prstGeom>
          <a:noFill/>
          <a:ln/>
        </p:spPr>
        <p:txBody>
          <a:bodyPr wrap="square" lIns="25400" tIns="25400" rIns="25400" bIns="25400" rtlCol="0" anchor="t">
            <a:normAutofit/>
          </a:bodyPr>
          <a:lstStyle/>
          <a:p>
            <a:pPr algn="l" indent="0" marL="0">
              <a:lnSpc>
                <a:spcPct val="104516"/>
              </a:lnSpc>
              <a:buNone/>
            </a:pPr>
            <a:r>
              <a:rPr lang="en-US" sz="1800" dirty="0">
                <a:solidFill>
                  <a:srgbClr val="0B0D0E"/>
                </a:solidFill>
                <a:latin typeface="Geist Mono" pitchFamily="34" charset="0"/>
                <a:ea typeface="Geist Mono" pitchFamily="34" charset="-122"/>
                <a:cs typeface="Geist Mono" pitchFamily="34" charset="-120"/>
              </a:rPr>
              <a:t>row 3 · 62px</a:t>
            </a:r>
            <a:endParaRPr lang="en-US" sz="1800" dirty="0"/>
          </a:p>
        </p:txBody>
      </p:sp>
      <p:sp>
        <p:nvSpPr>
          <p:cNvPr id="20" name="Text 18"/>
          <p:cNvSpPr/>
          <p:nvPr/>
        </p:nvSpPr>
        <p:spPr>
          <a:xfrm>
            <a:off x="4505325" y="4468713"/>
            <a:ext cx="6569393" cy="384795"/>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1E2323"/>
                </a:solidFill>
                <a:latin typeface="Geist" pitchFamily="34" charset="0"/>
                <a:ea typeface="Geist" pitchFamily="34" charset="-122"/>
                <a:cs typeface="Geist" pitchFamily="34" charset="-120"/>
              </a:rPr>
              <a:t>Editorial verdict, top-aligned</a:t>
            </a:r>
            <a:endParaRPr lang="en-US" sz="1950" dirty="0"/>
          </a:p>
        </p:txBody>
      </p:sp>
      <p:sp>
        <p:nvSpPr>
          <p:cNvPr id="21" name="Text 19"/>
          <p:cNvSpPr/>
          <p:nvPr/>
        </p:nvSpPr>
        <p:spPr>
          <a:xfrm>
            <a:off x="10782300" y="4468713"/>
            <a:ext cx="6569393" cy="384795"/>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1E2323"/>
                </a:solidFill>
                <a:latin typeface="Geist" pitchFamily="34" charset="0"/>
                <a:ea typeface="Geist" pitchFamily="34" charset="-122"/>
                <a:cs typeface="Geist" pitchFamily="34" charset="-120"/>
              </a:rPr>
              <a:t>Same container, same first baseline</a:t>
            </a:r>
            <a:endParaRPr lang="en-US" sz="1950" dirty="0"/>
          </a:p>
        </p:txBody>
      </p:sp>
      <p:sp>
        <p:nvSpPr>
          <p:cNvPr id="22" name="Shape 20"/>
          <p:cNvSpPr/>
          <p:nvPr/>
        </p:nvSpPr>
        <p:spPr>
          <a:xfrm>
            <a:off x="1533525" y="6256065"/>
            <a:ext cx="15220950" cy="9525"/>
          </a:xfrm>
          <a:prstGeom prst="rect">
            <a:avLst/>
          </a:prstGeom>
          <a:solidFill>
            <a:srgbClr val="DDE0E0"/>
          </a:solidFill>
          <a:ln/>
        </p:spPr>
      </p:sp>
      <p:sp>
        <p:nvSpPr>
          <p:cNvPr id="23" name="Text 21"/>
          <p:cNvSpPr/>
          <p:nvPr/>
        </p:nvSpPr>
        <p:spPr>
          <a:xfrm>
            <a:off x="1533525" y="5486474"/>
            <a:ext cx="2747010" cy="655290"/>
          </a:xfrm>
          <a:prstGeom prst="rect">
            <a:avLst/>
          </a:prstGeom>
          <a:noFill/>
          <a:ln/>
        </p:spPr>
        <p:txBody>
          <a:bodyPr wrap="square" lIns="25400" tIns="25400" rIns="25400" bIns="25400" rtlCol="0" anchor="t">
            <a:normAutofit/>
          </a:bodyPr>
          <a:lstStyle/>
          <a:p>
            <a:pPr algn="l" indent="0" marL="0">
              <a:lnSpc>
                <a:spcPct val="104516"/>
              </a:lnSpc>
              <a:buNone/>
            </a:pPr>
            <a:r>
              <a:rPr lang="en-US" sz="1800" dirty="0">
                <a:solidFill>
                  <a:srgbClr val="0B0D0E"/>
                </a:solidFill>
                <a:latin typeface="Geist Mono" pitchFamily="34" charset="0"/>
                <a:ea typeface="Geist Mono" pitchFamily="34" charset="-122"/>
                <a:cs typeface="Geist Mono" pitchFamily="34" charset="-120"/>
              </a:rPr>
              <a:t>row 4 · 708px 812 / 1 / 627</a:t>
            </a:r>
            <a:endParaRPr lang="en-US" sz="1800" dirty="0"/>
          </a:p>
        </p:txBody>
      </p:sp>
      <p:sp>
        <p:nvSpPr>
          <p:cNvPr id="24" name="Text 22"/>
          <p:cNvSpPr/>
          <p:nvPr/>
        </p:nvSpPr>
        <p:spPr>
          <a:xfrm>
            <a:off x="4505325" y="5462662"/>
            <a:ext cx="6569393" cy="384795"/>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1E2323"/>
                </a:solidFill>
                <a:latin typeface="Geist" pitchFamily="34" charset="0"/>
                <a:ea typeface="Geist" pitchFamily="34" charset="-122"/>
                <a:cs typeface="Geist" pitchFamily="34" charset="-120"/>
              </a:rPr>
              <a:t>Spine, outcome, control, verification</a:t>
            </a:r>
            <a:endParaRPr lang="en-US" sz="1950" dirty="0"/>
          </a:p>
        </p:txBody>
      </p:sp>
      <p:sp>
        <p:nvSpPr>
          <p:cNvPr id="25" name="Text 23"/>
          <p:cNvSpPr/>
          <p:nvPr/>
        </p:nvSpPr>
        <p:spPr>
          <a:xfrm>
            <a:off x="10782300" y="5462662"/>
            <a:ext cx="6569393" cy="384795"/>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1E2323"/>
                </a:solidFill>
                <a:latin typeface="Geist" pitchFamily="34" charset="0"/>
                <a:ea typeface="Geist" pitchFamily="34" charset="-122"/>
                <a:cs typeface="Geist" pitchFamily="34" charset="-120"/>
              </a:rPr>
              <a:t>The same four regions, class contents</a:t>
            </a:r>
            <a:endParaRPr lang="en-US" sz="1950" dirty="0"/>
          </a:p>
        </p:txBody>
      </p:sp>
      <p:sp>
        <p:nvSpPr>
          <p:cNvPr id="26" name="Shape 24"/>
          <p:cNvSpPr/>
          <p:nvPr/>
        </p:nvSpPr>
        <p:spPr>
          <a:xfrm>
            <a:off x="1533525" y="7544321"/>
            <a:ext cx="15220950" cy="9525"/>
          </a:xfrm>
          <a:prstGeom prst="rect">
            <a:avLst/>
          </a:prstGeom>
          <a:solidFill>
            <a:srgbClr val="DDE0E0"/>
          </a:solidFill>
          <a:ln/>
        </p:spPr>
      </p:sp>
      <p:sp>
        <p:nvSpPr>
          <p:cNvPr id="27" name="Text 25"/>
          <p:cNvSpPr/>
          <p:nvPr/>
        </p:nvSpPr>
        <p:spPr>
          <a:xfrm>
            <a:off x="1533525" y="6774731"/>
            <a:ext cx="2747010" cy="655290"/>
          </a:xfrm>
          <a:prstGeom prst="rect">
            <a:avLst/>
          </a:prstGeom>
          <a:noFill/>
          <a:ln/>
        </p:spPr>
        <p:txBody>
          <a:bodyPr wrap="square" lIns="25400" tIns="25400" rIns="25400" bIns="25400" rtlCol="0" anchor="t">
            <a:normAutofit/>
          </a:bodyPr>
          <a:lstStyle/>
          <a:p>
            <a:pPr algn="l" indent="0" marL="0">
              <a:lnSpc>
                <a:spcPct val="104516"/>
              </a:lnSpc>
              <a:buNone/>
            </a:pPr>
            <a:r>
              <a:rPr lang="en-US" sz="1800" dirty="0">
                <a:solidFill>
                  <a:srgbClr val="0B0D0E"/>
                </a:solidFill>
                <a:latin typeface="Geist Mono" pitchFamily="34" charset="0"/>
                <a:ea typeface="Geist Mono" pitchFamily="34" charset="-122"/>
                <a:cs typeface="Geist Mono" pitchFamily="34" charset="-120"/>
              </a:rPr>
              <a:t>outcome sub-slots 106 / 20 / 110</a:t>
            </a:r>
            <a:endParaRPr lang="en-US" sz="1800" dirty="0"/>
          </a:p>
        </p:txBody>
      </p:sp>
      <p:sp>
        <p:nvSpPr>
          <p:cNvPr id="28" name="Text 26"/>
          <p:cNvSpPr/>
          <p:nvPr/>
        </p:nvSpPr>
        <p:spPr>
          <a:xfrm>
            <a:off x="4505325" y="6750918"/>
            <a:ext cx="6569393" cy="384795"/>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1E2323"/>
                </a:solidFill>
                <a:latin typeface="Geist" pitchFamily="34" charset="0"/>
                <a:ea typeface="Geist" pitchFamily="34" charset="-122"/>
                <a:cs typeface="Geist" pitchFamily="34" charset="-120"/>
              </a:rPr>
              <a:t>Baseline arm, then selected arm at 34px</a:t>
            </a:r>
            <a:endParaRPr lang="en-US" sz="1950" dirty="0"/>
          </a:p>
        </p:txBody>
      </p:sp>
      <p:sp>
        <p:nvSpPr>
          <p:cNvPr id="29" name="Text 27"/>
          <p:cNvSpPr/>
          <p:nvPr/>
        </p:nvSpPr>
        <p:spPr>
          <a:xfrm>
            <a:off x="10782300" y="6750918"/>
            <a:ext cx="6569393" cy="384795"/>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1E2323"/>
                </a:solidFill>
                <a:latin typeface="Geist" pitchFamily="34" charset="0"/>
                <a:ea typeface="Geist" pitchFamily="34" charset="-122"/>
                <a:cs typeface="Geist" pitchFamily="34" charset="-120"/>
              </a:rPr>
              <a:t>Decision and effect, then observation at 34px</a:t>
            </a:r>
            <a:endParaRPr lang="en-US" sz="1950" dirty="0"/>
          </a:p>
        </p:txBody>
      </p:sp>
      <p:sp>
        <p:nvSpPr>
          <p:cNvPr id="30" name="Text 28"/>
          <p:cNvSpPr/>
          <p:nvPr/>
        </p:nvSpPr>
        <p:spPr>
          <a:xfrm>
            <a:off x="1533525" y="8062987"/>
            <a:ext cx="2747010" cy="655290"/>
          </a:xfrm>
          <a:prstGeom prst="rect">
            <a:avLst/>
          </a:prstGeom>
          <a:noFill/>
          <a:ln/>
        </p:spPr>
        <p:txBody>
          <a:bodyPr wrap="square" lIns="25400" tIns="25400" rIns="25400" bIns="25400" rtlCol="0" anchor="t">
            <a:normAutofit/>
          </a:bodyPr>
          <a:lstStyle/>
          <a:p>
            <a:pPr algn="l" indent="0" marL="0">
              <a:lnSpc>
                <a:spcPct val="104516"/>
              </a:lnSpc>
              <a:buNone/>
            </a:pPr>
            <a:r>
              <a:rPr lang="en-US" sz="1800" dirty="0">
                <a:solidFill>
                  <a:srgbClr val="0B0D0E"/>
                </a:solidFill>
                <a:latin typeface="Geist Mono" pitchFamily="34" charset="0"/>
                <a:ea typeface="Geist Mono" pitchFamily="34" charset="-122"/>
                <a:cs typeface="Geist Mono" pitchFamily="34" charset="-120"/>
              </a:rPr>
              <a:t>primary numeral top 358.8px</a:t>
            </a:r>
            <a:endParaRPr lang="en-US" sz="1800" dirty="0"/>
          </a:p>
        </p:txBody>
      </p:sp>
      <p:sp>
        <p:nvSpPr>
          <p:cNvPr id="31" name="Text 29"/>
          <p:cNvSpPr/>
          <p:nvPr/>
        </p:nvSpPr>
        <p:spPr>
          <a:xfrm>
            <a:off x="4505325" y="8039174"/>
            <a:ext cx="6569393" cy="384795"/>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1E2323"/>
                </a:solidFill>
                <a:latin typeface="Geist" pitchFamily="34" charset="0"/>
                <a:ea typeface="Geist" pitchFamily="34" charset="-122"/>
                <a:cs typeface="Geist" pitchFamily="34" charset="-120"/>
              </a:rPr>
              <a:t>Measured identical in both classes</a:t>
            </a:r>
            <a:endParaRPr lang="en-US" sz="1950" dirty="0"/>
          </a:p>
        </p:txBody>
      </p:sp>
      <p:sp>
        <p:nvSpPr>
          <p:cNvPr id="32" name="Text 30"/>
          <p:cNvSpPr/>
          <p:nvPr/>
        </p:nvSpPr>
        <p:spPr>
          <a:xfrm>
            <a:off x="10782300" y="8039174"/>
            <a:ext cx="6569393" cy="384795"/>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1E2323"/>
                </a:solidFill>
                <a:latin typeface="Geist" pitchFamily="34" charset="0"/>
                <a:ea typeface="Geist" pitchFamily="34" charset="-122"/>
                <a:cs typeface="Geist" pitchFamily="34" charset="-120"/>
              </a:rPr>
              <a:t>Measured identical in both classes</a:t>
            </a:r>
            <a:endParaRPr lang="en-US" sz="1950" dirty="0"/>
          </a:p>
        </p:txBody>
      </p:sp>
      <p:sp>
        <p:nvSpPr>
          <p:cNvPr id="33" name="Shape 31"/>
          <p:cNvSpPr/>
          <p:nvPr/>
        </p:nvSpPr>
        <p:spPr>
          <a:xfrm>
            <a:off x="1533525" y="9165506"/>
            <a:ext cx="15220950" cy="9525"/>
          </a:xfrm>
          <a:prstGeom prst="rect">
            <a:avLst/>
          </a:prstGeom>
          <a:solidFill>
            <a:srgbClr val="DDE0E0"/>
          </a:solidFill>
          <a:ln/>
        </p:spPr>
      </p:sp>
      <p:sp>
        <p:nvSpPr>
          <p:cNvPr id="34" name="Text 32"/>
          <p:cNvSpPr/>
          <p:nvPr/>
        </p:nvSpPr>
        <p:spPr>
          <a:xfrm>
            <a:off x="1533525" y="9346481"/>
            <a:ext cx="15677579" cy="397148"/>
          </a:xfrm>
          <a:prstGeom prst="rect">
            <a:avLst/>
          </a:prstGeom>
          <a:noFill/>
          <a:ln/>
        </p:spPr>
        <p:txBody>
          <a:bodyPr wrap="square" lIns="25400" tIns="25400" rIns="25400" bIns="25400" rtlCol="0" anchor="t">
            <a:normAutofit/>
          </a:bodyPr>
          <a:lstStyle/>
          <a:p>
            <a:pPr algn="l" indent="0" marL="0">
              <a:lnSpc>
                <a:spcPct val="112537"/>
              </a:lnSpc>
              <a:buNone/>
            </a:pPr>
            <a:r>
              <a:rPr lang="en-US" sz="1950" dirty="0">
                <a:solidFill>
                  <a:srgbClr val="515858"/>
                </a:solidFill>
                <a:latin typeface="Geist" pitchFamily="34" charset="0"/>
                <a:ea typeface="Geist" pitchFamily="34" charset="-122"/>
                <a:cs typeface="Geist" pitchFamily="34" charset="-120"/>
              </a:rPr>
              <a:t>Parity is geometric only. No value crosses the switch, and a field absent from one class renders as a named absence.</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DE0E0"/>
        </a:solidFill>
      </p:bgPr>
    </p:bg>
    <p:spTree>
      <p:nvGrpSpPr>
        <p:cNvPr id="1" name=""/>
        <p:cNvGrpSpPr/>
        <p:nvPr/>
      </p:nvGrpSpPr>
      <p:grpSpPr>
        <a:xfrm>
          <a:off x="0" y="0"/>
          <a:ext cx="0" cy="0"/>
          <a:chOff x="0" y="0"/>
          <a:chExt cx="0" cy="0"/>
        </a:xfrm>
      </p:grpSpPr>
      <p:sp>
        <p:nvSpPr>
          <p:cNvPr id="2" name="Text 0"/>
          <p:cNvSpPr/>
          <p:nvPr/>
        </p:nvSpPr>
        <p:spPr>
          <a:xfrm>
            <a:off x="1143000" y="247650"/>
            <a:ext cx="3189416" cy="457200"/>
          </a:xfrm>
          <a:prstGeom prst="rect">
            <a:avLst/>
          </a:prstGeom>
          <a:noFill/>
          <a:ln/>
        </p:spPr>
        <p:txBody>
          <a:bodyPr wrap="square" lIns="25400" tIns="25400" rIns="25400" bIns="25400" rtlCol="0" anchor="t">
            <a:normAutofit/>
          </a:bodyPr>
          <a:lstStyle/>
          <a:p>
            <a:pPr algn="l" indent="0" marL="0">
              <a:buNone/>
            </a:pPr>
            <a:r>
              <a:rPr lang="en-US" sz="2550" spc="-51" kern="0" dirty="0">
                <a:solidFill>
                  <a:srgbClr val="0B0D0E"/>
                </a:solidFill>
                <a:latin typeface="Geist" pitchFamily="34" charset="0"/>
                <a:ea typeface="Geist" pitchFamily="34" charset="-122"/>
                <a:cs typeface="Geist" pitchFamily="34" charset="-120"/>
              </a:rPr>
              <a:t>Surfaces and states</a:t>
            </a:r>
            <a:endParaRPr lang="en-US" sz="2550" dirty="0"/>
          </a:p>
        </p:txBody>
      </p:sp>
      <p:sp>
        <p:nvSpPr>
          <p:cNvPr id="3" name="Text 1"/>
          <p:cNvSpPr/>
          <p:nvPr/>
        </p:nvSpPr>
        <p:spPr>
          <a:xfrm>
            <a:off x="1143000" y="733425"/>
            <a:ext cx="5343525" cy="347663"/>
          </a:xfrm>
          <a:prstGeom prst="rect">
            <a:avLst/>
          </a:prstGeom>
          <a:noFill/>
          <a:ln/>
        </p:spPr>
        <p:txBody>
          <a:bodyPr wrap="square" lIns="25400" tIns="25400" rIns="25400" bIns="25400" rtlCol="0" anchor="t">
            <a:normAutofit/>
          </a:bodyPr>
          <a:lstStyle/>
          <a:p>
            <a:pPr algn="l" indent="0" marL="0">
              <a:buNone/>
            </a:pPr>
            <a:r>
              <a:rPr lang="en-US" sz="1875" spc="150" kern="0" dirty="0">
                <a:solidFill>
                  <a:srgbClr val="515858"/>
                </a:solidFill>
                <a:latin typeface="Geist Mono" pitchFamily="34" charset="0"/>
                <a:ea typeface="Geist Mono" pitchFamily="34" charset="-122"/>
                <a:cs typeface="Geist Mono" pitchFamily="34" charset="-120"/>
              </a:rPr>
              <a:t>ONE LADDER, APPLIED EVERYWHERE</a:t>
            </a:r>
            <a:endParaRPr lang="en-US" sz="1875" dirty="0"/>
          </a:p>
        </p:txBody>
      </p:sp>
      <p:sp>
        <p:nvSpPr>
          <p:cNvPr id="4" name="Text 2"/>
          <p:cNvSpPr/>
          <p:nvPr/>
        </p:nvSpPr>
        <p:spPr>
          <a:xfrm>
            <a:off x="13477875" y="333375"/>
            <a:ext cx="4033838" cy="347663"/>
          </a:xfrm>
          <a:prstGeom prst="rect">
            <a:avLst/>
          </a:prstGeom>
          <a:noFill/>
          <a:ln/>
        </p:spPr>
        <p:txBody>
          <a:bodyPr wrap="none" lIns="25400" tIns="25400" rIns="25400" bIns="25400" rtlCol="0" anchor="t">
            <a:normAutofit/>
          </a:bodyPr>
          <a:lstStyle/>
          <a:p>
            <a:pPr algn="l" indent="0" marL="0">
              <a:buNone/>
            </a:pPr>
            <a:r>
              <a:rPr lang="en-US" sz="1875" spc="188" kern="0" dirty="0">
                <a:solidFill>
                  <a:srgbClr val="515858"/>
                </a:solidFill>
                <a:latin typeface="Geist Mono" pitchFamily="34" charset="0"/>
                <a:ea typeface="Geist Mono" pitchFamily="34" charset="-122"/>
                <a:cs typeface="Geist Mono" pitchFamily="34" charset="-120"/>
              </a:rPr>
              <a:t>05 · THE RUN · HAC-341</a:t>
            </a:r>
            <a:endParaRPr lang="en-US" sz="1875" dirty="0"/>
          </a:p>
        </p:txBody>
      </p:sp>
      <p:sp>
        <p:nvSpPr>
          <p:cNvPr id="5" name="Shape 3"/>
          <p:cNvSpPr/>
          <p:nvPr/>
        </p:nvSpPr>
        <p:spPr>
          <a:xfrm>
            <a:off x="1143000" y="3155156"/>
            <a:ext cx="8252222" cy="4643438"/>
          </a:xfrm>
          <a:prstGeom prst="rect">
            <a:avLst/>
          </a:prstGeom>
          <a:solidFill>
            <a:srgbClr val="0B0D0E"/>
          </a:solidFill>
          <a:ln w="9525">
            <a:solidFill>
              <a:srgbClr val="343A3A"/>
            </a:solidFill>
            <a:prstDash val="solid"/>
          </a:ln>
        </p:spPr>
      </p:sp>
      <p:sp>
        <p:nvSpPr>
          <p:cNvPr id="6" name="Text 4"/>
          <p:cNvSpPr/>
          <p:nvPr/>
        </p:nvSpPr>
        <p:spPr>
          <a:xfrm>
            <a:off x="1438275" y="3431381"/>
            <a:ext cx="8427839"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37B7B"/>
                </a:solidFill>
                <a:latin typeface="Geist Mono" pitchFamily="34" charset="0"/>
                <a:ea typeface="Geist Mono" pitchFamily="34" charset="-122"/>
                <a:cs typeface="Geist Mono" pitchFamily="34" charset="-120"/>
              </a:rPr>
              <a:t>SURFACE LADDER</a:t>
            </a:r>
            <a:endParaRPr lang="en-US" sz="1800" dirty="0"/>
          </a:p>
        </p:txBody>
      </p:sp>
      <p:sp>
        <p:nvSpPr>
          <p:cNvPr id="7" name="Shape 5"/>
          <p:cNvSpPr/>
          <p:nvPr/>
        </p:nvSpPr>
        <p:spPr>
          <a:xfrm>
            <a:off x="1438275" y="3898106"/>
            <a:ext cx="7661672" cy="633413"/>
          </a:xfrm>
          <a:prstGeom prst="rect">
            <a:avLst/>
          </a:prstGeom>
          <a:solidFill>
            <a:srgbClr val="0B0D0E"/>
          </a:solidFill>
          <a:ln w="9525">
            <a:solidFill>
              <a:srgbClr val="1E2323"/>
            </a:solidFill>
            <a:prstDash val="solid"/>
          </a:ln>
        </p:spPr>
      </p:sp>
      <p:sp>
        <p:nvSpPr>
          <p:cNvPr id="8" name="Text 6"/>
          <p:cNvSpPr/>
          <p:nvPr/>
        </p:nvSpPr>
        <p:spPr>
          <a:xfrm>
            <a:off x="1638300" y="4060031"/>
            <a:ext cx="2357438" cy="347663"/>
          </a:xfrm>
          <a:prstGeom prst="rect">
            <a:avLst/>
          </a:prstGeom>
          <a:noFill/>
          <a:ln/>
        </p:spPr>
        <p:txBody>
          <a:bodyPr wrap="square" lIns="25400" tIns="25400" rIns="25400" bIns="25400" rtlCol="0" anchor="t">
            <a:normAutofit/>
          </a:bodyPr>
          <a:lstStyle/>
          <a:p>
            <a:pPr algn="l" indent="0" marL="0">
              <a:buNone/>
            </a:pPr>
            <a:r>
              <a:rPr lang="en-US" sz="1875" dirty="0">
                <a:solidFill>
                  <a:srgbClr val="FBFBFA"/>
                </a:solidFill>
                <a:latin typeface="Geist Mono" pitchFamily="34" charset="0"/>
                <a:ea typeface="Geist Mono" pitchFamily="34" charset="-122"/>
                <a:cs typeface="Geist Mono" pitchFamily="34" charset="-120"/>
              </a:rPr>
              <a:t>shell · #0b0d0e</a:t>
            </a:r>
            <a:endParaRPr lang="en-US" sz="1875" dirty="0"/>
          </a:p>
        </p:txBody>
      </p:sp>
      <p:sp>
        <p:nvSpPr>
          <p:cNvPr id="9" name="Text 7"/>
          <p:cNvSpPr/>
          <p:nvPr/>
        </p:nvSpPr>
        <p:spPr>
          <a:xfrm>
            <a:off x="4785122" y="4069556"/>
            <a:ext cx="452628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37B7B"/>
                </a:solidFill>
                <a:latin typeface="Geist Mono" pitchFamily="34" charset="0"/>
                <a:ea typeface="Geist Mono" pitchFamily="34" charset="-122"/>
                <a:cs typeface="Geist Mono" pitchFamily="34" charset="-120"/>
              </a:rPr>
              <a:t>elev-0 · never themed by class</a:t>
            </a:r>
            <a:endParaRPr lang="en-US" sz="1800" dirty="0"/>
          </a:p>
        </p:txBody>
      </p:sp>
      <p:sp>
        <p:nvSpPr>
          <p:cNvPr id="10" name="Shape 8"/>
          <p:cNvSpPr/>
          <p:nvPr/>
        </p:nvSpPr>
        <p:spPr>
          <a:xfrm>
            <a:off x="1438275" y="4645819"/>
            <a:ext cx="7661672" cy="633413"/>
          </a:xfrm>
          <a:prstGeom prst="rect">
            <a:avLst/>
          </a:prstGeom>
          <a:solidFill>
            <a:srgbClr val="141818"/>
          </a:solidFill>
          <a:ln w="9525">
            <a:solidFill>
              <a:srgbClr val="1E2323"/>
            </a:solidFill>
            <a:prstDash val="solid"/>
          </a:ln>
        </p:spPr>
      </p:sp>
      <p:sp>
        <p:nvSpPr>
          <p:cNvPr id="11" name="Text 9"/>
          <p:cNvSpPr/>
          <p:nvPr/>
        </p:nvSpPr>
        <p:spPr>
          <a:xfrm>
            <a:off x="1638300" y="4807744"/>
            <a:ext cx="3457575" cy="347663"/>
          </a:xfrm>
          <a:prstGeom prst="rect">
            <a:avLst/>
          </a:prstGeom>
          <a:noFill/>
          <a:ln/>
        </p:spPr>
        <p:txBody>
          <a:bodyPr wrap="square" lIns="25400" tIns="25400" rIns="25400" bIns="25400" rtlCol="0" anchor="t">
            <a:normAutofit/>
          </a:bodyPr>
          <a:lstStyle/>
          <a:p>
            <a:pPr algn="l" indent="0" marL="0">
              <a:buNone/>
            </a:pPr>
            <a:r>
              <a:rPr lang="en-US" sz="1875" dirty="0">
                <a:solidFill>
                  <a:srgbClr val="FBFBFA"/>
                </a:solidFill>
                <a:latin typeface="Geist Mono" pitchFamily="34" charset="0"/>
                <a:ea typeface="Geist Mono" pitchFamily="34" charset="-122"/>
                <a:cs typeface="Geist Mono" pitchFamily="34" charset="-120"/>
              </a:rPr>
              <a:t>work surface · #141818</a:t>
            </a:r>
            <a:endParaRPr lang="en-US" sz="1875" dirty="0"/>
          </a:p>
        </p:txBody>
      </p:sp>
      <p:sp>
        <p:nvSpPr>
          <p:cNvPr id="12" name="Text 10"/>
          <p:cNvSpPr/>
          <p:nvPr/>
        </p:nvSpPr>
        <p:spPr>
          <a:xfrm>
            <a:off x="5333702" y="4817269"/>
            <a:ext cx="392284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37B7B"/>
                </a:solidFill>
                <a:latin typeface="Geist Mono" pitchFamily="34" charset="0"/>
                <a:ea typeface="Geist Mono" pitchFamily="34" charset="-122"/>
                <a:cs typeface="Geist Mono" pitchFamily="34" charset="-120"/>
              </a:rPr>
              <a:t>row 4 · evidence sits here</a:t>
            </a:r>
            <a:endParaRPr lang="en-US" sz="1800" dirty="0"/>
          </a:p>
        </p:txBody>
      </p:sp>
      <p:sp>
        <p:nvSpPr>
          <p:cNvPr id="13" name="Shape 11"/>
          <p:cNvSpPr/>
          <p:nvPr/>
        </p:nvSpPr>
        <p:spPr>
          <a:xfrm>
            <a:off x="1438275" y="5393531"/>
            <a:ext cx="7661672" cy="633413"/>
          </a:xfrm>
          <a:prstGeom prst="rect">
            <a:avLst/>
          </a:prstGeom>
          <a:solidFill>
            <a:srgbClr val="FBFBFA"/>
          </a:solidFill>
          <a:ln w="9525">
            <a:solidFill>
              <a:srgbClr val="DDE0E0"/>
            </a:solidFill>
            <a:prstDash val="solid"/>
          </a:ln>
          <a:effectLst>
            <a:outerShdw sx="100000" sy="100000" kx="0" ky="0" algn="bl" rotWithShape="0" blurRad="228600" dist="76200" dir="5400000">
              <a:srgbClr val="000000">
                <a:alpha val="55000"/>
              </a:srgbClr>
            </a:outerShdw>
          </a:effectLst>
        </p:spPr>
      </p:sp>
      <p:sp>
        <p:nvSpPr>
          <p:cNvPr id="14" name="Text 12"/>
          <p:cNvSpPr/>
          <p:nvPr/>
        </p:nvSpPr>
        <p:spPr>
          <a:xfrm>
            <a:off x="1638300" y="5555456"/>
            <a:ext cx="2357438" cy="347663"/>
          </a:xfrm>
          <a:prstGeom prst="rect">
            <a:avLst/>
          </a:prstGeom>
          <a:noFill/>
          <a:ln/>
        </p:spPr>
        <p:txBody>
          <a:bodyPr wrap="square" lIns="25400" tIns="25400" rIns="25400" bIns="25400" rtlCol="0" anchor="t">
            <a:normAutofit/>
          </a:bodyPr>
          <a:lstStyle/>
          <a:p>
            <a:pPr algn="l" indent="0" marL="0">
              <a:buNone/>
            </a:pPr>
            <a:r>
              <a:rPr lang="en-US" sz="1875" dirty="0">
                <a:solidFill>
                  <a:srgbClr val="0B0D0E"/>
                </a:solidFill>
                <a:latin typeface="Geist Mono" pitchFamily="34" charset="0"/>
                <a:ea typeface="Geist Mono" pitchFamily="34" charset="-122"/>
                <a:cs typeface="Geist Mono" pitchFamily="34" charset="-120"/>
              </a:rPr>
              <a:t>class A · paper</a:t>
            </a:r>
            <a:endParaRPr lang="en-US" sz="1875" dirty="0"/>
          </a:p>
        </p:txBody>
      </p:sp>
      <p:sp>
        <p:nvSpPr>
          <p:cNvPr id="15" name="Text 13"/>
          <p:cNvSpPr/>
          <p:nvPr/>
        </p:nvSpPr>
        <p:spPr>
          <a:xfrm>
            <a:off x="4647902" y="5564981"/>
            <a:ext cx="467722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37B7B"/>
                </a:solidFill>
                <a:latin typeface="Geist Mono" pitchFamily="34" charset="0"/>
                <a:ea typeface="Geist Mono" pitchFamily="34" charset="-122"/>
                <a:cs typeface="Geist Mono" pitchFamily="34" charset="-120"/>
              </a:rPr>
              <a:t>elev-2 · local frozen artifacts</a:t>
            </a:r>
            <a:endParaRPr lang="en-US" sz="1800" dirty="0"/>
          </a:p>
        </p:txBody>
      </p:sp>
      <p:sp>
        <p:nvSpPr>
          <p:cNvPr id="16" name="Shape 14"/>
          <p:cNvSpPr/>
          <p:nvPr/>
        </p:nvSpPr>
        <p:spPr>
          <a:xfrm>
            <a:off x="1438275" y="6141244"/>
            <a:ext cx="7661672" cy="633413"/>
          </a:xfrm>
          <a:prstGeom prst="rect">
            <a:avLst/>
          </a:prstGeom>
          <a:solidFill>
            <a:srgbClr val="0F1212"/>
          </a:solidFill>
          <a:ln w="9525">
            <a:solidFill>
              <a:srgbClr val="343A3A"/>
            </a:solidFill>
            <a:prstDash val="solid"/>
          </a:ln>
          <a:effectLst>
            <a:outerShdw sx="100000" sy="100000" kx="0" ky="0" algn="bl" rotWithShape="0" blurRad="228600" dist="76200" dir="5400000">
              <a:srgbClr val="000000">
                <a:alpha val="55000"/>
              </a:srgbClr>
            </a:outerShdw>
          </a:effectLst>
        </p:spPr>
      </p:sp>
      <p:sp>
        <p:nvSpPr>
          <p:cNvPr id="17" name="Text 15"/>
          <p:cNvSpPr/>
          <p:nvPr/>
        </p:nvSpPr>
        <p:spPr>
          <a:xfrm>
            <a:off x="1638300" y="6303169"/>
            <a:ext cx="2043113" cy="347663"/>
          </a:xfrm>
          <a:prstGeom prst="rect">
            <a:avLst/>
          </a:prstGeom>
          <a:noFill/>
          <a:ln/>
        </p:spPr>
        <p:txBody>
          <a:bodyPr wrap="square" lIns="25400" tIns="25400" rIns="25400" bIns="25400" rtlCol="0" anchor="t">
            <a:normAutofit/>
          </a:bodyPr>
          <a:lstStyle/>
          <a:p>
            <a:pPr algn="l" indent="0" marL="0">
              <a:buNone/>
            </a:pPr>
            <a:r>
              <a:rPr lang="en-US" sz="1875" dirty="0">
                <a:solidFill>
                  <a:srgbClr val="FBFBFA"/>
                </a:solidFill>
                <a:latin typeface="Geist Mono" pitchFamily="34" charset="0"/>
                <a:ea typeface="Geist Mono" pitchFamily="34" charset="-122"/>
                <a:cs typeface="Geist Mono" pitchFamily="34" charset="-120"/>
              </a:rPr>
              <a:t>class B · ink</a:t>
            </a:r>
            <a:endParaRPr lang="en-US" sz="1875" dirty="0"/>
          </a:p>
        </p:txBody>
      </p:sp>
      <p:sp>
        <p:nvSpPr>
          <p:cNvPr id="18" name="Text 16"/>
          <p:cNvSpPr/>
          <p:nvPr/>
        </p:nvSpPr>
        <p:spPr>
          <a:xfrm>
            <a:off x="4373612" y="6312694"/>
            <a:ext cx="497894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37B7B"/>
                </a:solidFill>
                <a:latin typeface="Geist Mono" pitchFamily="34" charset="0"/>
                <a:ea typeface="Geist Mono" pitchFamily="34" charset="-122"/>
                <a:cs typeface="Geist Mono" pitchFamily="34" charset="-120"/>
              </a:rPr>
              <a:t>elev-2 · recorded cloud traversal</a:t>
            </a:r>
            <a:endParaRPr lang="en-US" sz="1800" dirty="0"/>
          </a:p>
        </p:txBody>
      </p:sp>
      <p:sp>
        <p:nvSpPr>
          <p:cNvPr id="19" name="Shape 17"/>
          <p:cNvSpPr/>
          <p:nvPr/>
        </p:nvSpPr>
        <p:spPr>
          <a:xfrm>
            <a:off x="1438275" y="6888956"/>
            <a:ext cx="7661672" cy="633413"/>
          </a:xfrm>
          <a:prstGeom prst="rect">
            <a:avLst/>
          </a:prstGeom>
          <a:solidFill>
            <a:srgbClr val="1E2323"/>
          </a:solidFill>
          <a:ln w="9525">
            <a:solidFill>
              <a:srgbClr val="515858"/>
            </a:solidFill>
            <a:prstDash val="solid"/>
          </a:ln>
          <a:effectLst>
            <a:outerShdw sx="100000" sy="100000" kx="0" ky="0" algn="bl" rotWithShape="0" blurRad="609600" dist="228600" dir="5400000">
              <a:srgbClr val="000000">
                <a:alpha val="65000"/>
              </a:srgbClr>
            </a:outerShdw>
          </a:effectLst>
        </p:spPr>
      </p:sp>
      <p:sp>
        <p:nvSpPr>
          <p:cNvPr id="20" name="Text 18"/>
          <p:cNvSpPr/>
          <p:nvPr/>
        </p:nvSpPr>
        <p:spPr>
          <a:xfrm>
            <a:off x="1638300" y="7050881"/>
            <a:ext cx="1728788" cy="347663"/>
          </a:xfrm>
          <a:prstGeom prst="rect">
            <a:avLst/>
          </a:prstGeom>
          <a:noFill/>
          <a:ln/>
        </p:spPr>
        <p:txBody>
          <a:bodyPr wrap="square" lIns="25400" tIns="25400" rIns="25400" bIns="25400" rtlCol="0" anchor="t">
            <a:normAutofit/>
          </a:bodyPr>
          <a:lstStyle/>
          <a:p>
            <a:pPr algn="l" indent="0" marL="0">
              <a:buNone/>
            </a:pPr>
            <a:r>
              <a:rPr lang="en-US" sz="1875" dirty="0">
                <a:solidFill>
                  <a:srgbClr val="FBFBFA"/>
                </a:solidFill>
                <a:latin typeface="Geist Mono" pitchFamily="34" charset="0"/>
                <a:ea typeface="Geist Mono" pitchFamily="34" charset="-122"/>
                <a:cs typeface="Geist Mono" pitchFamily="34" charset="-120"/>
              </a:rPr>
              <a:t>drawer · L2</a:t>
            </a:r>
            <a:endParaRPr lang="en-US" sz="1875" dirty="0"/>
          </a:p>
        </p:txBody>
      </p:sp>
      <p:sp>
        <p:nvSpPr>
          <p:cNvPr id="21" name="Text 19"/>
          <p:cNvSpPr/>
          <p:nvPr/>
        </p:nvSpPr>
        <p:spPr>
          <a:xfrm>
            <a:off x="4236467" y="7060406"/>
            <a:ext cx="512980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37B7B"/>
                </a:solidFill>
                <a:latin typeface="Geist Mono" pitchFamily="34" charset="0"/>
                <a:ea typeface="Geist Mono" pitchFamily="34" charset="-122"/>
                <a:cs typeface="Geist Mono" pitchFamily="34" charset="-120"/>
              </a:rPr>
              <a:t>elev-3 · the only floating surface</a:t>
            </a:r>
            <a:endParaRPr lang="en-US" sz="1800" dirty="0"/>
          </a:p>
        </p:txBody>
      </p:sp>
      <p:sp>
        <p:nvSpPr>
          <p:cNvPr id="22" name="Shape 20"/>
          <p:cNvSpPr/>
          <p:nvPr/>
        </p:nvSpPr>
        <p:spPr>
          <a:xfrm>
            <a:off x="9642872" y="3155156"/>
            <a:ext cx="7502128" cy="4943475"/>
          </a:xfrm>
          <a:prstGeom prst="rect">
            <a:avLst/>
          </a:prstGeom>
          <a:solidFill>
            <a:srgbClr val="0B0D0E"/>
          </a:solidFill>
          <a:ln w="9525">
            <a:solidFill>
              <a:srgbClr val="343A3A"/>
            </a:solidFill>
            <a:prstDash val="solid"/>
          </a:ln>
        </p:spPr>
      </p:sp>
      <p:sp>
        <p:nvSpPr>
          <p:cNvPr id="23" name="Text 21"/>
          <p:cNvSpPr/>
          <p:nvPr/>
        </p:nvSpPr>
        <p:spPr>
          <a:xfrm>
            <a:off x="9938147" y="3431381"/>
            <a:ext cx="7602736"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37B7B"/>
                </a:solidFill>
                <a:latin typeface="Geist Mono" pitchFamily="34" charset="0"/>
                <a:ea typeface="Geist Mono" pitchFamily="34" charset="-122"/>
                <a:cs typeface="Geist Mono" pitchFamily="34" charset="-120"/>
              </a:rPr>
              <a:t>CONTROL STATES</a:t>
            </a:r>
            <a:endParaRPr lang="en-US" sz="1800" dirty="0"/>
          </a:p>
        </p:txBody>
      </p:sp>
      <p:sp>
        <p:nvSpPr>
          <p:cNvPr id="24" name="Text 22"/>
          <p:cNvSpPr/>
          <p:nvPr/>
        </p:nvSpPr>
        <p:spPr>
          <a:xfrm>
            <a:off x="9938147" y="4021931"/>
            <a:ext cx="209550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37B7B"/>
                </a:solidFill>
                <a:latin typeface="Geist Mono" pitchFamily="34" charset="0"/>
                <a:ea typeface="Geist Mono" pitchFamily="34" charset="-122"/>
                <a:cs typeface="Geist Mono" pitchFamily="34" charset="-120"/>
              </a:rPr>
              <a:t>Rest</a:t>
            </a:r>
            <a:endParaRPr lang="en-US" sz="1800" dirty="0"/>
          </a:p>
        </p:txBody>
      </p:sp>
      <p:sp>
        <p:nvSpPr>
          <p:cNvPr id="25" name="Shape 23"/>
          <p:cNvSpPr/>
          <p:nvPr/>
        </p:nvSpPr>
        <p:spPr>
          <a:xfrm>
            <a:off x="12033647" y="3898106"/>
            <a:ext cx="4816078" cy="542925"/>
          </a:xfrm>
          <a:prstGeom prst="rect">
            <a:avLst/>
          </a:prstGeom>
          <a:ln w="9525">
            <a:solidFill>
              <a:srgbClr val="343A3A"/>
            </a:solidFill>
            <a:prstDash val="solid"/>
          </a:ln>
        </p:spPr>
      </p:sp>
      <p:sp>
        <p:nvSpPr>
          <p:cNvPr id="26" name="Text 24"/>
          <p:cNvSpPr/>
          <p:nvPr/>
        </p:nvSpPr>
        <p:spPr>
          <a:xfrm>
            <a:off x="12123331" y="4021931"/>
            <a:ext cx="4636710" cy="333375"/>
          </a:xfrm>
          <a:prstGeom prst="rect">
            <a:avLst/>
          </a:prstGeom>
          <a:noFill/>
          <a:ln/>
        </p:spPr>
        <p:txBody>
          <a:bodyPr wrap="square" lIns="25400" tIns="25400" rIns="25400" bIns="25400" rtlCol="0" anchor="t">
            <a:normAutofit/>
          </a:bodyPr>
          <a:lstStyle/>
          <a:p>
            <a:pPr algn="ctr" indent="0" marL="0">
              <a:buNone/>
            </a:pPr>
            <a:r>
              <a:rPr lang="en-US" sz="1800" dirty="0">
                <a:solidFill>
                  <a:srgbClr val="FBFBFA"/>
                </a:solidFill>
                <a:latin typeface="Geist Mono" pitchFamily="34" charset="0"/>
                <a:ea typeface="Geist Mono" pitchFamily="34" charset="-122"/>
                <a:cs typeface="Geist Mono" pitchFamily="34" charset="-120"/>
              </a:rPr>
              <a:t>Verify this decision</a:t>
            </a:r>
            <a:endParaRPr lang="en-US" sz="1800" dirty="0"/>
          </a:p>
        </p:txBody>
      </p:sp>
      <p:sp>
        <p:nvSpPr>
          <p:cNvPr id="27" name="Text 25"/>
          <p:cNvSpPr/>
          <p:nvPr/>
        </p:nvSpPr>
        <p:spPr>
          <a:xfrm>
            <a:off x="9938147" y="4698206"/>
            <a:ext cx="209550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37B7B"/>
                </a:solidFill>
                <a:latin typeface="Geist Mono" pitchFamily="34" charset="0"/>
                <a:ea typeface="Geist Mono" pitchFamily="34" charset="-122"/>
                <a:cs typeface="Geist Mono" pitchFamily="34" charset="-120"/>
              </a:rPr>
              <a:t>Hover</a:t>
            </a:r>
            <a:endParaRPr lang="en-US" sz="1800" dirty="0"/>
          </a:p>
        </p:txBody>
      </p:sp>
      <p:sp>
        <p:nvSpPr>
          <p:cNvPr id="28" name="Shape 26"/>
          <p:cNvSpPr/>
          <p:nvPr/>
        </p:nvSpPr>
        <p:spPr>
          <a:xfrm>
            <a:off x="12033647" y="4564856"/>
            <a:ext cx="4816078" cy="542925"/>
          </a:xfrm>
          <a:prstGeom prst="rect">
            <a:avLst/>
          </a:prstGeom>
          <a:solidFill>
            <a:srgbClr val="1E2323"/>
          </a:solidFill>
          <a:ln w="9525">
            <a:solidFill>
              <a:srgbClr val="515858"/>
            </a:solidFill>
            <a:prstDash val="solid"/>
          </a:ln>
          <a:effectLst>
            <a:outerShdw sx="100000" sy="100000" kx="0" ky="0" algn="bl" rotWithShape="0" blurRad="19050" dist="9525" dir="5400000">
              <a:srgbClr val="000000">
                <a:alpha val="50000"/>
              </a:srgbClr>
            </a:outerShdw>
          </a:effectLst>
        </p:spPr>
      </p:sp>
      <p:sp>
        <p:nvSpPr>
          <p:cNvPr id="29" name="Text 27"/>
          <p:cNvSpPr/>
          <p:nvPr/>
        </p:nvSpPr>
        <p:spPr>
          <a:xfrm>
            <a:off x="12123331" y="4688681"/>
            <a:ext cx="4636710" cy="333375"/>
          </a:xfrm>
          <a:prstGeom prst="rect">
            <a:avLst/>
          </a:prstGeom>
          <a:noFill/>
          <a:ln/>
        </p:spPr>
        <p:txBody>
          <a:bodyPr wrap="square" lIns="25400" tIns="25400" rIns="25400" bIns="25400" rtlCol="0" anchor="t">
            <a:normAutofit/>
          </a:bodyPr>
          <a:lstStyle/>
          <a:p>
            <a:pPr algn="ctr" indent="0" marL="0">
              <a:buNone/>
            </a:pPr>
            <a:r>
              <a:rPr lang="en-US" sz="1800" dirty="0">
                <a:solidFill>
                  <a:srgbClr val="FBFBFA"/>
                </a:solidFill>
                <a:latin typeface="Geist Mono" pitchFamily="34" charset="0"/>
                <a:ea typeface="Geist Mono" pitchFamily="34" charset="-122"/>
                <a:cs typeface="Geist Mono" pitchFamily="34" charset="-120"/>
              </a:rPr>
              <a:t>Verify this decision</a:t>
            </a:r>
            <a:endParaRPr lang="en-US" sz="1800" dirty="0"/>
          </a:p>
        </p:txBody>
      </p:sp>
      <p:sp>
        <p:nvSpPr>
          <p:cNvPr id="30" name="Text 28"/>
          <p:cNvSpPr/>
          <p:nvPr/>
        </p:nvSpPr>
        <p:spPr>
          <a:xfrm>
            <a:off x="9938147" y="5374481"/>
            <a:ext cx="209550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37B7B"/>
                </a:solidFill>
                <a:latin typeface="Geist Mono" pitchFamily="34" charset="0"/>
                <a:ea typeface="Geist Mono" pitchFamily="34" charset="-122"/>
                <a:cs typeface="Geist Mono" pitchFamily="34" charset="-120"/>
              </a:rPr>
              <a:t>Focus</a:t>
            </a:r>
            <a:endParaRPr lang="en-US" sz="1800" dirty="0"/>
          </a:p>
        </p:txBody>
      </p:sp>
      <p:sp>
        <p:nvSpPr>
          <p:cNvPr id="31" name="Shape 29"/>
          <p:cNvSpPr/>
          <p:nvPr/>
        </p:nvSpPr>
        <p:spPr>
          <a:xfrm>
            <a:off x="12033647" y="5250656"/>
            <a:ext cx="4816078" cy="542925"/>
          </a:xfrm>
          <a:prstGeom prst="rect">
            <a:avLst/>
          </a:prstGeom>
          <a:ln w="9525">
            <a:solidFill>
              <a:srgbClr val="343A3A"/>
            </a:solidFill>
            <a:prstDash val="solid"/>
          </a:ln>
        </p:spPr>
      </p:sp>
      <p:sp>
        <p:nvSpPr>
          <p:cNvPr id="32" name="Text 30"/>
          <p:cNvSpPr/>
          <p:nvPr/>
        </p:nvSpPr>
        <p:spPr>
          <a:xfrm>
            <a:off x="12123331" y="5374481"/>
            <a:ext cx="4636710" cy="333375"/>
          </a:xfrm>
          <a:prstGeom prst="rect">
            <a:avLst/>
          </a:prstGeom>
          <a:noFill/>
          <a:ln/>
        </p:spPr>
        <p:txBody>
          <a:bodyPr wrap="square" lIns="25400" tIns="25400" rIns="25400" bIns="25400" rtlCol="0" anchor="t">
            <a:normAutofit/>
          </a:bodyPr>
          <a:lstStyle/>
          <a:p>
            <a:pPr algn="ctr" indent="0" marL="0">
              <a:buNone/>
            </a:pPr>
            <a:r>
              <a:rPr lang="en-US" sz="1800" dirty="0">
                <a:solidFill>
                  <a:srgbClr val="FBFBFA"/>
                </a:solidFill>
                <a:latin typeface="Geist Mono" pitchFamily="34" charset="0"/>
                <a:ea typeface="Geist Mono" pitchFamily="34" charset="-122"/>
                <a:cs typeface="Geist Mono" pitchFamily="34" charset="-120"/>
              </a:rPr>
              <a:t>Verify this decision</a:t>
            </a:r>
            <a:endParaRPr lang="en-US" sz="1800" dirty="0"/>
          </a:p>
        </p:txBody>
      </p:sp>
      <p:sp>
        <p:nvSpPr>
          <p:cNvPr id="33" name="Text 31"/>
          <p:cNvSpPr/>
          <p:nvPr/>
        </p:nvSpPr>
        <p:spPr>
          <a:xfrm>
            <a:off x="9938147" y="6050756"/>
            <a:ext cx="209550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37B7B"/>
                </a:solidFill>
                <a:latin typeface="Geist Mono" pitchFamily="34" charset="0"/>
                <a:ea typeface="Geist Mono" pitchFamily="34" charset="-122"/>
                <a:cs typeface="Geist Mono" pitchFamily="34" charset="-120"/>
              </a:rPr>
              <a:t>Pressed</a:t>
            </a:r>
            <a:endParaRPr lang="en-US" sz="1800" dirty="0"/>
          </a:p>
        </p:txBody>
      </p:sp>
      <p:sp>
        <p:nvSpPr>
          <p:cNvPr id="34" name="Shape 32"/>
          <p:cNvSpPr/>
          <p:nvPr/>
        </p:nvSpPr>
        <p:spPr>
          <a:xfrm>
            <a:off x="12033647" y="5926931"/>
            <a:ext cx="4816078" cy="542925"/>
          </a:xfrm>
          <a:prstGeom prst="rect">
            <a:avLst/>
          </a:prstGeom>
          <a:solidFill>
            <a:srgbClr val="0B0D0E"/>
          </a:solidFill>
          <a:ln w="9525">
            <a:solidFill>
              <a:srgbClr val="515858"/>
            </a:solidFill>
            <a:prstDash val="solid"/>
          </a:ln>
        </p:spPr>
      </p:sp>
      <p:sp>
        <p:nvSpPr>
          <p:cNvPr id="35" name="Text 33"/>
          <p:cNvSpPr/>
          <p:nvPr/>
        </p:nvSpPr>
        <p:spPr>
          <a:xfrm>
            <a:off x="12123331" y="6050756"/>
            <a:ext cx="4636710" cy="333375"/>
          </a:xfrm>
          <a:prstGeom prst="rect">
            <a:avLst/>
          </a:prstGeom>
          <a:noFill/>
          <a:ln/>
        </p:spPr>
        <p:txBody>
          <a:bodyPr wrap="square" lIns="25400" tIns="25400" rIns="25400" bIns="25400" rtlCol="0" anchor="t">
            <a:normAutofit/>
          </a:bodyPr>
          <a:lstStyle/>
          <a:p>
            <a:pPr algn="ctr" indent="0" marL="0">
              <a:buNone/>
            </a:pPr>
            <a:r>
              <a:rPr lang="en-US" sz="1800" dirty="0">
                <a:solidFill>
                  <a:srgbClr val="9BA2A2"/>
                </a:solidFill>
                <a:latin typeface="Geist Mono" pitchFamily="34" charset="0"/>
                <a:ea typeface="Geist Mono" pitchFamily="34" charset="-122"/>
                <a:cs typeface="Geist Mono" pitchFamily="34" charset="-120"/>
              </a:rPr>
              <a:t>Verify this decision</a:t>
            </a:r>
            <a:endParaRPr lang="en-US" sz="1800" dirty="0"/>
          </a:p>
        </p:txBody>
      </p:sp>
      <p:sp>
        <p:nvSpPr>
          <p:cNvPr id="36" name="Text 34"/>
          <p:cNvSpPr/>
          <p:nvPr/>
        </p:nvSpPr>
        <p:spPr>
          <a:xfrm>
            <a:off x="9938147" y="6727031"/>
            <a:ext cx="209550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37B7B"/>
                </a:solidFill>
                <a:latin typeface="Geist Mono" pitchFamily="34" charset="0"/>
                <a:ea typeface="Geist Mono" pitchFamily="34" charset="-122"/>
                <a:cs typeface="Geist Mono" pitchFamily="34" charset="-120"/>
              </a:rPr>
              <a:t>Selected</a:t>
            </a:r>
            <a:endParaRPr lang="en-US" sz="1800" dirty="0"/>
          </a:p>
        </p:txBody>
      </p:sp>
      <p:sp>
        <p:nvSpPr>
          <p:cNvPr id="37" name="Shape 35"/>
          <p:cNvSpPr/>
          <p:nvPr/>
        </p:nvSpPr>
        <p:spPr>
          <a:xfrm>
            <a:off x="12033647" y="6603206"/>
            <a:ext cx="4816078" cy="542925"/>
          </a:xfrm>
          <a:prstGeom prst="rect">
            <a:avLst/>
          </a:prstGeom>
          <a:solidFill>
            <a:srgbClr val="FBFBFA"/>
          </a:solidFill>
          <a:ln w="9525">
            <a:solidFill>
              <a:srgbClr val="FBFBFA"/>
            </a:solidFill>
            <a:prstDash val="solid"/>
          </a:ln>
          <a:effectLst>
            <a:outerShdw sx="100000" sy="100000" kx="0" ky="0" algn="bl" rotWithShape="0" blurRad="19050" dist="9525" dir="5400000">
              <a:srgbClr val="000000">
                <a:alpha val="50000"/>
              </a:srgbClr>
            </a:outerShdw>
          </a:effectLst>
        </p:spPr>
      </p:sp>
      <p:sp>
        <p:nvSpPr>
          <p:cNvPr id="38" name="Text 36"/>
          <p:cNvSpPr/>
          <p:nvPr/>
        </p:nvSpPr>
        <p:spPr>
          <a:xfrm>
            <a:off x="12123331" y="6727031"/>
            <a:ext cx="4636710" cy="333375"/>
          </a:xfrm>
          <a:prstGeom prst="rect">
            <a:avLst/>
          </a:prstGeom>
          <a:noFill/>
          <a:ln/>
        </p:spPr>
        <p:txBody>
          <a:bodyPr wrap="square" lIns="25400" tIns="25400" rIns="25400" bIns="25400" rtlCol="0" anchor="t">
            <a:normAutofit/>
          </a:bodyPr>
          <a:lstStyle/>
          <a:p>
            <a:pPr algn="ctr" indent="0" marL="0">
              <a:buNone/>
            </a:pPr>
            <a:r>
              <a:rPr lang="en-US" sz="1800" dirty="0">
                <a:solidFill>
                  <a:srgbClr val="0B0D0E"/>
                </a:solidFill>
                <a:latin typeface="Geist Mono" pitchFamily="34" charset="0"/>
                <a:ea typeface="Geist Mono" pitchFamily="34" charset="-122"/>
                <a:cs typeface="Geist Mono" pitchFamily="34" charset="-120"/>
              </a:rPr>
              <a:t>Original evidence</a:t>
            </a:r>
            <a:endParaRPr lang="en-US" sz="1800" dirty="0"/>
          </a:p>
        </p:txBody>
      </p:sp>
      <p:sp>
        <p:nvSpPr>
          <p:cNvPr id="39" name="Text 37"/>
          <p:cNvSpPr/>
          <p:nvPr/>
        </p:nvSpPr>
        <p:spPr>
          <a:xfrm>
            <a:off x="9938147" y="7403306"/>
            <a:ext cx="209550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37B7B"/>
                </a:solidFill>
                <a:latin typeface="Geist Mono" pitchFamily="34" charset="0"/>
                <a:ea typeface="Geist Mono" pitchFamily="34" charset="-122"/>
                <a:cs typeface="Geist Mono" pitchFamily="34" charset="-120"/>
              </a:rPr>
              <a:t>Unbound</a:t>
            </a:r>
            <a:endParaRPr lang="en-US" sz="1800" dirty="0"/>
          </a:p>
        </p:txBody>
      </p:sp>
      <p:sp>
        <p:nvSpPr>
          <p:cNvPr id="40" name="Shape 38"/>
          <p:cNvSpPr/>
          <p:nvPr/>
        </p:nvSpPr>
        <p:spPr>
          <a:xfrm>
            <a:off x="12033647" y="7279481"/>
            <a:ext cx="4816078" cy="542925"/>
          </a:xfrm>
          <a:prstGeom prst="rect">
            <a:avLst/>
          </a:prstGeom>
          <a:ln w="9525">
            <a:solidFill>
              <a:srgbClr val="515858"/>
            </a:solidFill>
            <a:prstDash val="dash"/>
          </a:ln>
        </p:spPr>
      </p:sp>
      <p:sp>
        <p:nvSpPr>
          <p:cNvPr id="41" name="Text 39"/>
          <p:cNvSpPr/>
          <p:nvPr/>
        </p:nvSpPr>
        <p:spPr>
          <a:xfrm>
            <a:off x="12123331" y="7403306"/>
            <a:ext cx="4636710" cy="333375"/>
          </a:xfrm>
          <a:prstGeom prst="rect">
            <a:avLst/>
          </a:prstGeom>
          <a:noFill/>
          <a:ln/>
        </p:spPr>
        <p:txBody>
          <a:bodyPr wrap="square" lIns="25400" tIns="25400" rIns="25400" bIns="25400" rtlCol="0" anchor="t">
            <a:normAutofit/>
          </a:bodyPr>
          <a:lstStyle/>
          <a:p>
            <a:pPr algn="ctr" indent="0" marL="0">
              <a:buNone/>
            </a:pPr>
            <a:r>
              <a:rPr lang="en-US" sz="1800" dirty="0">
                <a:solidFill>
                  <a:srgbClr val="737B7B"/>
                </a:solidFill>
                <a:latin typeface="Geist Mono" pitchFamily="34" charset="0"/>
                <a:ea typeface="Geist Mono" pitchFamily="34" charset="-122"/>
                <a:cs typeface="Geist Mono" pitchFamily="34" charset="-120"/>
              </a:rPr>
              <a:t>Evaluation surface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DDE0E0"/>
        </a:solidFill>
      </p:bgPr>
    </p:bg>
    <p:spTree>
      <p:nvGrpSpPr>
        <p:cNvPr id="1" name=""/>
        <p:cNvGrpSpPr/>
        <p:nvPr/>
      </p:nvGrpSpPr>
      <p:grpSpPr>
        <a:xfrm>
          <a:off x="0" y="0"/>
          <a:ext cx="0" cy="0"/>
          <a:chOff x="0" y="0"/>
          <a:chExt cx="0" cy="0"/>
        </a:xfrm>
      </p:grpSpPr>
      <p:sp>
        <p:nvSpPr>
          <p:cNvPr id="2" name="Text 0"/>
          <p:cNvSpPr/>
          <p:nvPr/>
        </p:nvSpPr>
        <p:spPr>
          <a:xfrm>
            <a:off x="1143000" y="247650"/>
            <a:ext cx="5409828" cy="457200"/>
          </a:xfrm>
          <a:prstGeom prst="rect">
            <a:avLst/>
          </a:prstGeom>
          <a:noFill/>
          <a:ln/>
        </p:spPr>
        <p:txBody>
          <a:bodyPr wrap="square" lIns="25400" tIns="25400" rIns="25400" bIns="25400" rtlCol="0" anchor="t">
            <a:normAutofit/>
          </a:bodyPr>
          <a:lstStyle/>
          <a:p>
            <a:pPr algn="l" indent="0" marL="0">
              <a:buNone/>
            </a:pPr>
            <a:r>
              <a:rPr lang="en-US" sz="2550" spc="-51" kern="0" dirty="0">
                <a:solidFill>
                  <a:srgbClr val="0B0D0E"/>
                </a:solidFill>
                <a:latin typeface="Geist" pitchFamily="34" charset="0"/>
                <a:ea typeface="Geist" pitchFamily="34" charset="-122"/>
                <a:cs typeface="Geist" pitchFamily="34" charset="-120"/>
              </a:rPr>
              <a:t>Evidence ablation, frame by frame</a:t>
            </a:r>
            <a:endParaRPr lang="en-US" sz="2550" dirty="0"/>
          </a:p>
        </p:txBody>
      </p:sp>
      <p:sp>
        <p:nvSpPr>
          <p:cNvPr id="3" name="Text 1"/>
          <p:cNvSpPr/>
          <p:nvPr/>
        </p:nvSpPr>
        <p:spPr>
          <a:xfrm>
            <a:off x="1143000" y="733425"/>
            <a:ext cx="6590348" cy="347663"/>
          </a:xfrm>
          <a:prstGeom prst="rect">
            <a:avLst/>
          </a:prstGeom>
          <a:noFill/>
          <a:ln/>
        </p:spPr>
        <p:txBody>
          <a:bodyPr wrap="square" lIns="25400" tIns="25400" rIns="25400" bIns="25400" rtlCol="0" anchor="t">
            <a:normAutofit/>
          </a:bodyPr>
          <a:lstStyle/>
          <a:p>
            <a:pPr algn="l" indent="0" marL="0">
              <a:buNone/>
            </a:pPr>
            <a:r>
              <a:rPr lang="en-US" sz="1875" spc="150" kern="0" dirty="0">
                <a:solidFill>
                  <a:srgbClr val="515858"/>
                </a:solidFill>
                <a:latin typeface="Geist Mono" pitchFamily="34" charset="0"/>
                <a:ea typeface="Geist Mono" pitchFamily="34" charset="-122"/>
                <a:cs typeface="Geist Mono" pitchFamily="34" charset="-120"/>
              </a:rPr>
              <a:t>TRANSITION.EVIDENCE-ABLATION · 1740MS</a:t>
            </a:r>
            <a:endParaRPr lang="en-US" sz="1875" dirty="0"/>
          </a:p>
        </p:txBody>
      </p:sp>
      <p:sp>
        <p:nvSpPr>
          <p:cNvPr id="4" name="Text 2"/>
          <p:cNvSpPr/>
          <p:nvPr/>
        </p:nvSpPr>
        <p:spPr>
          <a:xfrm>
            <a:off x="13477875" y="333375"/>
            <a:ext cx="4033838" cy="347663"/>
          </a:xfrm>
          <a:prstGeom prst="rect">
            <a:avLst/>
          </a:prstGeom>
          <a:noFill/>
          <a:ln/>
        </p:spPr>
        <p:txBody>
          <a:bodyPr wrap="none" lIns="25400" tIns="25400" rIns="25400" bIns="25400" rtlCol="0" anchor="t">
            <a:normAutofit/>
          </a:bodyPr>
          <a:lstStyle/>
          <a:p>
            <a:pPr algn="l" indent="0" marL="0">
              <a:buNone/>
            </a:pPr>
            <a:r>
              <a:rPr lang="en-US" sz="1875" spc="188" kern="0" dirty="0">
                <a:solidFill>
                  <a:srgbClr val="515858"/>
                </a:solidFill>
                <a:latin typeface="Geist Mono" pitchFamily="34" charset="0"/>
                <a:ea typeface="Geist Mono" pitchFamily="34" charset="-122"/>
                <a:cs typeface="Geist Mono" pitchFamily="34" charset="-120"/>
              </a:rPr>
              <a:t>06 · THE RUN · HAC-341</a:t>
            </a:r>
            <a:endParaRPr lang="en-US" sz="1875" dirty="0"/>
          </a:p>
        </p:txBody>
      </p:sp>
      <p:sp>
        <p:nvSpPr>
          <p:cNvPr id="5" name="Shape 3"/>
          <p:cNvSpPr/>
          <p:nvPr/>
        </p:nvSpPr>
        <p:spPr>
          <a:xfrm>
            <a:off x="1143000" y="1214438"/>
            <a:ext cx="16002000" cy="8824913"/>
          </a:xfrm>
          <a:prstGeom prst="rect">
            <a:avLst/>
          </a:prstGeom>
          <a:solidFill>
            <a:srgbClr val="0B0D0E"/>
          </a:solidFill>
          <a:ln w="9525">
            <a:solidFill>
              <a:srgbClr val="343A3A"/>
            </a:solidFill>
            <a:prstDash val="solid"/>
          </a:ln>
        </p:spPr>
      </p:sp>
      <p:sp>
        <p:nvSpPr>
          <p:cNvPr id="6" name="Shape 4"/>
          <p:cNvSpPr/>
          <p:nvPr/>
        </p:nvSpPr>
        <p:spPr>
          <a:xfrm>
            <a:off x="1438275" y="1900238"/>
            <a:ext cx="15411450" cy="19050"/>
          </a:xfrm>
          <a:prstGeom prst="rect">
            <a:avLst/>
          </a:prstGeom>
          <a:solidFill>
            <a:srgbClr val="FBFBFA"/>
          </a:solidFill>
          <a:ln/>
        </p:spPr>
      </p:sp>
      <p:sp>
        <p:nvSpPr>
          <p:cNvPr id="7" name="Text 5"/>
          <p:cNvSpPr/>
          <p:nvPr/>
        </p:nvSpPr>
        <p:spPr>
          <a:xfrm>
            <a:off x="1438275" y="1471613"/>
            <a:ext cx="2200275"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37B7B"/>
                </a:solidFill>
                <a:latin typeface="Geist Mono" pitchFamily="34" charset="0"/>
                <a:ea typeface="Geist Mono" pitchFamily="34" charset="-122"/>
                <a:cs typeface="Geist Mono" pitchFamily="34" charset="-120"/>
              </a:rPr>
              <a:t>FRAME</a:t>
            </a:r>
            <a:endParaRPr lang="en-US" sz="1800" dirty="0"/>
          </a:p>
        </p:txBody>
      </p:sp>
      <p:sp>
        <p:nvSpPr>
          <p:cNvPr id="8" name="Text 6"/>
          <p:cNvSpPr/>
          <p:nvPr/>
        </p:nvSpPr>
        <p:spPr>
          <a:xfrm>
            <a:off x="3686175" y="1471613"/>
            <a:ext cx="4644970"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37B7B"/>
                </a:solidFill>
                <a:latin typeface="Geist Mono" pitchFamily="34" charset="0"/>
                <a:ea typeface="Geist Mono" pitchFamily="34" charset="-122"/>
                <a:cs typeface="Geist Mono" pitchFamily="34" charset="-120"/>
              </a:rPr>
              <a:t>EVIDENCE</a:t>
            </a:r>
            <a:endParaRPr lang="en-US" sz="1800" dirty="0"/>
          </a:p>
        </p:txBody>
      </p:sp>
      <p:sp>
        <p:nvSpPr>
          <p:cNvPr id="9" name="Text 7"/>
          <p:cNvSpPr/>
          <p:nvPr/>
        </p:nvSpPr>
        <p:spPr>
          <a:xfrm>
            <a:off x="8156525" y="1471613"/>
            <a:ext cx="4645052"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37B7B"/>
                </a:solidFill>
                <a:latin typeface="Geist Mono" pitchFamily="34" charset="0"/>
                <a:ea typeface="Geist Mono" pitchFamily="34" charset="-122"/>
                <a:cs typeface="Geist Mono" pitchFamily="34" charset="-120"/>
              </a:rPr>
              <a:t>DECISION PLATE</a:t>
            </a:r>
            <a:endParaRPr lang="en-US" sz="1800" dirty="0"/>
          </a:p>
        </p:txBody>
      </p:sp>
      <p:sp>
        <p:nvSpPr>
          <p:cNvPr id="10" name="Text 8"/>
          <p:cNvSpPr/>
          <p:nvPr/>
        </p:nvSpPr>
        <p:spPr>
          <a:xfrm>
            <a:off x="12626950" y="1471613"/>
            <a:ext cx="4645052"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37B7B"/>
                </a:solidFill>
                <a:latin typeface="Geist Mono" pitchFamily="34" charset="0"/>
                <a:ea typeface="Geist Mono" pitchFamily="34" charset="-122"/>
                <a:cs typeface="Geist Mono" pitchFamily="34" charset="-120"/>
              </a:rPr>
              <a:t>PRIMARY OUTCOME</a:t>
            </a:r>
            <a:endParaRPr lang="en-US" sz="1800" dirty="0"/>
          </a:p>
        </p:txBody>
      </p:sp>
      <p:sp>
        <p:nvSpPr>
          <p:cNvPr id="11" name="Shape 9"/>
          <p:cNvSpPr/>
          <p:nvPr/>
        </p:nvSpPr>
        <p:spPr>
          <a:xfrm>
            <a:off x="1438275" y="3043386"/>
            <a:ext cx="15411450" cy="9525"/>
          </a:xfrm>
          <a:prstGeom prst="rect">
            <a:avLst/>
          </a:prstGeom>
          <a:solidFill>
            <a:srgbClr val="343A3A"/>
          </a:solidFill>
          <a:ln/>
        </p:spPr>
      </p:sp>
      <p:sp>
        <p:nvSpPr>
          <p:cNvPr id="12" name="Text 10"/>
          <p:cNvSpPr/>
          <p:nvPr/>
        </p:nvSpPr>
        <p:spPr>
          <a:xfrm>
            <a:off x="1438275" y="2205186"/>
            <a:ext cx="2200275" cy="371475"/>
          </a:xfrm>
          <a:prstGeom prst="rect">
            <a:avLst/>
          </a:prstGeom>
          <a:noFill/>
          <a:ln/>
        </p:spPr>
        <p:txBody>
          <a:bodyPr wrap="square" lIns="25400" tIns="25400" rIns="25400" bIns="25400" rtlCol="0" anchor="t">
            <a:normAutofit/>
          </a:bodyPr>
          <a:lstStyle/>
          <a:p>
            <a:pPr algn="l" indent="0" marL="0">
              <a:buNone/>
            </a:pPr>
            <a:r>
              <a:rPr lang="en-US" sz="2025" dirty="0">
                <a:solidFill>
                  <a:srgbClr val="FBFBFA"/>
                </a:solidFill>
                <a:latin typeface="Geist Mono" pitchFamily="34" charset="0"/>
                <a:ea typeface="Geist Mono" pitchFamily="34" charset="-122"/>
                <a:cs typeface="Geist Mono" pitchFamily="34" charset="-120"/>
              </a:rPr>
              <a:t>t0 · 0ms</a:t>
            </a:r>
            <a:endParaRPr lang="en-US" sz="2025" dirty="0"/>
          </a:p>
        </p:txBody>
      </p:sp>
      <p:sp>
        <p:nvSpPr>
          <p:cNvPr id="13" name="Text 11"/>
          <p:cNvSpPr/>
          <p:nvPr/>
        </p:nvSpPr>
        <p:spPr>
          <a:xfrm>
            <a:off x="1438275" y="2586186"/>
            <a:ext cx="220027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4B65C"/>
                </a:solidFill>
                <a:latin typeface="Geist Mono" pitchFamily="34" charset="0"/>
                <a:ea typeface="Geist Mono" pitchFamily="34" charset="-122"/>
                <a:cs typeface="Geist Mono" pitchFamily="34" charset="-120"/>
              </a:rPr>
              <a:t>settled hold</a:t>
            </a:r>
            <a:endParaRPr lang="en-US" sz="1800" dirty="0"/>
          </a:p>
        </p:txBody>
      </p:sp>
      <p:sp>
        <p:nvSpPr>
          <p:cNvPr id="14" name="Text 12"/>
          <p:cNvSpPr/>
          <p:nvPr/>
        </p:nvSpPr>
        <p:spPr>
          <a:xfrm>
            <a:off x="3686175" y="2224236"/>
            <a:ext cx="464497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9BA2A2"/>
                </a:solidFill>
                <a:latin typeface="Geist Mono" pitchFamily="34" charset="0"/>
                <a:ea typeface="Geist Mono" pitchFamily="34" charset="-122"/>
                <a:cs typeface="Geist Mono" pitchFamily="34" charset="-120"/>
              </a:rPr>
              <a:t>original</a:t>
            </a:r>
            <a:endParaRPr lang="en-US" sz="1875" dirty="0"/>
          </a:p>
        </p:txBody>
      </p:sp>
      <p:sp>
        <p:nvSpPr>
          <p:cNvPr id="15" name="Text 13"/>
          <p:cNvSpPr/>
          <p:nvPr/>
        </p:nvSpPr>
        <p:spPr>
          <a:xfrm>
            <a:off x="8156525" y="2224236"/>
            <a:ext cx="4645052" cy="347663"/>
          </a:xfrm>
          <a:prstGeom prst="rect">
            <a:avLst/>
          </a:prstGeom>
          <a:noFill/>
          <a:ln/>
        </p:spPr>
        <p:txBody>
          <a:bodyPr wrap="square" lIns="25400" tIns="25400" rIns="25400" bIns="25400" rtlCol="0" anchor="t">
            <a:normAutofit/>
          </a:bodyPr>
          <a:lstStyle/>
          <a:p>
            <a:pPr algn="l" indent="0" marL="0">
              <a:buNone/>
            </a:pPr>
            <a:r>
              <a:rPr lang="en-US" sz="1875" dirty="0">
                <a:solidFill>
                  <a:srgbClr val="FBFBFA"/>
                </a:solidFill>
                <a:latin typeface="Geist Mono" pitchFamily="34" charset="0"/>
                <a:ea typeface="Geist Mono" pitchFamily="34" charset="-122"/>
                <a:cs typeface="Geist Mono" pitchFamily="34" charset="-120"/>
              </a:rPr>
              <a:t>WITHHOLD_SERIALIZE</a:t>
            </a:r>
            <a:endParaRPr lang="en-US" sz="1875" dirty="0"/>
          </a:p>
        </p:txBody>
      </p:sp>
      <p:sp>
        <p:nvSpPr>
          <p:cNvPr id="16" name="Text 14"/>
          <p:cNvSpPr/>
          <p:nvPr/>
        </p:nvSpPr>
        <p:spPr>
          <a:xfrm>
            <a:off x="12626950" y="2224236"/>
            <a:ext cx="4645052" cy="347663"/>
          </a:xfrm>
          <a:prstGeom prst="rect">
            <a:avLst/>
          </a:prstGeom>
          <a:noFill/>
          <a:ln/>
        </p:spPr>
        <p:txBody>
          <a:bodyPr wrap="square" lIns="25400" tIns="25400" rIns="25400" bIns="25400" rtlCol="0" anchor="t">
            <a:normAutofit/>
          </a:bodyPr>
          <a:lstStyle/>
          <a:p>
            <a:pPr algn="l" indent="0" marL="0">
              <a:buNone/>
            </a:pPr>
            <a:r>
              <a:rPr lang="en-US" sz="1875" dirty="0">
                <a:solidFill>
                  <a:srgbClr val="2D8949"/>
                </a:solidFill>
                <a:latin typeface="Geist Mono" pitchFamily="34" charset="0"/>
                <a:ea typeface="Geist Mono" pitchFamily="34" charset="-122"/>
                <a:cs typeface="Geist Mono" pitchFamily="34" charset="-120"/>
              </a:rPr>
              <a:t>120 &lt;= 130 ✓</a:t>
            </a:r>
            <a:endParaRPr lang="en-US" sz="1875" dirty="0"/>
          </a:p>
        </p:txBody>
      </p:sp>
      <p:sp>
        <p:nvSpPr>
          <p:cNvPr id="17" name="Shape 15"/>
          <p:cNvSpPr/>
          <p:nvPr/>
        </p:nvSpPr>
        <p:spPr>
          <a:xfrm>
            <a:off x="1438275" y="4472285"/>
            <a:ext cx="15411450" cy="9525"/>
          </a:xfrm>
          <a:prstGeom prst="rect">
            <a:avLst/>
          </a:prstGeom>
          <a:solidFill>
            <a:srgbClr val="343A3A"/>
          </a:solidFill>
          <a:ln/>
        </p:spPr>
      </p:sp>
      <p:sp>
        <p:nvSpPr>
          <p:cNvPr id="18" name="Text 16"/>
          <p:cNvSpPr/>
          <p:nvPr/>
        </p:nvSpPr>
        <p:spPr>
          <a:xfrm>
            <a:off x="1438275" y="3338810"/>
            <a:ext cx="2200275" cy="371475"/>
          </a:xfrm>
          <a:prstGeom prst="rect">
            <a:avLst/>
          </a:prstGeom>
          <a:noFill/>
          <a:ln/>
        </p:spPr>
        <p:txBody>
          <a:bodyPr wrap="square" lIns="25400" tIns="25400" rIns="25400" bIns="25400" rtlCol="0" anchor="t">
            <a:normAutofit/>
          </a:bodyPr>
          <a:lstStyle/>
          <a:p>
            <a:pPr algn="l" indent="0" marL="0">
              <a:buNone/>
            </a:pPr>
            <a:r>
              <a:rPr lang="en-US" sz="2025" dirty="0">
                <a:solidFill>
                  <a:srgbClr val="FBFBFA"/>
                </a:solidFill>
                <a:latin typeface="Geist Mono" pitchFamily="34" charset="0"/>
                <a:ea typeface="Geist Mono" pitchFamily="34" charset="-122"/>
                <a:cs typeface="Geist Mono" pitchFamily="34" charset="-120"/>
              </a:rPr>
              <a:t>t1 · +140ms</a:t>
            </a:r>
            <a:endParaRPr lang="en-US" sz="2025" dirty="0"/>
          </a:p>
        </p:txBody>
      </p:sp>
      <p:sp>
        <p:nvSpPr>
          <p:cNvPr id="19" name="Text 17"/>
          <p:cNvSpPr/>
          <p:nvPr/>
        </p:nvSpPr>
        <p:spPr>
          <a:xfrm>
            <a:off x="1438275" y="3719810"/>
            <a:ext cx="2076450" cy="628650"/>
          </a:xfrm>
          <a:prstGeom prst="rect">
            <a:avLst/>
          </a:prstGeom>
          <a:noFill/>
          <a:ln/>
        </p:spPr>
        <p:txBody>
          <a:bodyPr wrap="square" lIns="25400" tIns="25400" rIns="25400" bIns="25400" rtlCol="0" anchor="t">
            <a:normAutofit/>
          </a:bodyPr>
          <a:lstStyle/>
          <a:p>
            <a:pPr algn="l" indent="0" marL="0">
              <a:buNone/>
            </a:pPr>
            <a:r>
              <a:rPr lang="en-US" sz="1800" dirty="0">
                <a:solidFill>
                  <a:srgbClr val="737B7B"/>
                </a:solidFill>
                <a:latin typeface="Geist Mono" pitchFamily="34" charset="0"/>
                <a:ea typeface="Geist Mono" pitchFamily="34" charset="-122"/>
                <a:cs typeface="Geist Mono" pitchFamily="34" charset="-120"/>
              </a:rPr>
              <a:t>dur-fast · ease-exit</a:t>
            </a:r>
            <a:endParaRPr lang="en-US" sz="1800" dirty="0"/>
          </a:p>
        </p:txBody>
      </p:sp>
      <p:sp>
        <p:nvSpPr>
          <p:cNvPr id="20" name="Text 18"/>
          <p:cNvSpPr/>
          <p:nvPr/>
        </p:nvSpPr>
        <p:spPr>
          <a:xfrm>
            <a:off x="3686175" y="3357860"/>
            <a:ext cx="464497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9BA2A2"/>
                </a:solidFill>
                <a:latin typeface="Geist Mono" pitchFamily="34" charset="0"/>
                <a:ea typeface="Geist Mono" pitchFamily="34" charset="-122"/>
                <a:cs typeface="Geist Mono" pitchFamily="34" charset="-120"/>
              </a:rPr>
              <a:t>lifting</a:t>
            </a:r>
            <a:endParaRPr lang="en-US" sz="1875" dirty="0"/>
          </a:p>
        </p:txBody>
      </p:sp>
      <p:sp>
        <p:nvSpPr>
          <p:cNvPr id="21" name="Text 19"/>
          <p:cNvSpPr/>
          <p:nvPr/>
        </p:nvSpPr>
        <p:spPr>
          <a:xfrm>
            <a:off x="8156525" y="3357860"/>
            <a:ext cx="4645052" cy="347663"/>
          </a:xfrm>
          <a:prstGeom prst="rect">
            <a:avLst/>
          </a:prstGeom>
          <a:noFill/>
          <a:ln/>
        </p:spPr>
        <p:txBody>
          <a:bodyPr wrap="square" lIns="25400" tIns="25400" rIns="25400" bIns="25400" rtlCol="0" anchor="t">
            <a:normAutofit/>
          </a:bodyPr>
          <a:lstStyle/>
          <a:p>
            <a:pPr algn="l" indent="0" marL="0">
              <a:buNone/>
            </a:pPr>
            <a:r>
              <a:rPr lang="en-US" sz="1875" dirty="0">
                <a:solidFill>
                  <a:srgbClr val="FBFBFA"/>
                </a:solidFill>
                <a:latin typeface="Geist Mono" pitchFamily="34" charset="0"/>
                <a:ea typeface="Geist Mono" pitchFamily="34" charset="-122"/>
                <a:cs typeface="Geist Mono" pitchFamily="34" charset="-120"/>
              </a:rPr>
              <a:t>gate parting</a:t>
            </a:r>
            <a:endParaRPr lang="en-US" sz="1875" dirty="0"/>
          </a:p>
        </p:txBody>
      </p:sp>
      <p:sp>
        <p:nvSpPr>
          <p:cNvPr id="22" name="Text 20"/>
          <p:cNvSpPr/>
          <p:nvPr/>
        </p:nvSpPr>
        <p:spPr>
          <a:xfrm>
            <a:off x="12626950" y="3357860"/>
            <a:ext cx="4645052" cy="347663"/>
          </a:xfrm>
          <a:prstGeom prst="rect">
            <a:avLst/>
          </a:prstGeom>
          <a:noFill/>
          <a:ln/>
        </p:spPr>
        <p:txBody>
          <a:bodyPr wrap="square" lIns="25400" tIns="25400" rIns="25400" bIns="25400" rtlCol="0" anchor="t">
            <a:normAutofit/>
          </a:bodyPr>
          <a:lstStyle/>
          <a:p>
            <a:pPr algn="l" indent="0" marL="0">
              <a:buNone/>
            </a:pPr>
            <a:r>
              <a:rPr lang="en-US" sz="1875" dirty="0">
                <a:solidFill>
                  <a:srgbClr val="9BA2A2"/>
                </a:solidFill>
                <a:latin typeface="Geist Mono" pitchFamily="34" charset="0"/>
                <a:ea typeface="Geist Mono" pitchFamily="34" charset="-122"/>
                <a:cs typeface="Geist Mono" pitchFamily="34" charset="-120"/>
              </a:rPr>
              <a:t>held</a:t>
            </a:r>
            <a:endParaRPr lang="en-US" sz="1875" dirty="0"/>
          </a:p>
        </p:txBody>
      </p:sp>
      <p:sp>
        <p:nvSpPr>
          <p:cNvPr id="23" name="Shape 21"/>
          <p:cNvSpPr/>
          <p:nvPr/>
        </p:nvSpPr>
        <p:spPr>
          <a:xfrm>
            <a:off x="1438275" y="5901184"/>
            <a:ext cx="15411450" cy="9525"/>
          </a:xfrm>
          <a:prstGeom prst="rect">
            <a:avLst/>
          </a:prstGeom>
          <a:solidFill>
            <a:srgbClr val="343A3A"/>
          </a:solidFill>
          <a:ln/>
        </p:spPr>
      </p:sp>
      <p:sp>
        <p:nvSpPr>
          <p:cNvPr id="24" name="Text 22"/>
          <p:cNvSpPr/>
          <p:nvPr/>
        </p:nvSpPr>
        <p:spPr>
          <a:xfrm>
            <a:off x="1438275" y="4767709"/>
            <a:ext cx="2200275" cy="371475"/>
          </a:xfrm>
          <a:prstGeom prst="rect">
            <a:avLst/>
          </a:prstGeom>
          <a:noFill/>
          <a:ln/>
        </p:spPr>
        <p:txBody>
          <a:bodyPr wrap="square" lIns="25400" tIns="25400" rIns="25400" bIns="25400" rtlCol="0" anchor="t">
            <a:normAutofit/>
          </a:bodyPr>
          <a:lstStyle/>
          <a:p>
            <a:pPr algn="l" indent="0" marL="0">
              <a:buNone/>
            </a:pPr>
            <a:r>
              <a:rPr lang="en-US" sz="2025" dirty="0">
                <a:solidFill>
                  <a:srgbClr val="FBFBFA"/>
                </a:solidFill>
                <a:latin typeface="Geist Mono" pitchFamily="34" charset="0"/>
                <a:ea typeface="Geist Mono" pitchFamily="34" charset="-122"/>
                <a:cs typeface="Geist Mono" pitchFamily="34" charset="-120"/>
              </a:rPr>
              <a:t>t2 · +520ms</a:t>
            </a:r>
            <a:endParaRPr lang="en-US" sz="2025" dirty="0"/>
          </a:p>
        </p:txBody>
      </p:sp>
      <p:sp>
        <p:nvSpPr>
          <p:cNvPr id="25" name="Text 23"/>
          <p:cNvSpPr/>
          <p:nvPr/>
        </p:nvSpPr>
        <p:spPr>
          <a:xfrm>
            <a:off x="1438275" y="5148709"/>
            <a:ext cx="2076450" cy="628650"/>
          </a:xfrm>
          <a:prstGeom prst="rect">
            <a:avLst/>
          </a:prstGeom>
          <a:noFill/>
          <a:ln/>
        </p:spPr>
        <p:txBody>
          <a:bodyPr wrap="square" lIns="25400" tIns="25400" rIns="25400" bIns="25400" rtlCol="0" anchor="t">
            <a:normAutofit/>
          </a:bodyPr>
          <a:lstStyle/>
          <a:p>
            <a:pPr algn="l" indent="0" marL="0">
              <a:buNone/>
            </a:pPr>
            <a:r>
              <a:rPr lang="en-US" sz="1800" dirty="0">
                <a:solidFill>
                  <a:srgbClr val="737B7B"/>
                </a:solidFill>
                <a:latin typeface="Geist Mono" pitchFamily="34" charset="0"/>
                <a:ea typeface="Geist Mono" pitchFamily="34" charset="-122"/>
                <a:cs typeface="Geist Mono" pitchFamily="34" charset="-120"/>
              </a:rPr>
              <a:t>dur-gate · ease-mech</a:t>
            </a:r>
            <a:endParaRPr lang="en-US" sz="1800" dirty="0"/>
          </a:p>
        </p:txBody>
      </p:sp>
      <p:sp>
        <p:nvSpPr>
          <p:cNvPr id="26" name="Text 24"/>
          <p:cNvSpPr/>
          <p:nvPr/>
        </p:nvSpPr>
        <p:spPr>
          <a:xfrm>
            <a:off x="3686175" y="4786759"/>
            <a:ext cx="464497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9BA2A2"/>
                </a:solidFill>
                <a:latin typeface="Geist Mono" pitchFamily="34" charset="0"/>
                <a:ea typeface="Geist Mono" pitchFamily="34" charset="-122"/>
                <a:cs typeface="Geist Mono" pitchFamily="34" charset="-120"/>
              </a:rPr>
              <a:t>perturbed, entering</a:t>
            </a:r>
            <a:endParaRPr lang="en-US" sz="1875" dirty="0"/>
          </a:p>
        </p:txBody>
      </p:sp>
      <p:sp>
        <p:nvSpPr>
          <p:cNvPr id="27" name="Text 25"/>
          <p:cNvSpPr/>
          <p:nvPr/>
        </p:nvSpPr>
        <p:spPr>
          <a:xfrm>
            <a:off x="8156525" y="4786759"/>
            <a:ext cx="4645052" cy="347663"/>
          </a:xfrm>
          <a:prstGeom prst="rect">
            <a:avLst/>
          </a:prstGeom>
          <a:noFill/>
          <a:ln/>
        </p:spPr>
        <p:txBody>
          <a:bodyPr wrap="square" lIns="25400" tIns="25400" rIns="25400" bIns="25400" rtlCol="0" anchor="t">
            <a:normAutofit/>
          </a:bodyPr>
          <a:lstStyle/>
          <a:p>
            <a:pPr algn="l" indent="0" marL="0">
              <a:buNone/>
            </a:pPr>
            <a:r>
              <a:rPr lang="en-US" sz="1875" dirty="0">
                <a:solidFill>
                  <a:srgbClr val="FBFBFA"/>
                </a:solidFill>
                <a:latin typeface="Geist Mono" pitchFamily="34" charset="0"/>
                <a:ea typeface="Geist Mono" pitchFamily="34" charset="-122"/>
                <a:cs typeface="Geist Mono" pitchFamily="34" charset="-120"/>
              </a:rPr>
              <a:t>ALLOW_PARALLEL</a:t>
            </a:r>
            <a:endParaRPr lang="en-US" sz="1875" dirty="0"/>
          </a:p>
        </p:txBody>
      </p:sp>
      <p:sp>
        <p:nvSpPr>
          <p:cNvPr id="28" name="Text 26"/>
          <p:cNvSpPr/>
          <p:nvPr/>
        </p:nvSpPr>
        <p:spPr>
          <a:xfrm>
            <a:off x="12626950" y="4786759"/>
            <a:ext cx="4645052" cy="347663"/>
          </a:xfrm>
          <a:prstGeom prst="rect">
            <a:avLst/>
          </a:prstGeom>
          <a:noFill/>
          <a:ln/>
        </p:spPr>
        <p:txBody>
          <a:bodyPr wrap="square" lIns="25400" tIns="25400" rIns="25400" bIns="25400" rtlCol="0" anchor="t">
            <a:normAutofit/>
          </a:bodyPr>
          <a:lstStyle/>
          <a:p>
            <a:pPr algn="l" indent="0" marL="0">
              <a:buNone/>
            </a:pPr>
            <a:r>
              <a:rPr lang="en-US" sz="1875" dirty="0">
                <a:solidFill>
                  <a:srgbClr val="EEF0F0"/>
                </a:solidFill>
                <a:latin typeface="Geist Mono" pitchFamily="34" charset="0"/>
                <a:ea typeface="Geist Mono" pitchFamily="34" charset="-122"/>
                <a:cs typeface="Geist Mono" pitchFamily="34" charset="-120"/>
              </a:rPr>
              <a:t>140 &gt; 130, resolving</a:t>
            </a:r>
            <a:endParaRPr lang="en-US" sz="1875" dirty="0"/>
          </a:p>
        </p:txBody>
      </p:sp>
      <p:sp>
        <p:nvSpPr>
          <p:cNvPr id="29" name="Shape 27"/>
          <p:cNvSpPr/>
          <p:nvPr/>
        </p:nvSpPr>
        <p:spPr>
          <a:xfrm>
            <a:off x="1438275" y="7330083"/>
            <a:ext cx="15411450" cy="9525"/>
          </a:xfrm>
          <a:prstGeom prst="rect">
            <a:avLst/>
          </a:prstGeom>
          <a:solidFill>
            <a:srgbClr val="343A3A"/>
          </a:solidFill>
          <a:ln/>
        </p:spPr>
      </p:sp>
      <p:sp>
        <p:nvSpPr>
          <p:cNvPr id="30" name="Text 28"/>
          <p:cNvSpPr/>
          <p:nvPr/>
        </p:nvSpPr>
        <p:spPr>
          <a:xfrm>
            <a:off x="1438275" y="6196608"/>
            <a:ext cx="2200275" cy="371475"/>
          </a:xfrm>
          <a:prstGeom prst="rect">
            <a:avLst/>
          </a:prstGeom>
          <a:noFill/>
          <a:ln/>
        </p:spPr>
        <p:txBody>
          <a:bodyPr wrap="square" lIns="25400" tIns="25400" rIns="25400" bIns="25400" rtlCol="0" anchor="t">
            <a:normAutofit/>
          </a:bodyPr>
          <a:lstStyle/>
          <a:p>
            <a:pPr algn="l" indent="0" marL="0">
              <a:buNone/>
            </a:pPr>
            <a:r>
              <a:rPr lang="en-US" sz="2025" dirty="0">
                <a:solidFill>
                  <a:srgbClr val="FBFBFA"/>
                </a:solidFill>
                <a:latin typeface="Geist Mono" pitchFamily="34" charset="0"/>
                <a:ea typeface="Geist Mono" pitchFamily="34" charset="-122"/>
                <a:cs typeface="Geist Mono" pitchFamily="34" charset="-120"/>
              </a:rPr>
              <a:t>t3 · +700ms</a:t>
            </a:r>
            <a:endParaRPr lang="en-US" sz="2025" dirty="0"/>
          </a:p>
        </p:txBody>
      </p:sp>
      <p:sp>
        <p:nvSpPr>
          <p:cNvPr id="31" name="Text 29"/>
          <p:cNvSpPr/>
          <p:nvPr/>
        </p:nvSpPr>
        <p:spPr>
          <a:xfrm>
            <a:off x="1438275" y="6577608"/>
            <a:ext cx="2076450" cy="628650"/>
          </a:xfrm>
          <a:prstGeom prst="rect">
            <a:avLst/>
          </a:prstGeom>
          <a:noFill/>
          <a:ln/>
        </p:spPr>
        <p:txBody>
          <a:bodyPr wrap="square" lIns="25400" tIns="25400" rIns="25400" bIns="25400" rtlCol="0" anchor="t">
            <a:normAutofit/>
          </a:bodyPr>
          <a:lstStyle/>
          <a:p>
            <a:pPr algn="l" indent="0" marL="0">
              <a:buNone/>
            </a:pPr>
            <a:r>
              <a:rPr lang="en-US" sz="1800" dirty="0">
                <a:solidFill>
                  <a:srgbClr val="E4B65C"/>
                </a:solidFill>
                <a:latin typeface="Geist Mono" pitchFamily="34" charset="0"/>
                <a:ea typeface="Geist Mono" pitchFamily="34" charset="-122"/>
                <a:cs typeface="Geist Mono" pitchFamily="34" charset="-120"/>
              </a:rPr>
              <a:t>dur-hold · nothing moves</a:t>
            </a:r>
            <a:endParaRPr lang="en-US" sz="1800" dirty="0"/>
          </a:p>
        </p:txBody>
      </p:sp>
      <p:sp>
        <p:nvSpPr>
          <p:cNvPr id="32" name="Text 30"/>
          <p:cNvSpPr/>
          <p:nvPr/>
        </p:nvSpPr>
        <p:spPr>
          <a:xfrm>
            <a:off x="3686175" y="6215658"/>
            <a:ext cx="464497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9BA2A2"/>
                </a:solidFill>
                <a:latin typeface="Geist Mono" pitchFamily="34" charset="0"/>
                <a:ea typeface="Geist Mono" pitchFamily="34" charset="-122"/>
                <a:cs typeface="Geist Mono" pitchFamily="34" charset="-120"/>
              </a:rPr>
              <a:t>perturbed</a:t>
            </a:r>
            <a:endParaRPr lang="en-US" sz="1875" dirty="0"/>
          </a:p>
        </p:txBody>
      </p:sp>
      <p:sp>
        <p:nvSpPr>
          <p:cNvPr id="33" name="Text 31"/>
          <p:cNvSpPr/>
          <p:nvPr/>
        </p:nvSpPr>
        <p:spPr>
          <a:xfrm>
            <a:off x="8156525" y="6215658"/>
            <a:ext cx="4645052" cy="347663"/>
          </a:xfrm>
          <a:prstGeom prst="rect">
            <a:avLst/>
          </a:prstGeom>
          <a:noFill/>
          <a:ln/>
        </p:spPr>
        <p:txBody>
          <a:bodyPr wrap="square" lIns="25400" tIns="25400" rIns="25400" bIns="25400" rtlCol="0" anchor="t">
            <a:normAutofit/>
          </a:bodyPr>
          <a:lstStyle/>
          <a:p>
            <a:pPr algn="l" indent="0" marL="0">
              <a:buNone/>
            </a:pPr>
            <a:r>
              <a:rPr lang="en-US" sz="1875" dirty="0">
                <a:solidFill>
                  <a:srgbClr val="FBFBFA"/>
                </a:solidFill>
                <a:latin typeface="Geist Mono" pitchFamily="34" charset="0"/>
                <a:ea typeface="Geist Mono" pitchFamily="34" charset="-122"/>
                <a:cs typeface="Geist Mono" pitchFamily="34" charset="-120"/>
              </a:rPr>
              <a:t>ALLOW_PARALLEL</a:t>
            </a:r>
            <a:endParaRPr lang="en-US" sz="1875" dirty="0"/>
          </a:p>
        </p:txBody>
      </p:sp>
      <p:sp>
        <p:nvSpPr>
          <p:cNvPr id="34" name="Text 32"/>
          <p:cNvSpPr/>
          <p:nvPr/>
        </p:nvSpPr>
        <p:spPr>
          <a:xfrm>
            <a:off x="12626950" y="6215658"/>
            <a:ext cx="4645052" cy="347663"/>
          </a:xfrm>
          <a:prstGeom prst="rect">
            <a:avLst/>
          </a:prstGeom>
          <a:noFill/>
          <a:ln/>
        </p:spPr>
        <p:txBody>
          <a:bodyPr wrap="square" lIns="25400" tIns="25400" rIns="25400" bIns="25400" rtlCol="0" anchor="t">
            <a:normAutofit/>
          </a:bodyPr>
          <a:lstStyle/>
          <a:p>
            <a:pPr algn="l" indent="0" marL="0">
              <a:buNone/>
            </a:pPr>
            <a:r>
              <a:rPr lang="en-US" sz="1875" dirty="0">
                <a:solidFill>
                  <a:srgbClr val="E15955"/>
                </a:solidFill>
                <a:latin typeface="Geist Mono" pitchFamily="34" charset="0"/>
                <a:ea typeface="Geist Mono" pitchFamily="34" charset="-122"/>
                <a:cs typeface="Geist Mono" pitchFamily="34" charset="-120"/>
              </a:rPr>
              <a:t>140 &gt; 130 ✕</a:t>
            </a:r>
            <a:endParaRPr lang="en-US" sz="1875" dirty="0"/>
          </a:p>
        </p:txBody>
      </p:sp>
      <p:sp>
        <p:nvSpPr>
          <p:cNvPr id="35" name="Text 33"/>
          <p:cNvSpPr/>
          <p:nvPr/>
        </p:nvSpPr>
        <p:spPr>
          <a:xfrm>
            <a:off x="1438275" y="7625507"/>
            <a:ext cx="2200275" cy="371475"/>
          </a:xfrm>
          <a:prstGeom prst="rect">
            <a:avLst/>
          </a:prstGeom>
          <a:noFill/>
          <a:ln/>
        </p:spPr>
        <p:txBody>
          <a:bodyPr wrap="square" lIns="25400" tIns="25400" rIns="25400" bIns="25400" rtlCol="0" anchor="t">
            <a:normAutofit/>
          </a:bodyPr>
          <a:lstStyle/>
          <a:p>
            <a:pPr algn="l" indent="0" marL="0">
              <a:buNone/>
            </a:pPr>
            <a:r>
              <a:rPr lang="en-US" sz="2025" dirty="0">
                <a:solidFill>
                  <a:srgbClr val="FBFBFA"/>
                </a:solidFill>
                <a:latin typeface="Geist Mono" pitchFamily="34" charset="0"/>
                <a:ea typeface="Geist Mono" pitchFamily="34" charset="-122"/>
                <a:cs typeface="Geist Mono" pitchFamily="34" charset="-120"/>
              </a:rPr>
              <a:t>t4 · +380ms</a:t>
            </a:r>
            <a:endParaRPr lang="en-US" sz="2025" dirty="0"/>
          </a:p>
        </p:txBody>
      </p:sp>
      <p:sp>
        <p:nvSpPr>
          <p:cNvPr id="36" name="Text 34"/>
          <p:cNvSpPr/>
          <p:nvPr/>
        </p:nvSpPr>
        <p:spPr>
          <a:xfrm>
            <a:off x="1438275" y="8006507"/>
            <a:ext cx="2076450" cy="628650"/>
          </a:xfrm>
          <a:prstGeom prst="rect">
            <a:avLst/>
          </a:prstGeom>
          <a:noFill/>
          <a:ln/>
        </p:spPr>
        <p:txBody>
          <a:bodyPr wrap="square" lIns="25400" tIns="25400" rIns="25400" bIns="25400" rtlCol="0" anchor="t">
            <a:normAutofit/>
          </a:bodyPr>
          <a:lstStyle/>
          <a:p>
            <a:pPr algn="l" indent="0" marL="0">
              <a:buNone/>
            </a:pPr>
            <a:r>
              <a:rPr lang="en-US" sz="1800" dirty="0">
                <a:solidFill>
                  <a:srgbClr val="737B7B"/>
                </a:solidFill>
                <a:latin typeface="Geist Mono" pitchFamily="34" charset="0"/>
                <a:ea typeface="Geist Mono" pitchFamily="34" charset="-122"/>
                <a:cs typeface="Geist Mono" pitchFamily="34" charset="-120"/>
              </a:rPr>
              <a:t>mot-rest · gate re-arms</a:t>
            </a:r>
            <a:endParaRPr lang="en-US" sz="1800" dirty="0"/>
          </a:p>
        </p:txBody>
      </p:sp>
      <p:sp>
        <p:nvSpPr>
          <p:cNvPr id="37" name="Text 35"/>
          <p:cNvSpPr/>
          <p:nvPr/>
        </p:nvSpPr>
        <p:spPr>
          <a:xfrm>
            <a:off x="3686175" y="7644557"/>
            <a:ext cx="464497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9BA2A2"/>
                </a:solidFill>
                <a:latin typeface="Geist Mono" pitchFamily="34" charset="0"/>
                <a:ea typeface="Geist Mono" pitchFamily="34" charset="-122"/>
                <a:cs typeface="Geist Mono" pitchFamily="34" charset="-120"/>
              </a:rPr>
              <a:t>perturbed</a:t>
            </a:r>
            <a:endParaRPr lang="en-US" sz="1875" dirty="0"/>
          </a:p>
        </p:txBody>
      </p:sp>
      <p:sp>
        <p:nvSpPr>
          <p:cNvPr id="38" name="Text 36"/>
          <p:cNvSpPr/>
          <p:nvPr/>
        </p:nvSpPr>
        <p:spPr>
          <a:xfrm>
            <a:off x="8156525" y="7644557"/>
            <a:ext cx="4645052" cy="347663"/>
          </a:xfrm>
          <a:prstGeom prst="rect">
            <a:avLst/>
          </a:prstGeom>
          <a:noFill/>
          <a:ln/>
        </p:spPr>
        <p:txBody>
          <a:bodyPr wrap="square" lIns="25400" tIns="25400" rIns="25400" bIns="25400" rtlCol="0" anchor="t">
            <a:normAutofit/>
          </a:bodyPr>
          <a:lstStyle/>
          <a:p>
            <a:pPr algn="l" indent="0" marL="0">
              <a:buNone/>
            </a:pPr>
            <a:r>
              <a:rPr lang="en-US" sz="1875" dirty="0">
                <a:solidFill>
                  <a:srgbClr val="FBFBFA"/>
                </a:solidFill>
                <a:latin typeface="Geist Mono" pitchFamily="34" charset="0"/>
                <a:ea typeface="Geist Mono" pitchFamily="34" charset="-122"/>
                <a:cs typeface="Geist Mono" pitchFamily="34" charset="-120"/>
              </a:rPr>
              <a:t>ALLOW_PARALLEL</a:t>
            </a:r>
            <a:endParaRPr lang="en-US" sz="1875" dirty="0"/>
          </a:p>
        </p:txBody>
      </p:sp>
      <p:sp>
        <p:nvSpPr>
          <p:cNvPr id="39" name="Text 37"/>
          <p:cNvSpPr/>
          <p:nvPr/>
        </p:nvSpPr>
        <p:spPr>
          <a:xfrm>
            <a:off x="12626950" y="7644557"/>
            <a:ext cx="4645052" cy="347663"/>
          </a:xfrm>
          <a:prstGeom prst="rect">
            <a:avLst/>
          </a:prstGeom>
          <a:noFill/>
          <a:ln/>
        </p:spPr>
        <p:txBody>
          <a:bodyPr wrap="square" lIns="25400" tIns="25400" rIns="25400" bIns="25400" rtlCol="0" anchor="t">
            <a:normAutofit/>
          </a:bodyPr>
          <a:lstStyle/>
          <a:p>
            <a:pPr algn="l" indent="0" marL="0">
              <a:buNone/>
            </a:pPr>
            <a:r>
              <a:rPr lang="en-US" sz="1875" dirty="0">
                <a:solidFill>
                  <a:srgbClr val="9BA2A2"/>
                </a:solidFill>
                <a:latin typeface="Geist Mono" pitchFamily="34" charset="0"/>
                <a:ea typeface="Geist Mono" pitchFamily="34" charset="-122"/>
                <a:cs typeface="Geist Mono" pitchFamily="34" charset="-120"/>
              </a:rPr>
              <a:t>run.local.perturbed</a:t>
            </a:r>
            <a:endParaRPr lang="en-US" sz="1875" dirty="0"/>
          </a:p>
        </p:txBody>
      </p:sp>
      <p:sp>
        <p:nvSpPr>
          <p:cNvPr id="40" name="Shape 38"/>
          <p:cNvSpPr/>
          <p:nvPr/>
        </p:nvSpPr>
        <p:spPr>
          <a:xfrm>
            <a:off x="1438275" y="8882955"/>
            <a:ext cx="15411450" cy="9525"/>
          </a:xfrm>
          <a:prstGeom prst="rect">
            <a:avLst/>
          </a:prstGeom>
          <a:solidFill>
            <a:srgbClr val="343A3A"/>
          </a:solidFill>
          <a:ln/>
        </p:spPr>
      </p:sp>
      <p:sp>
        <p:nvSpPr>
          <p:cNvPr id="41" name="Text 39"/>
          <p:cNvSpPr/>
          <p:nvPr/>
        </p:nvSpPr>
        <p:spPr>
          <a:xfrm>
            <a:off x="1438275" y="9063930"/>
            <a:ext cx="15873794" cy="756196"/>
          </a:xfrm>
          <a:prstGeom prst="rect">
            <a:avLst/>
          </a:prstGeom>
          <a:noFill/>
          <a:ln/>
        </p:spPr>
        <p:txBody>
          <a:bodyPr wrap="square" lIns="25400" tIns="25400" rIns="25400" bIns="25400" rtlCol="0" anchor="t">
            <a:normAutofit/>
          </a:bodyPr>
          <a:lstStyle/>
          <a:p>
            <a:pPr algn="l" indent="0" marL="0">
              <a:lnSpc>
                <a:spcPct val="112537"/>
              </a:lnSpc>
              <a:buNone/>
            </a:pPr>
            <a:r>
              <a:rPr lang="en-US" sz="1950" dirty="0">
                <a:solidFill>
                  <a:srgbClr val="9BA2A2"/>
                </a:solidFill>
                <a:latin typeface="Geist" pitchFamily="34" charset="0"/>
                <a:ea typeface="Geist" pitchFamily="34" charset="-122"/>
                <a:cs typeface="Geist" pitchFamily="34" charset="-120"/>
              </a:rPr>
              <a:t>The gate changes state before any value crosses, the 700ms hold is felt, and rest is closed. The browser recomputes nothing: it displays another recorded arm.</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DE0E0"/>
        </a:solidFill>
      </p:bgPr>
    </p:bg>
    <p:spTree>
      <p:nvGrpSpPr>
        <p:cNvPr id="1" name=""/>
        <p:cNvGrpSpPr/>
        <p:nvPr/>
      </p:nvGrpSpPr>
      <p:grpSpPr>
        <a:xfrm>
          <a:off x="0" y="0"/>
          <a:ext cx="0" cy="0"/>
          <a:chOff x="0" y="0"/>
          <a:chExt cx="0" cy="0"/>
        </a:xfrm>
      </p:grpSpPr>
      <p:sp>
        <p:nvSpPr>
          <p:cNvPr id="2" name="Text 0"/>
          <p:cNvSpPr/>
          <p:nvPr/>
        </p:nvSpPr>
        <p:spPr>
          <a:xfrm>
            <a:off x="1143000" y="247650"/>
            <a:ext cx="4833238" cy="457200"/>
          </a:xfrm>
          <a:prstGeom prst="rect">
            <a:avLst/>
          </a:prstGeom>
          <a:noFill/>
          <a:ln/>
        </p:spPr>
        <p:txBody>
          <a:bodyPr wrap="square" lIns="25400" tIns="25400" rIns="25400" bIns="25400" rtlCol="0" anchor="t">
            <a:normAutofit/>
          </a:bodyPr>
          <a:lstStyle/>
          <a:p>
            <a:pPr algn="l" indent="0" marL="0">
              <a:buNone/>
            </a:pPr>
            <a:r>
              <a:rPr lang="en-US" sz="2550" spc="-51" kern="0" dirty="0">
                <a:solidFill>
                  <a:srgbClr val="0B0D0E"/>
                </a:solidFill>
                <a:latin typeface="Geist" pitchFamily="34" charset="0"/>
                <a:ea typeface="Geist" pitchFamily="34" charset="-122"/>
                <a:cs typeface="Geist" pitchFamily="34" charset="-120"/>
              </a:rPr>
              <a:t>Choreography and constraints</a:t>
            </a:r>
            <a:endParaRPr lang="en-US" sz="2550" dirty="0"/>
          </a:p>
        </p:txBody>
      </p:sp>
      <p:sp>
        <p:nvSpPr>
          <p:cNvPr id="3" name="Text 1"/>
          <p:cNvSpPr/>
          <p:nvPr/>
        </p:nvSpPr>
        <p:spPr>
          <a:xfrm>
            <a:off x="1143000" y="733425"/>
            <a:ext cx="6768465" cy="347663"/>
          </a:xfrm>
          <a:prstGeom prst="rect">
            <a:avLst/>
          </a:prstGeom>
          <a:noFill/>
          <a:ln/>
        </p:spPr>
        <p:txBody>
          <a:bodyPr wrap="square" lIns="25400" tIns="25400" rIns="25400" bIns="25400" rtlCol="0" anchor="t">
            <a:normAutofit/>
          </a:bodyPr>
          <a:lstStyle/>
          <a:p>
            <a:pPr algn="l" indent="0" marL="0">
              <a:buNone/>
            </a:pPr>
            <a:r>
              <a:rPr lang="en-US" sz="1875" spc="150" kern="0" dirty="0">
                <a:solidFill>
                  <a:srgbClr val="515858"/>
                </a:solidFill>
                <a:latin typeface="Geist Mono" pitchFamily="34" charset="0"/>
                <a:ea typeface="Geist Mono" pitchFamily="34" charset="-122"/>
                <a:cs typeface="Geist Mono" pitchFamily="34" charset="-120"/>
              </a:rPr>
              <a:t>FOR IMPLEMENTATION IN MOTION FOR REACT</a:t>
            </a:r>
            <a:endParaRPr lang="en-US" sz="1875" dirty="0"/>
          </a:p>
        </p:txBody>
      </p:sp>
      <p:sp>
        <p:nvSpPr>
          <p:cNvPr id="4" name="Text 2"/>
          <p:cNvSpPr/>
          <p:nvPr/>
        </p:nvSpPr>
        <p:spPr>
          <a:xfrm>
            <a:off x="13477875" y="333375"/>
            <a:ext cx="4033838" cy="347663"/>
          </a:xfrm>
          <a:prstGeom prst="rect">
            <a:avLst/>
          </a:prstGeom>
          <a:noFill/>
          <a:ln/>
        </p:spPr>
        <p:txBody>
          <a:bodyPr wrap="none" lIns="25400" tIns="25400" rIns="25400" bIns="25400" rtlCol="0" anchor="t">
            <a:normAutofit/>
          </a:bodyPr>
          <a:lstStyle/>
          <a:p>
            <a:pPr algn="l" indent="0" marL="0">
              <a:buNone/>
            </a:pPr>
            <a:r>
              <a:rPr lang="en-US" sz="1875" spc="188" kern="0" dirty="0">
                <a:solidFill>
                  <a:srgbClr val="515858"/>
                </a:solidFill>
                <a:latin typeface="Geist Mono" pitchFamily="34" charset="0"/>
                <a:ea typeface="Geist Mono" pitchFamily="34" charset="-122"/>
                <a:cs typeface="Geist Mono" pitchFamily="34" charset="-120"/>
              </a:rPr>
              <a:t>07 · THE RUN · HAC-341</a:t>
            </a:r>
            <a:endParaRPr lang="en-US" sz="1875" dirty="0"/>
          </a:p>
        </p:txBody>
      </p:sp>
      <p:sp>
        <p:nvSpPr>
          <p:cNvPr id="5" name="Shape 3"/>
          <p:cNvSpPr/>
          <p:nvPr/>
        </p:nvSpPr>
        <p:spPr>
          <a:xfrm>
            <a:off x="1143000" y="3176588"/>
            <a:ext cx="7877175" cy="4900613"/>
          </a:xfrm>
          <a:prstGeom prst="rect">
            <a:avLst/>
          </a:prstGeom>
          <a:solidFill>
            <a:srgbClr val="0B0D0E"/>
          </a:solidFill>
          <a:ln w="9525">
            <a:solidFill>
              <a:srgbClr val="343A3A"/>
            </a:solidFill>
            <a:prstDash val="solid"/>
          </a:ln>
        </p:spPr>
      </p:sp>
      <p:sp>
        <p:nvSpPr>
          <p:cNvPr id="6" name="Text 4"/>
          <p:cNvSpPr/>
          <p:nvPr/>
        </p:nvSpPr>
        <p:spPr>
          <a:xfrm>
            <a:off x="1438275" y="3452813"/>
            <a:ext cx="8015288"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37B7B"/>
                </a:solidFill>
                <a:latin typeface="Geist Mono" pitchFamily="34" charset="0"/>
                <a:ea typeface="Geist Mono" pitchFamily="34" charset="-122"/>
                <a:cs typeface="Geist Mono" pitchFamily="34" charset="-120"/>
              </a:rPr>
              <a:t>CHOREOGRAPHY FOR MOTION FOR REACT</a:t>
            </a:r>
            <a:endParaRPr lang="en-US" sz="1800" dirty="0"/>
          </a:p>
        </p:txBody>
      </p:sp>
      <p:sp>
        <p:nvSpPr>
          <p:cNvPr id="7" name="Text 5"/>
          <p:cNvSpPr/>
          <p:nvPr/>
        </p:nvSpPr>
        <p:spPr>
          <a:xfrm>
            <a:off x="1438275" y="3919537"/>
            <a:ext cx="7505224" cy="681038"/>
          </a:xfrm>
          <a:prstGeom prst="rect">
            <a:avLst/>
          </a:prstGeom>
          <a:noFill/>
          <a:ln/>
        </p:spPr>
        <p:txBody>
          <a:bodyPr wrap="square" lIns="25400" tIns="25400" rIns="25400" bIns="25400" rtlCol="0" anchor="t">
            <a:normAutofit/>
          </a:bodyPr>
          <a:lstStyle/>
          <a:p>
            <a:pPr algn="l" indent="0" marL="0">
              <a:lnSpc>
                <a:spcPct val="103846"/>
              </a:lnSpc>
              <a:buNone/>
            </a:pPr>
            <a:r>
              <a:rPr lang="en-US" sz="1875" dirty="0">
                <a:solidFill>
                  <a:srgbClr val="EEF0F0"/>
                </a:solidFill>
                <a:latin typeface="Geist Mono" pitchFamily="34" charset="0"/>
                <a:ea typeface="Geist Mono" pitchFamily="34" charset="-122"/>
                <a:cs typeface="Geist Mono" pitchFamily="34" charset="-120"/>
              </a:rPr>
              <a:t>t1 evidence row: opacity 1 → 0.55, y 0 → -2, 140ms ease-exit</a:t>
            </a:r>
            <a:endParaRPr lang="en-US" sz="1875" dirty="0"/>
          </a:p>
        </p:txBody>
      </p:sp>
      <p:sp>
        <p:nvSpPr>
          <p:cNvPr id="8" name="Text 6"/>
          <p:cNvSpPr/>
          <p:nvPr/>
        </p:nvSpPr>
        <p:spPr>
          <a:xfrm>
            <a:off x="1438275" y="4695825"/>
            <a:ext cx="8015288" cy="359569"/>
          </a:xfrm>
          <a:prstGeom prst="rect">
            <a:avLst/>
          </a:prstGeom>
          <a:noFill/>
          <a:ln/>
        </p:spPr>
        <p:txBody>
          <a:bodyPr wrap="square" lIns="25400" tIns="25400" rIns="25400" bIns="25400" rtlCol="0" anchor="t">
            <a:normAutofit/>
          </a:bodyPr>
          <a:lstStyle/>
          <a:p>
            <a:pPr algn="l" indent="0" marL="0">
              <a:lnSpc>
                <a:spcPct val="103846"/>
              </a:lnSpc>
              <a:buNone/>
            </a:pPr>
            <a:r>
              <a:rPr lang="en-US" sz="1875" dirty="0">
                <a:solidFill>
                  <a:srgbClr val="EEF0F0"/>
                </a:solidFill>
                <a:latin typeface="Geist Mono" pitchFamily="34" charset="0"/>
                <a:ea typeface="Geist Mono" pitchFamily="34" charset="-122"/>
                <a:cs typeface="Geist Mono" pitchFamily="34" charset="-120"/>
              </a:rPr>
              <a:t>t2 gate terminals: gap 5 → 21px, 520ms ease-mech</a:t>
            </a:r>
            <a:endParaRPr lang="en-US" sz="1875" dirty="0"/>
          </a:p>
        </p:txBody>
      </p:sp>
      <p:sp>
        <p:nvSpPr>
          <p:cNvPr id="9" name="Text 7"/>
          <p:cNvSpPr/>
          <p:nvPr/>
        </p:nvSpPr>
        <p:spPr>
          <a:xfrm>
            <a:off x="1438275" y="5150644"/>
            <a:ext cx="7505224" cy="681038"/>
          </a:xfrm>
          <a:prstGeom prst="rect">
            <a:avLst/>
          </a:prstGeom>
          <a:noFill/>
          <a:ln/>
        </p:spPr>
        <p:txBody>
          <a:bodyPr wrap="square" lIns="25400" tIns="25400" rIns="25400" bIns="25400" rtlCol="0" anchor="t">
            <a:normAutofit/>
          </a:bodyPr>
          <a:lstStyle/>
          <a:p>
            <a:pPr algn="l" indent="0" marL="0">
              <a:lnSpc>
                <a:spcPct val="103846"/>
              </a:lnSpc>
              <a:buNone/>
            </a:pPr>
            <a:r>
              <a:rPr lang="en-US" sz="1875" dirty="0">
                <a:solidFill>
                  <a:srgbClr val="EEF0F0"/>
                </a:solidFill>
                <a:latin typeface="Geist Mono" pitchFamily="34" charset="0"/>
                <a:ea typeface="Geist Mono" pitchFamily="34" charset="-122"/>
                <a:cs typeface="Geist Mono" pitchFamily="34" charset="-120"/>
              </a:rPr>
              <a:t>t2 token: outgoing y → -6 fade 0.35, incoming y 6 → 0</a:t>
            </a:r>
            <a:endParaRPr lang="en-US" sz="1875" dirty="0"/>
          </a:p>
        </p:txBody>
      </p:sp>
      <p:sp>
        <p:nvSpPr>
          <p:cNvPr id="10" name="Text 8"/>
          <p:cNvSpPr/>
          <p:nvPr/>
        </p:nvSpPr>
        <p:spPr>
          <a:xfrm>
            <a:off x="1438275" y="5926931"/>
            <a:ext cx="7505224" cy="681038"/>
          </a:xfrm>
          <a:prstGeom prst="rect">
            <a:avLst/>
          </a:prstGeom>
          <a:noFill/>
          <a:ln/>
        </p:spPr>
        <p:txBody>
          <a:bodyPr wrap="square" lIns="25400" tIns="25400" rIns="25400" bIns="25400" rtlCol="0" anchor="t">
            <a:normAutofit/>
          </a:bodyPr>
          <a:lstStyle/>
          <a:p>
            <a:pPr algn="l" indent="0" marL="0">
              <a:lnSpc>
                <a:spcPct val="103846"/>
              </a:lnSpc>
              <a:buNone/>
            </a:pPr>
            <a:r>
              <a:rPr lang="en-US" sz="1875" dirty="0">
                <a:solidFill>
                  <a:srgbClr val="EEF0F0"/>
                </a:solidFill>
                <a:latin typeface="Geist Mono" pitchFamily="34" charset="0"/>
                <a:ea typeface="Geist Mono" pitchFamily="34" charset="-122"/>
                <a:cs typeface="Geist Mono" pitchFamily="34" charset="-120"/>
              </a:rPr>
              <a:t>t2 primary slot: border ink → failed, 220ms ease-standard</a:t>
            </a:r>
            <a:endParaRPr lang="en-US" sz="1875" dirty="0"/>
          </a:p>
        </p:txBody>
      </p:sp>
      <p:sp>
        <p:nvSpPr>
          <p:cNvPr id="11" name="Text 9"/>
          <p:cNvSpPr/>
          <p:nvPr/>
        </p:nvSpPr>
        <p:spPr>
          <a:xfrm>
            <a:off x="1438275" y="6703219"/>
            <a:ext cx="8015288" cy="359569"/>
          </a:xfrm>
          <a:prstGeom prst="rect">
            <a:avLst/>
          </a:prstGeom>
          <a:noFill/>
          <a:ln/>
        </p:spPr>
        <p:txBody>
          <a:bodyPr wrap="square" lIns="25400" tIns="25400" rIns="25400" bIns="25400" rtlCol="0" anchor="t">
            <a:normAutofit/>
          </a:bodyPr>
          <a:lstStyle/>
          <a:p>
            <a:pPr algn="l" indent="0" marL="0">
              <a:lnSpc>
                <a:spcPct val="103846"/>
              </a:lnSpc>
              <a:buNone/>
            </a:pPr>
            <a:r>
              <a:rPr lang="en-US" sz="1875" dirty="0">
                <a:solidFill>
                  <a:srgbClr val="EEF0F0"/>
                </a:solidFill>
                <a:latin typeface="Geist Mono" pitchFamily="34" charset="0"/>
                <a:ea typeface="Geist Mono" pitchFamily="34" charset="-122"/>
                <a:cs typeface="Geist Mono" pitchFamily="34" charset="-120"/>
              </a:rPr>
              <a:t>t3 hold 700ms: no transform, no opacity, no colour</a:t>
            </a:r>
            <a:endParaRPr lang="en-US" sz="1875" dirty="0"/>
          </a:p>
        </p:txBody>
      </p:sp>
      <p:sp>
        <p:nvSpPr>
          <p:cNvPr id="12" name="Text 10"/>
          <p:cNvSpPr/>
          <p:nvPr/>
        </p:nvSpPr>
        <p:spPr>
          <a:xfrm>
            <a:off x="1438275" y="7158038"/>
            <a:ext cx="7505224" cy="681038"/>
          </a:xfrm>
          <a:prstGeom prst="rect">
            <a:avLst/>
          </a:prstGeom>
          <a:noFill/>
          <a:ln/>
        </p:spPr>
        <p:txBody>
          <a:bodyPr wrap="square" lIns="25400" tIns="25400" rIns="25400" bIns="25400" rtlCol="0" anchor="t">
            <a:normAutofit/>
          </a:bodyPr>
          <a:lstStyle/>
          <a:p>
            <a:pPr algn="l" indent="0" marL="0">
              <a:lnSpc>
                <a:spcPct val="103846"/>
              </a:lnSpc>
              <a:buNone/>
            </a:pPr>
            <a:r>
              <a:rPr lang="en-US" sz="1875" dirty="0">
                <a:solidFill>
                  <a:srgbClr val="EEF0F0"/>
                </a:solidFill>
                <a:latin typeface="Geist Mono" pitchFamily="34" charset="0"/>
                <a:ea typeface="Geist Mono" pitchFamily="34" charset="-122"/>
                <a:cs typeface="Geist Mono" pitchFamily="34" charset="-120"/>
              </a:rPr>
              <a:t>t4 terminals: gap 21 → 5px, 380ms, elevation back to elev-2</a:t>
            </a:r>
            <a:endParaRPr lang="en-US" sz="1875" dirty="0"/>
          </a:p>
        </p:txBody>
      </p:sp>
      <p:sp>
        <p:nvSpPr>
          <p:cNvPr id="13" name="Shape 11"/>
          <p:cNvSpPr/>
          <p:nvPr/>
        </p:nvSpPr>
        <p:spPr>
          <a:xfrm>
            <a:off x="9267825" y="3176588"/>
            <a:ext cx="7877175" cy="3362251"/>
          </a:xfrm>
          <a:prstGeom prst="rect">
            <a:avLst/>
          </a:prstGeom>
          <a:solidFill>
            <a:srgbClr val="0B0D0E"/>
          </a:solidFill>
          <a:ln w="9525">
            <a:solidFill>
              <a:srgbClr val="343A3A"/>
            </a:solidFill>
            <a:prstDash val="solid"/>
          </a:ln>
        </p:spPr>
      </p:sp>
      <p:sp>
        <p:nvSpPr>
          <p:cNvPr id="14" name="Text 12"/>
          <p:cNvSpPr/>
          <p:nvPr/>
        </p:nvSpPr>
        <p:spPr>
          <a:xfrm>
            <a:off x="9563100" y="3452813"/>
            <a:ext cx="8015288"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37B7B"/>
                </a:solidFill>
                <a:latin typeface="Geist Mono" pitchFamily="34" charset="0"/>
                <a:ea typeface="Geist Mono" pitchFamily="34" charset="-122"/>
                <a:cs typeface="Geist Mono" pitchFamily="34" charset="-120"/>
              </a:rPr>
              <a:t>RULES IT OBEYS</a:t>
            </a:r>
            <a:endParaRPr lang="en-US" sz="1800" dirty="0"/>
          </a:p>
        </p:txBody>
      </p:sp>
      <p:sp>
        <p:nvSpPr>
          <p:cNvPr id="15" name="Text 13"/>
          <p:cNvSpPr/>
          <p:nvPr/>
        </p:nvSpPr>
        <p:spPr>
          <a:xfrm>
            <a:off x="9637395" y="3919537"/>
            <a:ext cx="7288530" cy="2381176"/>
          </a:xfrm>
          <a:prstGeom prst="rect">
            <a:avLst/>
          </a:prstGeom>
          <a:noFill/>
          <a:ln/>
        </p:spPr>
        <p:txBody>
          <a:bodyPr wrap="square" lIns="25400" tIns="25400" rIns="25400" bIns="25400" rtlCol="0" anchor="t">
            <a:normAutofit/>
          </a:bodyPr>
          <a:lstStyle/>
          <a:p>
            <a:pPr algn="l" marL="173355" indent="-173355">
              <a:lnSpc>
                <a:spcPct val="108657"/>
              </a:lnSpc>
              <a:buSzPct val="100000"/>
              <a:buChar char="•"/>
              <a:tabLst>
                <a:tab pos="173355" algn="l"/>
              </a:tabLst>
            </a:pPr>
            <a:r>
              <a:rPr lang="en-US" sz="1950" dirty="0">
                <a:solidFill>
                  <a:srgbClr val="EEF0F0"/>
                </a:solidFill>
                <a:latin typeface="Geist" pitchFamily="34" charset="0"/>
                <a:ea typeface="Geist" pitchFamily="34" charset="-122"/>
                <a:cs typeface="Geist" pitchFamily="34" charset="-120"/>
              </a:rPr>
              <a:t>Passage never begins in the frame the aperture opens.</a:t>
            </a:r>
            <a:endParaRPr lang="en-US" sz="1950" dirty="0"/>
          </a:p>
          <a:p>
            <a:pPr algn="l" marL="173355" indent="-173355">
              <a:lnSpc>
                <a:spcPct val="108657"/>
              </a:lnSpc>
              <a:buSzPct val="100000"/>
              <a:buChar char="•"/>
              <a:tabLst>
                <a:tab pos="173355" algn="l"/>
              </a:tabLst>
            </a:pPr>
            <a:r>
              <a:rPr lang="en-US" sz="1950" dirty="0">
                <a:solidFill>
                  <a:srgbClr val="EEF0F0"/>
                </a:solidFill>
                <a:latin typeface="Geist" pitchFamily="34" charset="0"/>
                <a:ea typeface="Geist" pitchFamily="34" charset="-122"/>
                <a:cs typeface="Geist" pitchFamily="34" charset="-120"/>
              </a:rPr>
              <a:t>The hold is never shortened to tighten a capture.</a:t>
            </a:r>
            <a:endParaRPr lang="en-US" sz="1950" dirty="0"/>
          </a:p>
          <a:p>
            <a:pPr algn="l" marL="173355" indent="-173355">
              <a:lnSpc>
                <a:spcPct val="108657"/>
              </a:lnSpc>
              <a:buSzPct val="100000"/>
              <a:buChar char="•"/>
              <a:tabLst>
                <a:tab pos="173355" algn="l"/>
              </a:tabLst>
            </a:pPr>
            <a:r>
              <a:rPr lang="en-US" sz="1950" dirty="0">
                <a:solidFill>
                  <a:srgbClr val="EEF0F0"/>
                </a:solidFill>
                <a:latin typeface="Geist" pitchFamily="34" charset="0"/>
                <a:ea typeface="Geist" pitchFamily="34" charset="-122"/>
                <a:cs typeface="Geist" pitchFamily="34" charset="-120"/>
              </a:rPr>
              <a:t>No frame rests open. The gate re-arms.</a:t>
            </a:r>
            <a:endParaRPr lang="en-US" sz="1950" dirty="0"/>
          </a:p>
          <a:p>
            <a:pPr algn="l" marL="173355" indent="-173355">
              <a:lnSpc>
                <a:spcPct val="108657"/>
              </a:lnSpc>
              <a:buSzPct val="100000"/>
              <a:buChar char="•"/>
              <a:tabLst>
                <a:tab pos="173355" algn="l"/>
              </a:tabLst>
            </a:pPr>
            <a:r>
              <a:rPr lang="en-US" sz="1950" dirty="0">
                <a:solidFill>
                  <a:srgbClr val="EEF0F0"/>
                </a:solidFill>
                <a:latin typeface="Geist" pitchFamily="34" charset="0"/>
                <a:ea typeface="Geist" pitchFamily="34" charset="-122"/>
                <a:cs typeface="Geist" pitchFamily="34" charset="-120"/>
              </a:rPr>
              <a:t>No loops, no streaming, no simulated progress.</a:t>
            </a:r>
            <a:endParaRPr lang="en-US" sz="1950" dirty="0"/>
          </a:p>
          <a:p>
            <a:pPr algn="l" marL="173355" indent="-173355">
              <a:lnSpc>
                <a:spcPct val="108657"/>
              </a:lnSpc>
              <a:buSzPct val="100000"/>
              <a:buChar char="•"/>
              <a:tabLst>
                <a:tab pos="173355" algn="l"/>
              </a:tabLst>
            </a:pPr>
            <a:r>
              <a:rPr lang="en-US" sz="1950" dirty="0">
                <a:solidFill>
                  <a:srgbClr val="EEF0F0"/>
                </a:solidFill>
                <a:latin typeface="Geist" pitchFamily="34" charset="0"/>
                <a:ea typeface="Geist" pitchFamily="34" charset="-122"/>
                <a:cs typeface="Geist" pitchFamily="34" charset="-120"/>
              </a:rPr>
              <a:t>Reduced motion renders t0 beside t4, values struck in place.</a:t>
            </a:r>
            <a:endParaRPr lang="en-US" sz="1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DE0E0"/>
        </a:solidFill>
      </p:bgPr>
    </p:bg>
    <p:spTree>
      <p:nvGrpSpPr>
        <p:cNvPr id="1" name=""/>
        <p:cNvGrpSpPr/>
        <p:nvPr/>
      </p:nvGrpSpPr>
      <p:grpSpPr>
        <a:xfrm>
          <a:off x="0" y="0"/>
          <a:ext cx="0" cy="0"/>
          <a:chOff x="0" y="0"/>
          <a:chExt cx="0" cy="0"/>
        </a:xfrm>
      </p:grpSpPr>
      <p:sp>
        <p:nvSpPr>
          <p:cNvPr id="2" name="Text 0"/>
          <p:cNvSpPr/>
          <p:nvPr/>
        </p:nvSpPr>
        <p:spPr>
          <a:xfrm>
            <a:off x="1143000" y="247650"/>
            <a:ext cx="3195965" cy="457200"/>
          </a:xfrm>
          <a:prstGeom prst="rect">
            <a:avLst/>
          </a:prstGeom>
          <a:noFill/>
          <a:ln/>
        </p:spPr>
        <p:txBody>
          <a:bodyPr wrap="square" lIns="25400" tIns="25400" rIns="25400" bIns="25400" rtlCol="0" anchor="t">
            <a:normAutofit/>
          </a:bodyPr>
          <a:lstStyle/>
          <a:p>
            <a:pPr algn="l" indent="0" marL="0">
              <a:buNone/>
            </a:pPr>
            <a:r>
              <a:rPr lang="en-US" sz="2550" spc="-51" kern="0" dirty="0">
                <a:solidFill>
                  <a:srgbClr val="0B0D0E"/>
                </a:solidFill>
                <a:latin typeface="Geist" pitchFamily="34" charset="0"/>
                <a:ea typeface="Geist" pitchFamily="34" charset="-122"/>
                <a:cs typeface="Geist" pitchFamily="34" charset="-120"/>
              </a:rPr>
              <a:t>The drawer at depth</a:t>
            </a:r>
            <a:endParaRPr lang="en-US" sz="2550" dirty="0"/>
          </a:p>
        </p:txBody>
      </p:sp>
      <p:sp>
        <p:nvSpPr>
          <p:cNvPr id="3" name="Text 1"/>
          <p:cNvSpPr/>
          <p:nvPr/>
        </p:nvSpPr>
        <p:spPr>
          <a:xfrm>
            <a:off x="1143000" y="733425"/>
            <a:ext cx="4809173" cy="347663"/>
          </a:xfrm>
          <a:prstGeom prst="rect">
            <a:avLst/>
          </a:prstGeom>
          <a:noFill/>
          <a:ln/>
        </p:spPr>
        <p:txBody>
          <a:bodyPr wrap="square" lIns="25400" tIns="25400" rIns="25400" bIns="25400" rtlCol="0" anchor="t">
            <a:normAutofit/>
          </a:bodyPr>
          <a:lstStyle/>
          <a:p>
            <a:pPr algn="l" indent="0" marL="0">
              <a:buNone/>
            </a:pPr>
            <a:r>
              <a:rPr lang="en-US" sz="1875" spc="150" kern="0" dirty="0">
                <a:solidFill>
                  <a:srgbClr val="515858"/>
                </a:solidFill>
                <a:latin typeface="Geist Mono" pitchFamily="34" charset="0"/>
                <a:ea typeface="Geist Mono" pitchFamily="34" charset="-122"/>
                <a:cs typeface="Geist Mono" pitchFamily="34" charset="-120"/>
              </a:rPr>
              <a:t>RUN.LOCAL.EVIDENCE · ELEV-3</a:t>
            </a:r>
            <a:endParaRPr lang="en-US" sz="1875" dirty="0"/>
          </a:p>
        </p:txBody>
      </p:sp>
      <p:sp>
        <p:nvSpPr>
          <p:cNvPr id="4" name="Text 2"/>
          <p:cNvSpPr/>
          <p:nvPr/>
        </p:nvSpPr>
        <p:spPr>
          <a:xfrm>
            <a:off x="13477875" y="333375"/>
            <a:ext cx="4033838" cy="347663"/>
          </a:xfrm>
          <a:prstGeom prst="rect">
            <a:avLst/>
          </a:prstGeom>
          <a:noFill/>
          <a:ln/>
        </p:spPr>
        <p:txBody>
          <a:bodyPr wrap="none" lIns="25400" tIns="25400" rIns="25400" bIns="25400" rtlCol="0" anchor="t">
            <a:normAutofit/>
          </a:bodyPr>
          <a:lstStyle/>
          <a:p>
            <a:pPr algn="l" indent="0" marL="0">
              <a:buNone/>
            </a:pPr>
            <a:r>
              <a:rPr lang="en-US" sz="1875" spc="188" kern="0" dirty="0">
                <a:solidFill>
                  <a:srgbClr val="515858"/>
                </a:solidFill>
                <a:latin typeface="Geist Mono" pitchFamily="34" charset="0"/>
                <a:ea typeface="Geist Mono" pitchFamily="34" charset="-122"/>
                <a:cs typeface="Geist Mono" pitchFamily="34" charset="-120"/>
              </a:rPr>
              <a:t>08 · THE RUN · HAC-341</a:t>
            </a:r>
            <a:endParaRPr lang="en-US" sz="1875" dirty="0"/>
          </a:p>
        </p:txBody>
      </p:sp>
      <p:sp>
        <p:nvSpPr>
          <p:cNvPr id="5" name="Shape 3"/>
          <p:cNvSpPr/>
          <p:nvPr/>
        </p:nvSpPr>
        <p:spPr>
          <a:xfrm>
            <a:off x="3057525" y="1433989"/>
            <a:ext cx="12172950" cy="8385809"/>
          </a:xfrm>
          <a:prstGeom prst="rect">
            <a:avLst/>
          </a:prstGeom>
          <a:solidFill>
            <a:srgbClr val="141818"/>
          </a:solidFill>
          <a:ln w="13526">
            <a:solidFill>
              <a:srgbClr val="343A3A"/>
            </a:solidFill>
            <a:prstDash val="solid"/>
          </a:ln>
        </p:spPr>
      </p:sp>
      <p:sp>
        <p:nvSpPr>
          <p:cNvPr id="6" name="Shape 4"/>
          <p:cNvSpPr/>
          <p:nvPr/>
        </p:nvSpPr>
        <p:spPr>
          <a:xfrm>
            <a:off x="3071050" y="1447514"/>
            <a:ext cx="12145898" cy="757428"/>
          </a:xfrm>
          <a:prstGeom prst="rect">
            <a:avLst/>
          </a:prstGeom>
          <a:solidFill>
            <a:srgbClr val="0F1212"/>
          </a:solidFill>
          <a:ln/>
        </p:spPr>
      </p:sp>
      <p:sp>
        <p:nvSpPr>
          <p:cNvPr id="7" name="Shape 5"/>
          <p:cNvSpPr/>
          <p:nvPr/>
        </p:nvSpPr>
        <p:spPr>
          <a:xfrm>
            <a:off x="3071050" y="2191417"/>
            <a:ext cx="12145898" cy="13526"/>
          </a:xfrm>
          <a:prstGeom prst="rect">
            <a:avLst/>
          </a:prstGeom>
          <a:solidFill>
            <a:srgbClr val="1E2323"/>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395663" y="1670685"/>
            <a:ext cx="297561" cy="297561"/>
          </a:xfrm>
          <a:prstGeom prst="rect">
            <a:avLst/>
          </a:prstGeom>
        </p:spPr>
      </p:pic>
      <p:sp>
        <p:nvSpPr>
          <p:cNvPr id="9" name="Text 6"/>
          <p:cNvSpPr/>
          <p:nvPr/>
        </p:nvSpPr>
        <p:spPr>
          <a:xfrm>
            <a:off x="3779448" y="1713798"/>
            <a:ext cx="902312" cy="249330"/>
          </a:xfrm>
          <a:prstGeom prst="rect">
            <a:avLst/>
          </a:prstGeom>
          <a:noFill/>
          <a:ln/>
        </p:spPr>
        <p:txBody>
          <a:bodyPr wrap="square" lIns="25400" tIns="25400" rIns="25400" bIns="25400" rtlCol="0" anchor="t">
            <a:normAutofit/>
          </a:bodyPr>
          <a:lstStyle/>
          <a:p>
            <a:pPr algn="l" indent="0" marL="0">
              <a:lnSpc>
                <a:spcPct val="78100"/>
              </a:lnSpc>
              <a:buNone/>
            </a:pPr>
            <a:r>
              <a:rPr lang="en-US" sz="1664" spc="-50" kern="0" dirty="0">
                <a:solidFill>
                  <a:srgbClr val="FBFBFA"/>
                </a:solidFill>
                <a:latin typeface="Geist" pitchFamily="34" charset="0"/>
                <a:ea typeface="Geist" pitchFamily="34" charset="-122"/>
                <a:cs typeface="Geist" pitchFamily="34" charset="-120"/>
              </a:rPr>
              <a:t>Interlock</a:t>
            </a:r>
            <a:endParaRPr lang="en-US" sz="1664" dirty="0"/>
          </a:p>
        </p:txBody>
      </p:sp>
      <p:sp>
        <p:nvSpPr>
          <p:cNvPr id="10" name="Text 7"/>
          <p:cNvSpPr/>
          <p:nvPr/>
        </p:nvSpPr>
        <p:spPr>
          <a:xfrm>
            <a:off x="4821969" y="1741694"/>
            <a:ext cx="723839" cy="193643"/>
          </a:xfrm>
          <a:prstGeom prst="rect">
            <a:avLst/>
          </a:prstGeom>
          <a:noFill/>
          <a:ln/>
        </p:spPr>
        <p:txBody>
          <a:bodyPr wrap="square" lIns="25400" tIns="25400" rIns="25400" bIns="25400" rtlCol="0" anchor="t">
            <a:normAutofit/>
          </a:bodyPr>
          <a:lstStyle/>
          <a:p>
            <a:pPr algn="l" indent="0" marL="0">
              <a:buNone/>
            </a:pPr>
            <a:r>
              <a:rPr lang="en-US" sz="958" spc="153" kern="0" dirty="0">
                <a:solidFill>
                  <a:srgbClr val="737B7B"/>
                </a:solidFill>
                <a:latin typeface="Geist Mono" pitchFamily="34" charset="0"/>
                <a:ea typeface="Geist Mono" pitchFamily="34" charset="-122"/>
                <a:cs typeface="Geist Mono" pitchFamily="34" charset="-120"/>
              </a:rPr>
              <a:t>THE RUN</a:t>
            </a:r>
            <a:endParaRPr lang="en-US" sz="958" dirty="0"/>
          </a:p>
        </p:txBody>
      </p:sp>
      <p:sp>
        <p:nvSpPr>
          <p:cNvPr id="11" name="Shape 8"/>
          <p:cNvSpPr/>
          <p:nvPr/>
        </p:nvSpPr>
        <p:spPr>
          <a:xfrm>
            <a:off x="5686016" y="1670685"/>
            <a:ext cx="13526" cy="297561"/>
          </a:xfrm>
          <a:prstGeom prst="rect">
            <a:avLst/>
          </a:prstGeom>
          <a:solidFill>
            <a:srgbClr val="1E2323"/>
          </a:solidFill>
          <a:ln/>
        </p:spPr>
      </p:sp>
      <p:sp>
        <p:nvSpPr>
          <p:cNvPr id="12" name="Text 9"/>
          <p:cNvSpPr/>
          <p:nvPr/>
        </p:nvSpPr>
        <p:spPr>
          <a:xfrm>
            <a:off x="5888898" y="1670685"/>
            <a:ext cx="3290088" cy="335661"/>
          </a:xfrm>
          <a:prstGeom prst="rect">
            <a:avLst/>
          </a:prstGeom>
          <a:noFill/>
          <a:ln/>
        </p:spPr>
        <p:txBody>
          <a:bodyPr wrap="square" lIns="25400" tIns="25400" rIns="25400" bIns="25400" rtlCol="0" anchor="t">
            <a:normAutofit/>
          </a:bodyPr>
          <a:lstStyle/>
          <a:p>
            <a:pPr algn="l" indent="0" marL="0">
              <a:buNone/>
            </a:pPr>
            <a:r>
              <a:rPr lang="en-US" sz="1811" dirty="0">
                <a:solidFill>
                  <a:srgbClr val="FBFBFA"/>
                </a:solidFill>
                <a:latin typeface="Geist" pitchFamily="34" charset="0"/>
                <a:ea typeface="Geist" pitchFamily="34" charset="-122"/>
                <a:cs typeface="Geist" pitchFamily="34" charset="-120"/>
              </a:rPr>
              <a:t>Controlled local experiment</a:t>
            </a:r>
            <a:endParaRPr lang="en-US" sz="1811" dirty="0"/>
          </a:p>
        </p:txBody>
      </p:sp>
      <p:sp>
        <p:nvSpPr>
          <p:cNvPr id="13" name="Shape 10"/>
          <p:cNvSpPr/>
          <p:nvPr/>
        </p:nvSpPr>
        <p:spPr>
          <a:xfrm>
            <a:off x="3395663" y="2448401"/>
            <a:ext cx="4463415" cy="1360581"/>
          </a:xfrm>
          <a:prstGeom prst="rect">
            <a:avLst/>
          </a:prstGeom>
          <a:solidFill>
            <a:srgbClr val="FBFBFA"/>
          </a:solidFill>
          <a:ln w="27051">
            <a:solidFill>
              <a:srgbClr val="FBFBFA"/>
            </a:solidFill>
            <a:prstDash val="solid"/>
          </a:ln>
          <a:effectLst>
            <a:outerShdw sx="100000" sy="100000" kx="0" ky="0" algn="bl" rotWithShape="0" blurRad="228600" dist="76200" dir="5400000">
              <a:srgbClr val="000000">
                <a:alpha val="55000"/>
              </a:srgbClr>
            </a:outerShdw>
          </a:effectLst>
        </p:spPr>
      </p:sp>
      <p:sp>
        <p:nvSpPr>
          <p:cNvPr id="14" name="Text 11"/>
          <p:cNvSpPr/>
          <p:nvPr/>
        </p:nvSpPr>
        <p:spPr>
          <a:xfrm>
            <a:off x="3639121" y="2651284"/>
            <a:ext cx="4374146" cy="213931"/>
          </a:xfrm>
          <a:prstGeom prst="rect">
            <a:avLst/>
          </a:prstGeom>
          <a:noFill/>
          <a:ln/>
        </p:spPr>
        <p:txBody>
          <a:bodyPr wrap="square" lIns="25400" tIns="25400" rIns="25400" bIns="25400" rtlCol="0" anchor="t">
            <a:normAutofit/>
          </a:bodyPr>
          <a:lstStyle/>
          <a:p>
            <a:pPr algn="l" indent="0" marL="0">
              <a:buNone/>
            </a:pPr>
            <a:r>
              <a:rPr lang="en-US" sz="1065" spc="149" kern="0" dirty="0">
                <a:solidFill>
                  <a:srgbClr val="0B0D0E"/>
                </a:solidFill>
                <a:latin typeface="Geist Mono" pitchFamily="34" charset="0"/>
                <a:ea typeface="Geist Mono" pitchFamily="34" charset="-122"/>
                <a:cs typeface="Geist Mono" pitchFamily="34" charset="-120"/>
              </a:rPr>
              <a:t>SHARED ENVIRONMENT</a:t>
            </a:r>
            <a:endParaRPr lang="en-US" sz="1065" dirty="0"/>
          </a:p>
        </p:txBody>
      </p:sp>
      <p:sp>
        <p:nvSpPr>
          <p:cNvPr id="15" name="Shape 12"/>
          <p:cNvSpPr/>
          <p:nvPr/>
        </p:nvSpPr>
        <p:spPr>
          <a:xfrm>
            <a:off x="3639121" y="2935319"/>
            <a:ext cx="3976497" cy="332643"/>
          </a:xfrm>
          <a:prstGeom prst="roundRect">
            <a:avLst>
              <a:gd name="adj" fmla="val 8132"/>
            </a:avLst>
          </a:prstGeom>
          <a:solidFill>
            <a:srgbClr val="3180C4">
              <a:alpha val="10000"/>
            </a:srgbClr>
          </a:solidFill>
          <a:ln w="20288">
            <a:solidFill>
              <a:srgbClr val="357EC5">
                <a:alpha val="55000"/>
              </a:srgbClr>
            </a:solidFill>
            <a:prstDash val="solid"/>
          </a:ln>
        </p:spPr>
      </p:sp>
      <p:sp>
        <p:nvSpPr>
          <p:cNvPr id="16" name="Shape 13"/>
          <p:cNvSpPr/>
          <p:nvPr/>
        </p:nvSpPr>
        <p:spPr>
          <a:xfrm>
            <a:off x="3713512" y="3003264"/>
            <a:ext cx="196754" cy="196754"/>
          </a:xfrm>
          <a:prstGeom prst="roundRect">
            <a:avLst>
              <a:gd name="adj" fmla="val 13749"/>
            </a:avLst>
          </a:prstGeom>
          <a:solidFill>
            <a:srgbClr val="327CC7">
              <a:alpha val="16000"/>
            </a:srgbClr>
          </a:solidFill>
          <a:ln/>
        </p:spPr>
      </p:sp>
      <p:sp>
        <p:nvSpPr>
          <p:cNvPr id="17" name="Text 14"/>
          <p:cNvSpPr/>
          <p:nvPr/>
        </p:nvSpPr>
        <p:spPr>
          <a:xfrm>
            <a:off x="3675412" y="3003264"/>
            <a:ext cx="272954" cy="234854"/>
          </a:xfrm>
          <a:prstGeom prst="rect">
            <a:avLst/>
          </a:prstGeom>
          <a:noFill/>
          <a:ln/>
        </p:spPr>
        <p:txBody>
          <a:bodyPr wrap="none" lIns="25400" tIns="25400" rIns="25400" bIns="25400" rtlCol="0" anchor="ctr">
            <a:normAutofit/>
          </a:bodyPr>
          <a:lstStyle/>
          <a:p>
            <a:pPr algn="ctr" indent="0" marL="0">
              <a:lnSpc>
                <a:spcPct val="79063"/>
              </a:lnSpc>
              <a:buNone/>
            </a:pPr>
            <a:r>
              <a:rPr lang="en-US" sz="1347" spc="117" kern="0" dirty="0">
                <a:solidFill>
                  <a:srgbClr val="347EC4"/>
                </a:solidFill>
                <a:latin typeface="Geist Mono" pitchFamily="34" charset="0"/>
                <a:ea typeface="Geist Mono" pitchFamily="34" charset="-122"/>
                <a:cs typeface="Geist Mono" pitchFamily="34" charset="-120"/>
              </a:rPr>
              <a:t>⧉</a:t>
            </a:r>
            <a:endParaRPr lang="en-US" sz="1347" dirty="0"/>
          </a:p>
        </p:txBody>
      </p:sp>
      <p:sp>
        <p:nvSpPr>
          <p:cNvPr id="18" name="Text 15"/>
          <p:cNvSpPr/>
          <p:nvPr/>
        </p:nvSpPr>
        <p:spPr>
          <a:xfrm>
            <a:off x="4018470" y="3002947"/>
            <a:ext cx="805309" cy="227457"/>
          </a:xfrm>
          <a:prstGeom prst="rect">
            <a:avLst/>
          </a:prstGeom>
          <a:noFill/>
          <a:ln/>
        </p:spPr>
        <p:txBody>
          <a:bodyPr wrap="none" lIns="0" tIns="0" rIns="0" bIns="0" rtlCol="0" anchor="t">
            <a:normAutofit/>
          </a:bodyPr>
          <a:lstStyle/>
          <a:p>
            <a:pPr algn="l" indent="0" marL="0">
              <a:lnSpc>
                <a:spcPct val="125714"/>
              </a:lnSpc>
              <a:buNone/>
            </a:pPr>
            <a:r>
              <a:rPr lang="en-US" sz="1172" spc="117" kern="0" dirty="0">
                <a:solidFill>
                  <a:srgbClr val="347EC4"/>
                </a:solidFill>
                <a:latin typeface="Geist Mono" pitchFamily="34" charset="0"/>
                <a:ea typeface="Geist Mono" pitchFamily="34" charset="-122"/>
                <a:cs typeface="Geist Mono" pitchFamily="34" charset="-120"/>
              </a:rPr>
              <a:t>COUPLED</a:t>
            </a:r>
            <a:endParaRPr lang="en-US" sz="1172" dirty="0"/>
          </a:p>
        </p:txBody>
      </p:sp>
      <p:sp>
        <p:nvSpPr>
          <p:cNvPr id="19" name="Text 16"/>
          <p:cNvSpPr/>
          <p:nvPr/>
        </p:nvSpPr>
        <p:spPr>
          <a:xfrm>
            <a:off x="3639121" y="3376166"/>
            <a:ext cx="4374146" cy="268034"/>
          </a:xfrm>
          <a:prstGeom prst="rect">
            <a:avLst/>
          </a:prstGeom>
          <a:noFill/>
          <a:ln/>
        </p:spPr>
        <p:txBody>
          <a:bodyPr wrap="square" lIns="25400" tIns="25400" rIns="25400" bIns="25400" rtlCol="0" anchor="t">
            <a:normAutofit/>
          </a:bodyPr>
          <a:lstStyle/>
          <a:p>
            <a:pPr algn="l" indent="0" marL="0">
              <a:buNone/>
            </a:pPr>
            <a:r>
              <a:rPr lang="en-US" sz="1385" dirty="0">
                <a:solidFill>
                  <a:srgbClr val="0B0D0E"/>
                </a:solidFill>
                <a:latin typeface="Geist Mono" pitchFamily="34" charset="0"/>
                <a:ea typeface="Geist Mono" pitchFamily="34" charset="-122"/>
                <a:cs typeface="Geist Mono" pitchFamily="34" charset="-120"/>
              </a:rPr>
              <a:t>joint bound &lt;= 130</a:t>
            </a:r>
            <a:endParaRPr lang="en-US" sz="1385" dirty="0"/>
          </a:p>
        </p:txBody>
      </p:sp>
      <p:sp>
        <p:nvSpPr>
          <p:cNvPr id="20" name="Shape 17"/>
          <p:cNvSpPr/>
          <p:nvPr/>
        </p:nvSpPr>
        <p:spPr>
          <a:xfrm>
            <a:off x="3395663" y="3998339"/>
            <a:ext cx="4463415" cy="1021175"/>
          </a:xfrm>
          <a:prstGeom prst="rect">
            <a:avLst/>
          </a:prstGeom>
          <a:solidFill>
            <a:srgbClr val="F7F8F8"/>
          </a:solidFill>
          <a:ln/>
        </p:spPr>
      </p:sp>
      <p:sp>
        <p:nvSpPr>
          <p:cNvPr id="21" name="Shape 18"/>
          <p:cNvSpPr/>
          <p:nvPr/>
        </p:nvSpPr>
        <p:spPr>
          <a:xfrm>
            <a:off x="3395663" y="4992464"/>
            <a:ext cx="4463415" cy="27051"/>
          </a:xfrm>
          <a:prstGeom prst="rect">
            <a:avLst/>
          </a:prstGeom>
          <a:solidFill>
            <a:srgbClr val="FBFBFA"/>
          </a:solidFill>
          <a:ln/>
        </p:spPr>
      </p:sp>
      <p:sp>
        <p:nvSpPr>
          <p:cNvPr id="22" name="Shape 19"/>
          <p:cNvSpPr/>
          <p:nvPr/>
        </p:nvSpPr>
        <p:spPr>
          <a:xfrm>
            <a:off x="3395663" y="3998339"/>
            <a:ext cx="4463415" cy="27051"/>
          </a:xfrm>
          <a:prstGeom prst="rect">
            <a:avLst/>
          </a:prstGeom>
          <a:solidFill>
            <a:srgbClr val="FBFBFA"/>
          </a:solidFill>
          <a:ln/>
        </p:spPr>
      </p:sp>
      <p:sp>
        <p:nvSpPr>
          <p:cNvPr id="23" name="Text 20"/>
          <p:cNvSpPr/>
          <p:nvPr/>
        </p:nvSpPr>
        <p:spPr>
          <a:xfrm>
            <a:off x="3612071" y="4201221"/>
            <a:ext cx="4433659" cy="193643"/>
          </a:xfrm>
          <a:prstGeom prst="rect">
            <a:avLst/>
          </a:prstGeom>
          <a:noFill/>
          <a:ln/>
        </p:spPr>
        <p:txBody>
          <a:bodyPr wrap="square" lIns="25400" tIns="25400" rIns="25400" bIns="25400" rtlCol="0" anchor="t">
            <a:normAutofit/>
          </a:bodyPr>
          <a:lstStyle/>
          <a:p>
            <a:pPr algn="l" indent="0" marL="0">
              <a:buNone/>
            </a:pPr>
            <a:r>
              <a:rPr lang="en-US" sz="958" spc="134" kern="0" dirty="0">
                <a:solidFill>
                  <a:srgbClr val="737B7B"/>
                </a:solidFill>
                <a:latin typeface="Geist Mono" pitchFamily="34" charset="0"/>
                <a:ea typeface="Geist Mono" pitchFamily="34" charset="-122"/>
                <a:cs typeface="Geist Mono" pitchFamily="34" charset="-120"/>
              </a:rPr>
              <a:t>INTERLOCK DECISION</a:t>
            </a:r>
            <a:endParaRPr lang="en-US" sz="958" dirty="0"/>
          </a:p>
        </p:txBody>
      </p:sp>
      <p:sp>
        <p:nvSpPr>
          <p:cNvPr id="24" name="Shape 21"/>
          <p:cNvSpPr/>
          <p:nvPr/>
        </p:nvSpPr>
        <p:spPr>
          <a:xfrm>
            <a:off x="3612071" y="4613749"/>
            <a:ext cx="243459" cy="54102"/>
          </a:xfrm>
          <a:prstGeom prst="rect">
            <a:avLst/>
          </a:prstGeom>
          <a:solidFill>
            <a:srgbClr val="0B0D0E"/>
          </a:solidFill>
          <a:ln/>
        </p:spPr>
      </p:sp>
      <p:sp>
        <p:nvSpPr>
          <p:cNvPr id="25" name="Shape 22"/>
          <p:cNvSpPr/>
          <p:nvPr/>
        </p:nvSpPr>
        <p:spPr>
          <a:xfrm>
            <a:off x="4031361" y="4613749"/>
            <a:ext cx="243459" cy="54102"/>
          </a:xfrm>
          <a:prstGeom prst="rect">
            <a:avLst/>
          </a:prstGeom>
          <a:solidFill>
            <a:srgbClr val="0B0D0E"/>
          </a:solidFill>
          <a:ln/>
        </p:spPr>
      </p:sp>
      <p:sp>
        <p:nvSpPr>
          <p:cNvPr id="26" name="Text 23"/>
          <p:cNvSpPr/>
          <p:nvPr/>
        </p:nvSpPr>
        <p:spPr>
          <a:xfrm>
            <a:off x="4423600" y="4464969"/>
            <a:ext cx="3213659" cy="389763"/>
          </a:xfrm>
          <a:prstGeom prst="rect">
            <a:avLst/>
          </a:prstGeom>
          <a:noFill/>
          <a:ln/>
        </p:spPr>
        <p:txBody>
          <a:bodyPr wrap="square" lIns="25400" tIns="25400" rIns="25400" bIns="25400" rtlCol="0" anchor="t">
            <a:normAutofit/>
          </a:bodyPr>
          <a:lstStyle/>
          <a:p>
            <a:pPr algn="l" indent="0" marL="0">
              <a:buNone/>
            </a:pPr>
            <a:r>
              <a:rPr lang="en-US" sz="2130" dirty="0">
                <a:solidFill>
                  <a:srgbClr val="0B0D0E"/>
                </a:solidFill>
                <a:latin typeface="Geist Mono" pitchFamily="34" charset="0"/>
                <a:ea typeface="Geist Mono" pitchFamily="34" charset="-122"/>
                <a:cs typeface="Geist Mono" pitchFamily="34" charset="-120"/>
              </a:rPr>
              <a:t>WITHHOLD_SERIALIZE</a:t>
            </a:r>
            <a:endParaRPr lang="en-US" sz="2130" dirty="0"/>
          </a:p>
        </p:txBody>
      </p:sp>
      <p:sp>
        <p:nvSpPr>
          <p:cNvPr id="27" name="Shape 24"/>
          <p:cNvSpPr/>
          <p:nvPr/>
        </p:nvSpPr>
        <p:spPr>
          <a:xfrm>
            <a:off x="3071050" y="2204942"/>
            <a:ext cx="12145898" cy="7601331"/>
          </a:xfrm>
          <a:prstGeom prst="rect">
            <a:avLst/>
          </a:prstGeom>
          <a:solidFill>
            <a:srgbClr val="0B0D0E">
              <a:alpha val="34000"/>
            </a:srgbClr>
          </a:solidFill>
          <a:ln/>
        </p:spPr>
      </p:sp>
      <p:sp>
        <p:nvSpPr>
          <p:cNvPr id="28" name="Shape 25"/>
          <p:cNvSpPr/>
          <p:nvPr/>
        </p:nvSpPr>
        <p:spPr>
          <a:xfrm>
            <a:off x="7642670" y="2204942"/>
            <a:ext cx="7574280" cy="7601331"/>
          </a:xfrm>
          <a:prstGeom prst="rect">
            <a:avLst/>
          </a:prstGeom>
          <a:solidFill>
            <a:srgbClr val="1E2323"/>
          </a:solidFill>
          <a:ln/>
          <a:effectLst>
            <a:outerShdw sx="100000" sy="100000" kx="0" ky="0" algn="bl" rotWithShape="0" blurRad="609600" dist="228600" dir="10800000">
              <a:srgbClr val="000000">
                <a:alpha val="65000"/>
              </a:srgbClr>
            </a:outerShdw>
          </a:effectLst>
        </p:spPr>
      </p:sp>
      <p:sp>
        <p:nvSpPr>
          <p:cNvPr id="29" name="Shape 26"/>
          <p:cNvSpPr/>
          <p:nvPr/>
        </p:nvSpPr>
        <p:spPr>
          <a:xfrm>
            <a:off x="7642670" y="2204942"/>
            <a:ext cx="27051" cy="7601331"/>
          </a:xfrm>
          <a:prstGeom prst="rect">
            <a:avLst/>
          </a:prstGeom>
          <a:solidFill>
            <a:srgbClr val="FBFBFA"/>
          </a:solidFill>
          <a:ln/>
        </p:spPr>
      </p:sp>
      <p:sp>
        <p:nvSpPr>
          <p:cNvPr id="30" name="Shape 27"/>
          <p:cNvSpPr/>
          <p:nvPr/>
        </p:nvSpPr>
        <p:spPr>
          <a:xfrm>
            <a:off x="7669720" y="2204942"/>
            <a:ext cx="7547229" cy="770953"/>
          </a:xfrm>
          <a:prstGeom prst="rect">
            <a:avLst/>
          </a:prstGeom>
          <a:solidFill>
            <a:srgbClr val="141818"/>
          </a:solidFill>
          <a:ln/>
        </p:spPr>
      </p:sp>
      <p:sp>
        <p:nvSpPr>
          <p:cNvPr id="31" name="Shape 28"/>
          <p:cNvSpPr/>
          <p:nvPr/>
        </p:nvSpPr>
        <p:spPr>
          <a:xfrm>
            <a:off x="7669720" y="2962370"/>
            <a:ext cx="7547229" cy="13526"/>
          </a:xfrm>
          <a:prstGeom prst="rect">
            <a:avLst/>
          </a:prstGeom>
          <a:solidFill>
            <a:srgbClr val="515858"/>
          </a:solidFill>
          <a:ln/>
        </p:spPr>
      </p:sp>
      <p:sp>
        <p:nvSpPr>
          <p:cNvPr id="32" name="Text 29"/>
          <p:cNvSpPr/>
          <p:nvPr/>
        </p:nvSpPr>
        <p:spPr>
          <a:xfrm>
            <a:off x="7940230" y="2380774"/>
            <a:ext cx="4884766" cy="193643"/>
          </a:xfrm>
          <a:prstGeom prst="rect">
            <a:avLst/>
          </a:prstGeom>
          <a:noFill/>
          <a:ln/>
        </p:spPr>
        <p:txBody>
          <a:bodyPr wrap="square" lIns="25400" tIns="25400" rIns="25400" bIns="25400" rtlCol="0" anchor="t">
            <a:normAutofit/>
          </a:bodyPr>
          <a:lstStyle/>
          <a:p>
            <a:pPr algn="l" indent="0" marL="0">
              <a:buNone/>
            </a:pPr>
            <a:r>
              <a:rPr lang="en-US" sz="958" spc="134" kern="0" dirty="0">
                <a:solidFill>
                  <a:srgbClr val="737B7B"/>
                </a:solidFill>
                <a:latin typeface="Geist Mono" pitchFamily="34" charset="0"/>
                <a:ea typeface="Geist Mono" pitchFamily="34" charset="-122"/>
                <a:cs typeface="Geist Mono" pitchFamily="34" charset="-120"/>
              </a:rPr>
              <a:t>LAYER 2 · CAN I VERIFY IT?</a:t>
            </a:r>
            <a:endParaRPr lang="en-US" sz="958" dirty="0"/>
          </a:p>
        </p:txBody>
      </p:sp>
      <p:sp>
        <p:nvSpPr>
          <p:cNvPr id="33" name="Text 30"/>
          <p:cNvSpPr/>
          <p:nvPr/>
        </p:nvSpPr>
        <p:spPr>
          <a:xfrm>
            <a:off x="7940230" y="2576894"/>
            <a:ext cx="4884766" cy="247745"/>
          </a:xfrm>
          <a:prstGeom prst="rect">
            <a:avLst/>
          </a:prstGeom>
          <a:noFill/>
          <a:ln/>
        </p:spPr>
        <p:txBody>
          <a:bodyPr wrap="square" lIns="25400" tIns="25400" rIns="25400" bIns="25400" rtlCol="0" anchor="t">
            <a:normAutofit/>
          </a:bodyPr>
          <a:lstStyle/>
          <a:p>
            <a:pPr algn="l" indent="0" marL="0">
              <a:buNone/>
            </a:pPr>
            <a:r>
              <a:rPr lang="en-US" sz="1278" spc="153" kern="0" dirty="0">
                <a:solidFill>
                  <a:srgbClr val="FBFBFA"/>
                </a:solidFill>
                <a:latin typeface="Geist Mono" pitchFamily="34" charset="0"/>
                <a:ea typeface="Geist Mono" pitchFamily="34" charset="-122"/>
                <a:cs typeface="Geist Mono" pitchFamily="34" charset="-120"/>
              </a:rPr>
              <a:t>CONTROLLED LOCAL EXPERIMENT · EVIDENCE</a:t>
            </a:r>
            <a:endParaRPr lang="en-US" sz="1278" dirty="0"/>
          </a:p>
        </p:txBody>
      </p:sp>
      <p:sp>
        <p:nvSpPr>
          <p:cNvPr id="34" name="Shape 31"/>
          <p:cNvSpPr/>
          <p:nvPr/>
        </p:nvSpPr>
        <p:spPr>
          <a:xfrm>
            <a:off x="14175486" y="2401062"/>
            <a:ext cx="770953" cy="365188"/>
          </a:xfrm>
          <a:prstGeom prst="rect">
            <a:avLst/>
          </a:prstGeom>
          <a:ln w="13526">
            <a:solidFill>
              <a:srgbClr val="515858"/>
            </a:solidFill>
            <a:prstDash val="solid"/>
          </a:ln>
        </p:spPr>
      </p:sp>
      <p:sp>
        <p:nvSpPr>
          <p:cNvPr id="35" name="Text 32"/>
          <p:cNvSpPr/>
          <p:nvPr/>
        </p:nvSpPr>
        <p:spPr>
          <a:xfrm>
            <a:off x="14286166" y="2495741"/>
            <a:ext cx="549592" cy="213931"/>
          </a:xfrm>
          <a:prstGeom prst="rect">
            <a:avLst/>
          </a:prstGeom>
          <a:noFill/>
          <a:ln/>
        </p:spPr>
        <p:txBody>
          <a:bodyPr wrap="square" lIns="25400" tIns="25400" rIns="25400" bIns="25400" rtlCol="0" anchor="t">
            <a:normAutofit/>
          </a:bodyPr>
          <a:lstStyle/>
          <a:p>
            <a:pPr algn="ctr" indent="0" marL="0">
              <a:buNone/>
            </a:pPr>
            <a:r>
              <a:rPr lang="en-US" sz="1065" spc="107" kern="0" dirty="0">
                <a:solidFill>
                  <a:srgbClr val="FBFBFA"/>
                </a:solidFill>
                <a:latin typeface="Geist Mono" pitchFamily="34" charset="0"/>
                <a:ea typeface="Geist Mono" pitchFamily="34" charset="-122"/>
                <a:cs typeface="Geist Mono" pitchFamily="34" charset="-120"/>
              </a:rPr>
              <a:t>CLOSE</a:t>
            </a:r>
            <a:endParaRPr lang="en-US" sz="1065" dirty="0"/>
          </a:p>
        </p:txBody>
      </p:sp>
      <p:sp>
        <p:nvSpPr>
          <p:cNvPr id="36" name="Shape 33"/>
          <p:cNvSpPr/>
          <p:nvPr/>
        </p:nvSpPr>
        <p:spPr>
          <a:xfrm>
            <a:off x="7940230" y="3192304"/>
            <a:ext cx="7006208" cy="1771841"/>
          </a:xfrm>
          <a:prstGeom prst="rect">
            <a:avLst/>
          </a:prstGeom>
          <a:solidFill>
            <a:srgbClr val="FBFBFA"/>
          </a:solidFill>
          <a:ln/>
          <a:effectLst>
            <a:outerShdw sx="100000" sy="100000" kx="0" ky="0" algn="bl" rotWithShape="0" blurRad="19050" dist="9525" dir="5400000">
              <a:srgbClr val="000000">
                <a:alpha val="50000"/>
              </a:srgbClr>
            </a:outerShdw>
          </a:effectLst>
        </p:spPr>
      </p:sp>
      <p:sp>
        <p:nvSpPr>
          <p:cNvPr id="37" name="Shape 34"/>
          <p:cNvSpPr/>
          <p:nvPr/>
        </p:nvSpPr>
        <p:spPr>
          <a:xfrm>
            <a:off x="7940230" y="3192304"/>
            <a:ext cx="40577" cy="1771841"/>
          </a:xfrm>
          <a:prstGeom prst="rect">
            <a:avLst/>
          </a:prstGeom>
          <a:solidFill>
            <a:srgbClr val="0B0D0E"/>
          </a:solidFill>
          <a:ln/>
        </p:spPr>
      </p:sp>
      <p:sp>
        <p:nvSpPr>
          <p:cNvPr id="38" name="Text 35"/>
          <p:cNvSpPr/>
          <p:nvPr/>
        </p:nvSpPr>
        <p:spPr>
          <a:xfrm>
            <a:off x="8183689" y="3368135"/>
            <a:ext cx="7215854" cy="213931"/>
          </a:xfrm>
          <a:prstGeom prst="rect">
            <a:avLst/>
          </a:prstGeom>
          <a:noFill/>
          <a:ln/>
        </p:spPr>
        <p:txBody>
          <a:bodyPr wrap="square" lIns="25400" tIns="25400" rIns="25400" bIns="25400" rtlCol="0" anchor="t">
            <a:normAutofit/>
          </a:bodyPr>
          <a:lstStyle/>
          <a:p>
            <a:pPr algn="l" indent="0" marL="0">
              <a:buNone/>
            </a:pPr>
            <a:r>
              <a:rPr lang="en-US" sz="1065" spc="149" kern="0" dirty="0">
                <a:solidFill>
                  <a:srgbClr val="0B0D0E"/>
                </a:solidFill>
                <a:latin typeface="Geist Mono" pitchFamily="34" charset="0"/>
                <a:ea typeface="Geist Mono" pitchFamily="34" charset="-122"/>
                <a:cs typeface="Geist Mono" pitchFamily="34" charset="-120"/>
              </a:rPr>
              <a:t>COUPLING ATTRIBUTION</a:t>
            </a:r>
            <a:endParaRPr lang="en-US" sz="1065" dirty="0"/>
          </a:p>
        </p:txBody>
      </p:sp>
      <p:sp>
        <p:nvSpPr>
          <p:cNvPr id="39" name="Text 36"/>
          <p:cNvSpPr/>
          <p:nvPr/>
        </p:nvSpPr>
        <p:spPr>
          <a:xfrm>
            <a:off x="8183689" y="3652171"/>
            <a:ext cx="6756664" cy="525018"/>
          </a:xfrm>
          <a:prstGeom prst="rect">
            <a:avLst/>
          </a:prstGeom>
          <a:noFill/>
          <a:ln/>
        </p:spPr>
        <p:txBody>
          <a:bodyPr wrap="square" lIns="25400" tIns="25400" rIns="25400" bIns="25400" rtlCol="0" anchor="t">
            <a:normAutofit/>
          </a:bodyPr>
          <a:lstStyle/>
          <a:p>
            <a:pPr algn="l" indent="0" marL="0">
              <a:lnSpc>
                <a:spcPct val="116129"/>
              </a:lnSpc>
              <a:buNone/>
            </a:pPr>
            <a:r>
              <a:rPr lang="en-US" sz="1278" dirty="0">
                <a:solidFill>
                  <a:srgbClr val="1E2323"/>
                </a:solidFill>
                <a:latin typeface="Geist" pitchFamily="34" charset="0"/>
                <a:ea typeface="Geist" pitchFamily="34" charset="-122"/>
                <a:cs typeface="Geist" pitchFamily="34" charset="-120"/>
              </a:rPr>
              <a:t>Both intents resolve against one revision-bound WorkspaceJSON environment, so the constraint binds the pair jointly.</a:t>
            </a:r>
            <a:endParaRPr lang="en-US" sz="1278" dirty="0"/>
          </a:p>
        </p:txBody>
      </p:sp>
      <p:sp>
        <p:nvSpPr>
          <p:cNvPr id="40" name="Shape 37"/>
          <p:cNvSpPr/>
          <p:nvPr/>
        </p:nvSpPr>
        <p:spPr>
          <a:xfrm>
            <a:off x="8183689" y="4247293"/>
            <a:ext cx="6559868" cy="13526"/>
          </a:xfrm>
          <a:prstGeom prst="rect">
            <a:avLst/>
          </a:prstGeom>
          <a:solidFill>
            <a:srgbClr val="DDE0E0"/>
          </a:solidFill>
          <a:ln/>
        </p:spPr>
      </p:sp>
      <p:sp>
        <p:nvSpPr>
          <p:cNvPr id="41" name="Text 38"/>
          <p:cNvSpPr/>
          <p:nvPr/>
        </p:nvSpPr>
        <p:spPr>
          <a:xfrm>
            <a:off x="8183689" y="4382548"/>
            <a:ext cx="833628" cy="213931"/>
          </a:xfrm>
          <a:prstGeom prst="rect">
            <a:avLst/>
          </a:prstGeom>
          <a:noFill/>
          <a:ln/>
        </p:spPr>
        <p:txBody>
          <a:bodyPr wrap="square" lIns="25400" tIns="25400" rIns="25400" bIns="25400" rtlCol="0" anchor="t">
            <a:normAutofit/>
          </a:bodyPr>
          <a:lstStyle/>
          <a:p>
            <a:pPr algn="l" indent="0" marL="0">
              <a:buNone/>
            </a:pPr>
            <a:r>
              <a:rPr lang="en-US" sz="1065" spc="107" kern="0" dirty="0">
                <a:solidFill>
                  <a:srgbClr val="737B7B"/>
                </a:solidFill>
                <a:latin typeface="Geist Mono" pitchFamily="34" charset="0"/>
                <a:ea typeface="Geist Mono" pitchFamily="34" charset="-122"/>
                <a:cs typeface="Geist Mono" pitchFamily="34" charset="-120"/>
              </a:rPr>
              <a:t>BOUND</a:t>
            </a:r>
            <a:endParaRPr lang="en-US" sz="1065" dirty="0"/>
          </a:p>
        </p:txBody>
      </p:sp>
      <p:sp>
        <p:nvSpPr>
          <p:cNvPr id="42" name="Text 39"/>
          <p:cNvSpPr/>
          <p:nvPr/>
        </p:nvSpPr>
        <p:spPr>
          <a:xfrm>
            <a:off x="9103423" y="4369022"/>
            <a:ext cx="6204147" cy="227457"/>
          </a:xfrm>
          <a:prstGeom prst="rect">
            <a:avLst/>
          </a:prstGeom>
          <a:noFill/>
          <a:ln/>
        </p:spPr>
        <p:txBody>
          <a:bodyPr wrap="square" lIns="25400" tIns="25400" rIns="25400" bIns="25400" rtlCol="0" anchor="t">
            <a:normAutofit/>
          </a:bodyPr>
          <a:lstStyle/>
          <a:p>
            <a:pPr algn="l" indent="0" marL="0">
              <a:buNone/>
            </a:pPr>
            <a:r>
              <a:rPr lang="en-US" sz="1172" dirty="0">
                <a:solidFill>
                  <a:srgbClr val="0B0D0E"/>
                </a:solidFill>
                <a:latin typeface="Geist Mono" pitchFamily="34" charset="0"/>
                <a:ea typeface="Geist Mono" pitchFamily="34" charset="-122"/>
                <a:cs typeface="Geist Mono" pitchFamily="34" charset="-120"/>
              </a:rPr>
              <a:t>&lt;= 130</a:t>
            </a:r>
            <a:endParaRPr lang="en-US" sz="1172" dirty="0"/>
          </a:p>
        </p:txBody>
      </p:sp>
      <p:sp>
        <p:nvSpPr>
          <p:cNvPr id="43" name="Text 40"/>
          <p:cNvSpPr/>
          <p:nvPr/>
        </p:nvSpPr>
        <p:spPr>
          <a:xfrm>
            <a:off x="8183689" y="4612481"/>
            <a:ext cx="833628" cy="213932"/>
          </a:xfrm>
          <a:prstGeom prst="rect">
            <a:avLst/>
          </a:prstGeom>
          <a:noFill/>
          <a:ln/>
        </p:spPr>
        <p:txBody>
          <a:bodyPr wrap="square" lIns="25400" tIns="25400" rIns="25400" bIns="25400" rtlCol="0" anchor="t">
            <a:normAutofit/>
          </a:bodyPr>
          <a:lstStyle/>
          <a:p>
            <a:pPr algn="l" indent="0" marL="0">
              <a:buNone/>
            </a:pPr>
            <a:r>
              <a:rPr lang="en-US" sz="1065" spc="107" kern="0" dirty="0">
                <a:solidFill>
                  <a:srgbClr val="737B7B"/>
                </a:solidFill>
                <a:latin typeface="Geist Mono" pitchFamily="34" charset="0"/>
                <a:ea typeface="Geist Mono" pitchFamily="34" charset="-122"/>
                <a:cs typeface="Geist Mono" pitchFamily="34" charset="-120"/>
              </a:rPr>
              <a:t>REVISION</a:t>
            </a:r>
            <a:endParaRPr lang="en-US" sz="1065" dirty="0"/>
          </a:p>
        </p:txBody>
      </p:sp>
      <p:sp>
        <p:nvSpPr>
          <p:cNvPr id="44" name="Text 41"/>
          <p:cNvSpPr/>
          <p:nvPr/>
        </p:nvSpPr>
        <p:spPr>
          <a:xfrm>
            <a:off x="9103423" y="4598956"/>
            <a:ext cx="6204147" cy="227457"/>
          </a:xfrm>
          <a:prstGeom prst="rect">
            <a:avLst/>
          </a:prstGeom>
          <a:noFill/>
          <a:ln/>
        </p:spPr>
        <p:txBody>
          <a:bodyPr wrap="square" lIns="25400" tIns="25400" rIns="25400" bIns="25400" rtlCol="0" anchor="t">
            <a:normAutofit/>
          </a:bodyPr>
          <a:lstStyle/>
          <a:p>
            <a:pPr algn="l" indent="0" marL="0">
              <a:buNone/>
            </a:pPr>
            <a:r>
              <a:rPr lang="en-US" sz="1172" dirty="0">
                <a:solidFill>
                  <a:srgbClr val="B07A00"/>
                </a:solidFill>
                <a:latin typeface="Geist Mono" pitchFamily="34" charset="0"/>
                <a:ea typeface="Geist Mono" pitchFamily="34" charset="-122"/>
                <a:cs typeface="Geist Mono" pitchFamily="34" charset="-120"/>
              </a:rPr>
              <a:t>[BIND: hac330EnvRevision]</a:t>
            </a:r>
            <a:endParaRPr lang="en-US" sz="1172" dirty="0"/>
          </a:p>
        </p:txBody>
      </p:sp>
      <p:sp>
        <p:nvSpPr>
          <p:cNvPr id="45" name="Shape 42"/>
          <p:cNvSpPr/>
          <p:nvPr/>
        </p:nvSpPr>
        <p:spPr>
          <a:xfrm>
            <a:off x="7940230" y="5153502"/>
            <a:ext cx="7006208" cy="2339911"/>
          </a:xfrm>
          <a:prstGeom prst="rect">
            <a:avLst/>
          </a:prstGeom>
          <a:solidFill>
            <a:srgbClr val="FBFBFA"/>
          </a:solidFill>
          <a:ln/>
          <a:effectLst>
            <a:outerShdw sx="100000" sy="100000" kx="0" ky="0" algn="bl" rotWithShape="0" blurRad="19050" dist="9525" dir="5400000">
              <a:srgbClr val="000000">
                <a:alpha val="50000"/>
              </a:srgbClr>
            </a:outerShdw>
          </a:effectLst>
        </p:spPr>
      </p:sp>
      <p:sp>
        <p:nvSpPr>
          <p:cNvPr id="46" name="Text 43"/>
          <p:cNvSpPr/>
          <p:nvPr/>
        </p:nvSpPr>
        <p:spPr>
          <a:xfrm>
            <a:off x="8143113" y="5329333"/>
            <a:ext cx="7260489" cy="213931"/>
          </a:xfrm>
          <a:prstGeom prst="rect">
            <a:avLst/>
          </a:prstGeom>
          <a:noFill/>
          <a:ln/>
        </p:spPr>
        <p:txBody>
          <a:bodyPr wrap="square" lIns="25400" tIns="25400" rIns="25400" bIns="25400" rtlCol="0" anchor="t">
            <a:normAutofit/>
          </a:bodyPr>
          <a:lstStyle/>
          <a:p>
            <a:pPr algn="l" indent="0" marL="0">
              <a:buNone/>
            </a:pPr>
            <a:r>
              <a:rPr lang="en-US" sz="1065" spc="149" kern="0" dirty="0">
                <a:solidFill>
                  <a:srgbClr val="0B0D0E"/>
                </a:solidFill>
                <a:latin typeface="Geist Mono" pitchFamily="34" charset="0"/>
                <a:ea typeface="Geist Mono" pitchFamily="34" charset="-122"/>
                <a:cs typeface="Geist Mono" pitchFamily="34" charset="-120"/>
              </a:rPr>
              <a:t>BASIS · FROZEN ARMS, VERBATIM</a:t>
            </a:r>
            <a:endParaRPr lang="en-US" sz="1065" dirty="0"/>
          </a:p>
        </p:txBody>
      </p:sp>
      <p:sp>
        <p:nvSpPr>
          <p:cNvPr id="47" name="Shape 44"/>
          <p:cNvSpPr/>
          <p:nvPr/>
        </p:nvSpPr>
        <p:spPr>
          <a:xfrm>
            <a:off x="8143113" y="5924455"/>
            <a:ext cx="6600444" cy="13526"/>
          </a:xfrm>
          <a:prstGeom prst="rect">
            <a:avLst/>
          </a:prstGeom>
          <a:solidFill>
            <a:srgbClr val="0B0D0E"/>
          </a:solidFill>
          <a:ln/>
        </p:spPr>
      </p:sp>
      <p:sp>
        <p:nvSpPr>
          <p:cNvPr id="48" name="Text 45"/>
          <p:cNvSpPr/>
          <p:nvPr/>
        </p:nvSpPr>
        <p:spPr>
          <a:xfrm>
            <a:off x="8143113" y="5680996"/>
            <a:ext cx="2047824" cy="213932"/>
          </a:xfrm>
          <a:prstGeom prst="rect">
            <a:avLst/>
          </a:prstGeom>
          <a:noFill/>
          <a:ln/>
        </p:spPr>
        <p:txBody>
          <a:bodyPr wrap="square" lIns="25400" tIns="25400" rIns="25400" bIns="25400" rtlCol="0" anchor="t">
            <a:normAutofit/>
          </a:bodyPr>
          <a:lstStyle/>
          <a:p>
            <a:pPr algn="l" indent="0" marL="0">
              <a:buNone/>
            </a:pPr>
            <a:r>
              <a:rPr lang="en-US" sz="1065" spc="107" kern="0" dirty="0">
                <a:solidFill>
                  <a:srgbClr val="737B7B"/>
                </a:solidFill>
                <a:latin typeface="Geist Mono" pitchFamily="34" charset="0"/>
                <a:ea typeface="Geist Mono" pitchFamily="34" charset="-122"/>
                <a:cs typeface="Geist Mono" pitchFamily="34" charset="-120"/>
              </a:rPr>
              <a:t>ARM</a:t>
            </a:r>
            <a:endParaRPr lang="en-US" sz="1065" dirty="0"/>
          </a:p>
        </p:txBody>
      </p:sp>
      <p:sp>
        <p:nvSpPr>
          <p:cNvPr id="49" name="Text 46"/>
          <p:cNvSpPr/>
          <p:nvPr/>
        </p:nvSpPr>
        <p:spPr>
          <a:xfrm>
            <a:off x="10140025" y="5680996"/>
            <a:ext cx="2867164" cy="213932"/>
          </a:xfrm>
          <a:prstGeom prst="rect">
            <a:avLst/>
          </a:prstGeom>
          <a:noFill/>
          <a:ln/>
        </p:spPr>
        <p:txBody>
          <a:bodyPr wrap="square" lIns="25400" tIns="25400" rIns="25400" bIns="25400" rtlCol="0" anchor="t">
            <a:normAutofit/>
          </a:bodyPr>
          <a:lstStyle/>
          <a:p>
            <a:pPr algn="l" indent="0" marL="0">
              <a:buNone/>
            </a:pPr>
            <a:r>
              <a:rPr lang="en-US" sz="1065" spc="107" kern="0" dirty="0">
                <a:solidFill>
                  <a:srgbClr val="737B7B"/>
                </a:solidFill>
                <a:latin typeface="Geist Mono" pitchFamily="34" charset="0"/>
                <a:ea typeface="Geist Mono" pitchFamily="34" charset="-122"/>
                <a:cs typeface="Geist Mono" pitchFamily="34" charset="-120"/>
              </a:rPr>
              <a:t>DECISION</a:t>
            </a:r>
            <a:endParaRPr lang="en-US" sz="1065" dirty="0"/>
          </a:p>
        </p:txBody>
      </p:sp>
      <p:sp>
        <p:nvSpPr>
          <p:cNvPr id="50" name="Text 47"/>
          <p:cNvSpPr/>
          <p:nvPr/>
        </p:nvSpPr>
        <p:spPr>
          <a:xfrm>
            <a:off x="12881793" y="5680996"/>
            <a:ext cx="2047824" cy="213932"/>
          </a:xfrm>
          <a:prstGeom prst="rect">
            <a:avLst/>
          </a:prstGeom>
          <a:noFill/>
          <a:ln/>
        </p:spPr>
        <p:txBody>
          <a:bodyPr wrap="square" lIns="25400" tIns="25400" rIns="25400" bIns="25400" rtlCol="0" anchor="t">
            <a:normAutofit/>
          </a:bodyPr>
          <a:lstStyle/>
          <a:p>
            <a:pPr algn="l" indent="0" marL="0">
              <a:buNone/>
            </a:pPr>
            <a:r>
              <a:rPr lang="en-US" sz="1065" spc="107" kern="0" dirty="0">
                <a:solidFill>
                  <a:srgbClr val="737B7B"/>
                </a:solidFill>
                <a:latin typeface="Geist Mono" pitchFamily="34" charset="0"/>
                <a:ea typeface="Geist Mono" pitchFamily="34" charset="-122"/>
                <a:cs typeface="Geist Mono" pitchFamily="34" charset="-120"/>
              </a:rPr>
              <a:t>JOINT STATE</a:t>
            </a:r>
            <a:endParaRPr lang="en-US" sz="1065" dirty="0"/>
          </a:p>
        </p:txBody>
      </p:sp>
      <p:sp>
        <p:nvSpPr>
          <p:cNvPr id="51" name="Shape 48"/>
          <p:cNvSpPr/>
          <p:nvPr/>
        </p:nvSpPr>
        <p:spPr>
          <a:xfrm>
            <a:off x="8143113" y="6289643"/>
            <a:ext cx="6600444" cy="13526"/>
          </a:xfrm>
          <a:prstGeom prst="rect">
            <a:avLst/>
          </a:prstGeom>
          <a:solidFill>
            <a:srgbClr val="DDE0E0"/>
          </a:solidFill>
          <a:ln/>
        </p:spPr>
      </p:sp>
      <p:sp>
        <p:nvSpPr>
          <p:cNvPr id="52" name="Text 49"/>
          <p:cNvSpPr/>
          <p:nvPr/>
        </p:nvSpPr>
        <p:spPr>
          <a:xfrm>
            <a:off x="8143113" y="6019133"/>
            <a:ext cx="2047824" cy="227457"/>
          </a:xfrm>
          <a:prstGeom prst="rect">
            <a:avLst/>
          </a:prstGeom>
          <a:noFill/>
          <a:ln/>
        </p:spPr>
        <p:txBody>
          <a:bodyPr wrap="square" lIns="25400" tIns="25400" rIns="25400" bIns="25400" rtlCol="0" anchor="t">
            <a:normAutofit/>
          </a:bodyPr>
          <a:lstStyle/>
          <a:p>
            <a:pPr algn="l" indent="0" marL="0">
              <a:buNone/>
            </a:pPr>
            <a:r>
              <a:rPr lang="en-US" sz="1172" dirty="0">
                <a:solidFill>
                  <a:srgbClr val="0B0D0E"/>
                </a:solidFill>
                <a:latin typeface="Geist Mono" pitchFamily="34" charset="0"/>
                <a:ea typeface="Geist Mono" pitchFamily="34" charset="-122"/>
                <a:cs typeface="Geist Mono" pitchFamily="34" charset="-120"/>
              </a:rPr>
              <a:t>baseline</a:t>
            </a:r>
            <a:endParaRPr lang="en-US" sz="1172" dirty="0"/>
          </a:p>
        </p:txBody>
      </p:sp>
      <p:sp>
        <p:nvSpPr>
          <p:cNvPr id="53" name="Text 50"/>
          <p:cNvSpPr/>
          <p:nvPr/>
        </p:nvSpPr>
        <p:spPr>
          <a:xfrm>
            <a:off x="10140025" y="6019133"/>
            <a:ext cx="2867164" cy="227457"/>
          </a:xfrm>
          <a:prstGeom prst="rect">
            <a:avLst/>
          </a:prstGeom>
          <a:noFill/>
          <a:ln/>
        </p:spPr>
        <p:txBody>
          <a:bodyPr wrap="square" lIns="25400" tIns="25400" rIns="25400" bIns="25400" rtlCol="0" anchor="t">
            <a:normAutofit/>
          </a:bodyPr>
          <a:lstStyle/>
          <a:p>
            <a:pPr algn="l" indent="0" marL="0">
              <a:buNone/>
            </a:pPr>
            <a:r>
              <a:rPr lang="en-US" sz="1172" dirty="0">
                <a:solidFill>
                  <a:srgbClr val="737B7B"/>
                </a:solidFill>
                <a:latin typeface="Geist Mono" pitchFamily="34" charset="0"/>
                <a:ea typeface="Geist Mono" pitchFamily="34" charset="-122"/>
                <a:cs typeface="Geist Mono" pitchFamily="34" charset="-120"/>
              </a:rPr>
              <a:t>—</a:t>
            </a:r>
            <a:endParaRPr lang="en-US" sz="1172" dirty="0"/>
          </a:p>
        </p:txBody>
      </p:sp>
      <p:sp>
        <p:nvSpPr>
          <p:cNvPr id="54" name="Text 51"/>
          <p:cNvSpPr/>
          <p:nvPr/>
        </p:nvSpPr>
        <p:spPr>
          <a:xfrm>
            <a:off x="12881793" y="6019133"/>
            <a:ext cx="2047824" cy="227457"/>
          </a:xfrm>
          <a:prstGeom prst="rect">
            <a:avLst/>
          </a:prstGeom>
          <a:noFill/>
          <a:ln/>
        </p:spPr>
        <p:txBody>
          <a:bodyPr wrap="square" lIns="25400" tIns="25400" rIns="25400" bIns="25400" rtlCol="0" anchor="t">
            <a:normAutofit/>
          </a:bodyPr>
          <a:lstStyle/>
          <a:p>
            <a:pPr algn="l" indent="0" marL="0">
              <a:buNone/>
            </a:pPr>
            <a:r>
              <a:rPr lang="en-US" sz="1172" dirty="0">
                <a:solidFill>
                  <a:srgbClr val="0B0D0E"/>
                </a:solidFill>
                <a:latin typeface="Geist Mono" pitchFamily="34" charset="0"/>
                <a:ea typeface="Geist Mono" pitchFamily="34" charset="-122"/>
                <a:cs typeface="Geist Mono" pitchFamily="34" charset="-120"/>
              </a:rPr>
              <a:t>140 &gt; 130</a:t>
            </a:r>
            <a:endParaRPr lang="en-US" sz="1172" dirty="0"/>
          </a:p>
        </p:txBody>
      </p:sp>
      <p:sp>
        <p:nvSpPr>
          <p:cNvPr id="55" name="Shape 52"/>
          <p:cNvSpPr/>
          <p:nvPr/>
        </p:nvSpPr>
        <p:spPr>
          <a:xfrm>
            <a:off x="8143113" y="6303169"/>
            <a:ext cx="6600444" cy="365188"/>
          </a:xfrm>
          <a:prstGeom prst="rect">
            <a:avLst/>
          </a:prstGeom>
          <a:solidFill>
            <a:srgbClr val="F7F8F8"/>
          </a:solidFill>
          <a:ln/>
        </p:spPr>
      </p:sp>
      <p:sp>
        <p:nvSpPr>
          <p:cNvPr id="56" name="Shape 53"/>
          <p:cNvSpPr/>
          <p:nvPr/>
        </p:nvSpPr>
        <p:spPr>
          <a:xfrm>
            <a:off x="8143113" y="6654831"/>
            <a:ext cx="6600444" cy="13526"/>
          </a:xfrm>
          <a:prstGeom prst="rect">
            <a:avLst/>
          </a:prstGeom>
          <a:solidFill>
            <a:srgbClr val="DDE0E0"/>
          </a:solidFill>
          <a:ln/>
        </p:spPr>
      </p:sp>
      <p:sp>
        <p:nvSpPr>
          <p:cNvPr id="57" name="Text 54"/>
          <p:cNvSpPr/>
          <p:nvPr/>
        </p:nvSpPr>
        <p:spPr>
          <a:xfrm>
            <a:off x="8143113" y="6384322"/>
            <a:ext cx="2047824" cy="227457"/>
          </a:xfrm>
          <a:prstGeom prst="rect">
            <a:avLst/>
          </a:prstGeom>
          <a:noFill/>
          <a:ln/>
        </p:spPr>
        <p:txBody>
          <a:bodyPr wrap="square" lIns="25400" tIns="25400" rIns="25400" bIns="25400" rtlCol="0" anchor="t">
            <a:normAutofit/>
          </a:bodyPr>
          <a:lstStyle/>
          <a:p>
            <a:pPr algn="l" indent="0" marL="0">
              <a:buNone/>
            </a:pPr>
            <a:r>
              <a:rPr lang="en-US" sz="1172" dirty="0">
                <a:solidFill>
                  <a:srgbClr val="0B0D0E"/>
                </a:solidFill>
                <a:latin typeface="Geist Mono" pitchFamily="34" charset="0"/>
                <a:ea typeface="Geist Mono" pitchFamily="34" charset="-122"/>
                <a:cs typeface="Geist Mono" pitchFamily="34" charset="-120"/>
              </a:rPr>
              <a:t>treatment</a:t>
            </a:r>
            <a:endParaRPr lang="en-US" sz="1172" dirty="0"/>
          </a:p>
        </p:txBody>
      </p:sp>
      <p:sp>
        <p:nvSpPr>
          <p:cNvPr id="58" name="Text 55"/>
          <p:cNvSpPr/>
          <p:nvPr/>
        </p:nvSpPr>
        <p:spPr>
          <a:xfrm>
            <a:off x="10140025" y="6384322"/>
            <a:ext cx="2867164" cy="227457"/>
          </a:xfrm>
          <a:prstGeom prst="rect">
            <a:avLst/>
          </a:prstGeom>
          <a:noFill/>
          <a:ln/>
        </p:spPr>
        <p:txBody>
          <a:bodyPr wrap="square" lIns="25400" tIns="25400" rIns="25400" bIns="25400" rtlCol="0" anchor="t">
            <a:normAutofit/>
          </a:bodyPr>
          <a:lstStyle/>
          <a:p>
            <a:pPr algn="l" indent="0" marL="0">
              <a:buNone/>
            </a:pPr>
            <a:r>
              <a:rPr lang="en-US" sz="1172" dirty="0">
                <a:solidFill>
                  <a:srgbClr val="0B0D0E"/>
                </a:solidFill>
                <a:latin typeface="Geist Mono" pitchFamily="34" charset="0"/>
                <a:ea typeface="Geist Mono" pitchFamily="34" charset="-122"/>
                <a:cs typeface="Geist Mono" pitchFamily="34" charset="-120"/>
              </a:rPr>
              <a:t>WITHHOLD_SERIALIZE</a:t>
            </a:r>
            <a:endParaRPr lang="en-US" sz="1172" dirty="0"/>
          </a:p>
        </p:txBody>
      </p:sp>
      <p:sp>
        <p:nvSpPr>
          <p:cNvPr id="59" name="Text 56"/>
          <p:cNvSpPr/>
          <p:nvPr/>
        </p:nvSpPr>
        <p:spPr>
          <a:xfrm>
            <a:off x="12881793" y="6384322"/>
            <a:ext cx="2047824" cy="227457"/>
          </a:xfrm>
          <a:prstGeom prst="rect">
            <a:avLst/>
          </a:prstGeom>
          <a:noFill/>
          <a:ln/>
        </p:spPr>
        <p:txBody>
          <a:bodyPr wrap="square" lIns="25400" tIns="25400" rIns="25400" bIns="25400" rtlCol="0" anchor="t">
            <a:normAutofit/>
          </a:bodyPr>
          <a:lstStyle/>
          <a:p>
            <a:pPr algn="l" indent="0" marL="0">
              <a:buNone/>
            </a:pPr>
            <a:r>
              <a:rPr lang="en-US" sz="1172" dirty="0">
                <a:solidFill>
                  <a:srgbClr val="0B0D0E"/>
                </a:solidFill>
                <a:latin typeface="Geist Mono" pitchFamily="34" charset="0"/>
                <a:ea typeface="Geist Mono" pitchFamily="34" charset="-122"/>
                <a:cs typeface="Geist Mono" pitchFamily="34" charset="-120"/>
              </a:rPr>
              <a:t>120 &lt;= 130</a:t>
            </a:r>
            <a:endParaRPr lang="en-US" sz="1172" dirty="0"/>
          </a:p>
        </p:txBody>
      </p:sp>
      <p:sp>
        <p:nvSpPr>
          <p:cNvPr id="60" name="Text 57"/>
          <p:cNvSpPr/>
          <p:nvPr/>
        </p:nvSpPr>
        <p:spPr>
          <a:xfrm>
            <a:off x="8143113" y="6749510"/>
            <a:ext cx="2047824" cy="227457"/>
          </a:xfrm>
          <a:prstGeom prst="rect">
            <a:avLst/>
          </a:prstGeom>
          <a:noFill/>
          <a:ln/>
        </p:spPr>
        <p:txBody>
          <a:bodyPr wrap="square" lIns="25400" tIns="25400" rIns="25400" bIns="25400" rtlCol="0" anchor="t">
            <a:normAutofit/>
          </a:bodyPr>
          <a:lstStyle/>
          <a:p>
            <a:pPr algn="l" indent="0" marL="0">
              <a:buNone/>
            </a:pPr>
            <a:r>
              <a:rPr lang="en-US" sz="1172" dirty="0">
                <a:solidFill>
                  <a:srgbClr val="0B0D0E"/>
                </a:solidFill>
                <a:latin typeface="Geist Mono" pitchFamily="34" charset="0"/>
                <a:ea typeface="Geist Mono" pitchFamily="34" charset="-122"/>
                <a:cs typeface="Geist Mono" pitchFamily="34" charset="-120"/>
              </a:rPr>
              <a:t>perturbed</a:t>
            </a:r>
            <a:endParaRPr lang="en-US" sz="1172" dirty="0"/>
          </a:p>
        </p:txBody>
      </p:sp>
      <p:sp>
        <p:nvSpPr>
          <p:cNvPr id="61" name="Text 58"/>
          <p:cNvSpPr/>
          <p:nvPr/>
        </p:nvSpPr>
        <p:spPr>
          <a:xfrm>
            <a:off x="10140025" y="6749510"/>
            <a:ext cx="2867164" cy="227457"/>
          </a:xfrm>
          <a:prstGeom prst="rect">
            <a:avLst/>
          </a:prstGeom>
          <a:noFill/>
          <a:ln/>
        </p:spPr>
        <p:txBody>
          <a:bodyPr wrap="square" lIns="25400" tIns="25400" rIns="25400" bIns="25400" rtlCol="0" anchor="t">
            <a:normAutofit/>
          </a:bodyPr>
          <a:lstStyle/>
          <a:p>
            <a:pPr algn="l" indent="0" marL="0">
              <a:buNone/>
            </a:pPr>
            <a:r>
              <a:rPr lang="en-US" sz="1172" dirty="0">
                <a:solidFill>
                  <a:srgbClr val="0B0D0E"/>
                </a:solidFill>
                <a:latin typeface="Geist Mono" pitchFamily="34" charset="0"/>
                <a:ea typeface="Geist Mono" pitchFamily="34" charset="-122"/>
                <a:cs typeface="Geist Mono" pitchFamily="34" charset="-120"/>
              </a:rPr>
              <a:t>ALLOW_PARALLEL</a:t>
            </a:r>
            <a:endParaRPr lang="en-US" sz="1172" dirty="0"/>
          </a:p>
        </p:txBody>
      </p:sp>
      <p:sp>
        <p:nvSpPr>
          <p:cNvPr id="62" name="Text 59"/>
          <p:cNvSpPr/>
          <p:nvPr/>
        </p:nvSpPr>
        <p:spPr>
          <a:xfrm>
            <a:off x="12881793" y="6749510"/>
            <a:ext cx="2047824" cy="227457"/>
          </a:xfrm>
          <a:prstGeom prst="rect">
            <a:avLst/>
          </a:prstGeom>
          <a:noFill/>
          <a:ln/>
        </p:spPr>
        <p:txBody>
          <a:bodyPr wrap="square" lIns="25400" tIns="25400" rIns="25400" bIns="25400" rtlCol="0" anchor="t">
            <a:normAutofit/>
          </a:bodyPr>
          <a:lstStyle/>
          <a:p>
            <a:pPr algn="l" indent="0" marL="0">
              <a:buNone/>
            </a:pPr>
            <a:r>
              <a:rPr lang="en-US" sz="1172" dirty="0">
                <a:solidFill>
                  <a:srgbClr val="0B0D0E"/>
                </a:solidFill>
                <a:latin typeface="Geist Mono" pitchFamily="34" charset="0"/>
                <a:ea typeface="Geist Mono" pitchFamily="34" charset="-122"/>
                <a:cs typeface="Geist Mono" pitchFamily="34" charset="-120"/>
              </a:rPr>
              <a:t>140 &gt; 130</a:t>
            </a:r>
            <a:endParaRPr lang="en-US" sz="1172" dirty="0"/>
          </a:p>
        </p:txBody>
      </p:sp>
      <p:sp>
        <p:nvSpPr>
          <p:cNvPr id="63" name="Text 60"/>
          <p:cNvSpPr/>
          <p:nvPr/>
        </p:nvSpPr>
        <p:spPr>
          <a:xfrm>
            <a:off x="8143113" y="7128224"/>
            <a:ext cx="7260489" cy="227457"/>
          </a:xfrm>
          <a:prstGeom prst="rect">
            <a:avLst/>
          </a:prstGeom>
          <a:noFill/>
          <a:ln/>
        </p:spPr>
        <p:txBody>
          <a:bodyPr wrap="square" lIns="25400" tIns="25400" rIns="25400" bIns="25400" rtlCol="0" anchor="t">
            <a:normAutofit/>
          </a:bodyPr>
          <a:lstStyle/>
          <a:p>
            <a:pPr algn="l" indent="0" marL="0">
              <a:buNone/>
            </a:pPr>
            <a:r>
              <a:rPr lang="en-US" sz="1172" dirty="0">
                <a:solidFill>
                  <a:srgbClr val="515858"/>
                </a:solidFill>
                <a:latin typeface="Geist Mono" pitchFamily="34" charset="0"/>
                <a:ea typeface="Geist Mono" pitchFamily="34" charset="-122"/>
                <a:cs typeface="Geist Mono" pitchFamily="34" charset="-120"/>
              </a:rPr>
              <a:t>run checks </a:t>
            </a:r>
            <a:pPr algn="l" indent="0" marL="0">
              <a:buNone/>
            </a:pPr>
            <a:r>
              <a:rPr lang="en-US" sz="1172" dirty="0">
                <a:solidFill>
                  <a:srgbClr val="0B0D0E"/>
                </a:solidFill>
                <a:latin typeface="Geist Mono" pitchFamily="34" charset="0"/>
                <a:ea typeface="Geist Mono" pitchFamily="34" charset="-122"/>
                <a:cs typeface="Geist Mono" pitchFamily="34" charset="-120"/>
              </a:rPr>
              <a:t>24/24</a:t>
            </a:r>
            <a:endParaRPr lang="en-US" sz="1172" dirty="0"/>
          </a:p>
        </p:txBody>
      </p:sp>
      <p:sp>
        <p:nvSpPr>
          <p:cNvPr id="64" name="Shape 61"/>
          <p:cNvSpPr/>
          <p:nvPr/>
        </p:nvSpPr>
        <p:spPr>
          <a:xfrm>
            <a:off x="7940230" y="7682769"/>
            <a:ext cx="7006208" cy="486918"/>
          </a:xfrm>
          <a:prstGeom prst="rect">
            <a:avLst/>
          </a:prstGeom>
          <a:solidFill>
            <a:srgbClr val="141818"/>
          </a:solidFill>
          <a:ln w="13526">
            <a:solidFill>
              <a:srgbClr val="E4B65C"/>
            </a:solidFill>
            <a:prstDash val="dash"/>
          </a:ln>
        </p:spPr>
      </p:sp>
      <p:sp>
        <p:nvSpPr>
          <p:cNvPr id="65" name="Text 62"/>
          <p:cNvSpPr/>
          <p:nvPr/>
        </p:nvSpPr>
        <p:spPr>
          <a:xfrm>
            <a:off x="8116062" y="7831550"/>
            <a:ext cx="3240508" cy="227457"/>
          </a:xfrm>
          <a:prstGeom prst="rect">
            <a:avLst/>
          </a:prstGeom>
          <a:noFill/>
          <a:ln/>
        </p:spPr>
        <p:txBody>
          <a:bodyPr wrap="square" lIns="25400" tIns="25400" rIns="25400" bIns="25400" rtlCol="0" anchor="t">
            <a:normAutofit/>
          </a:bodyPr>
          <a:lstStyle/>
          <a:p>
            <a:pPr algn="l" indent="0" marL="0">
              <a:buNone/>
            </a:pPr>
            <a:r>
              <a:rPr lang="en-US" sz="1172" dirty="0">
                <a:solidFill>
                  <a:srgbClr val="FBFBFA"/>
                </a:solidFill>
                <a:latin typeface="Geist Mono" pitchFamily="34" charset="0"/>
                <a:ea typeface="Geist Mono" pitchFamily="34" charset="-122"/>
                <a:cs typeface="Geist Mono" pitchFamily="34" charset="-120"/>
              </a:rPr>
              <a:t>Reproduce the frozen arms locally</a:t>
            </a:r>
            <a:endParaRPr lang="en-US" sz="1172" dirty="0"/>
          </a:p>
        </p:txBody>
      </p:sp>
      <p:sp>
        <p:nvSpPr>
          <p:cNvPr id="66" name="Text 63"/>
          <p:cNvSpPr/>
          <p:nvPr/>
        </p:nvSpPr>
        <p:spPr>
          <a:xfrm>
            <a:off x="13114790" y="7838313"/>
            <a:ext cx="1821399" cy="213931"/>
          </a:xfrm>
          <a:prstGeom prst="rect">
            <a:avLst/>
          </a:prstGeom>
          <a:noFill/>
          <a:ln/>
        </p:spPr>
        <p:txBody>
          <a:bodyPr wrap="none" lIns="25400" tIns="25400" rIns="25400" bIns="25400" rtlCol="0" anchor="t">
            <a:normAutofit/>
          </a:bodyPr>
          <a:lstStyle/>
          <a:p>
            <a:pPr algn="l" indent="0" marL="0">
              <a:buNone/>
            </a:pPr>
            <a:r>
              <a:rPr lang="en-US" sz="1065" spc="128" kern="0" dirty="0">
                <a:solidFill>
                  <a:srgbClr val="E4B65C"/>
                </a:solidFill>
                <a:latin typeface="Geist Mono" pitchFamily="34" charset="0"/>
                <a:ea typeface="Geist Mono" pitchFamily="34" charset="-122"/>
                <a:cs typeface="Geist Mono" pitchFamily="34" charset="-120"/>
              </a:rPr>
              <a:t>● PENDING BINDING</a:t>
            </a:r>
            <a:endParaRPr lang="en-US" sz="106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DDE0E0"/>
        </a:solidFill>
      </p:bgPr>
    </p:bg>
    <p:spTree>
      <p:nvGrpSpPr>
        <p:cNvPr id="1" name=""/>
        <p:cNvGrpSpPr/>
        <p:nvPr/>
      </p:nvGrpSpPr>
      <p:grpSpPr>
        <a:xfrm>
          <a:off x="0" y="0"/>
          <a:ext cx="0" cy="0"/>
          <a:chOff x="0" y="0"/>
          <a:chExt cx="0" cy="0"/>
        </a:xfrm>
      </p:grpSpPr>
      <p:sp>
        <p:nvSpPr>
          <p:cNvPr id="2" name="Text 0"/>
          <p:cNvSpPr/>
          <p:nvPr/>
        </p:nvSpPr>
        <p:spPr>
          <a:xfrm>
            <a:off x="1143000" y="247650"/>
            <a:ext cx="3707070" cy="457200"/>
          </a:xfrm>
          <a:prstGeom prst="rect">
            <a:avLst/>
          </a:prstGeom>
          <a:noFill/>
          <a:ln/>
        </p:spPr>
        <p:txBody>
          <a:bodyPr wrap="square" lIns="25400" tIns="25400" rIns="25400" bIns="25400" rtlCol="0" anchor="t">
            <a:normAutofit/>
          </a:bodyPr>
          <a:lstStyle/>
          <a:p>
            <a:pPr algn="l" indent="0" marL="0">
              <a:buNone/>
            </a:pPr>
            <a:r>
              <a:rPr lang="en-US" sz="2550" spc="-51" kern="0" dirty="0">
                <a:solidFill>
                  <a:srgbClr val="0B0D0E"/>
                </a:solidFill>
                <a:latin typeface="Geist" pitchFamily="34" charset="0"/>
                <a:ea typeface="Geist" pitchFamily="34" charset="-122"/>
                <a:cs typeface="Geist" pitchFamily="34" charset="-120"/>
              </a:rPr>
              <a:t>Show me the raw proof</a:t>
            </a:r>
            <a:endParaRPr lang="en-US" sz="2550" dirty="0"/>
          </a:p>
        </p:txBody>
      </p:sp>
      <p:sp>
        <p:nvSpPr>
          <p:cNvPr id="3" name="Text 1"/>
          <p:cNvSpPr/>
          <p:nvPr/>
        </p:nvSpPr>
        <p:spPr>
          <a:xfrm>
            <a:off x="1143000" y="733425"/>
            <a:ext cx="6768465" cy="347663"/>
          </a:xfrm>
          <a:prstGeom prst="rect">
            <a:avLst/>
          </a:prstGeom>
          <a:noFill/>
          <a:ln/>
        </p:spPr>
        <p:txBody>
          <a:bodyPr wrap="square" lIns="25400" tIns="25400" rIns="25400" bIns="25400" rtlCol="0" anchor="t">
            <a:normAutofit/>
          </a:bodyPr>
          <a:lstStyle/>
          <a:p>
            <a:pPr algn="l" indent="0" marL="0">
              <a:buNone/>
            </a:pPr>
            <a:r>
              <a:rPr lang="en-US" sz="1875" spc="150" kern="0" dirty="0">
                <a:solidFill>
                  <a:srgbClr val="515858"/>
                </a:solidFill>
                <a:latin typeface="Geist Mono" pitchFamily="34" charset="0"/>
                <a:ea typeface="Geist Mono" pitchFamily="34" charset="-122"/>
                <a:cs typeface="Geist Mono" pitchFamily="34" charset="-120"/>
              </a:rPr>
              <a:t>RUN.CLOUD.RAW · FULL-FRAME REPLACEMENT</a:t>
            </a:r>
            <a:endParaRPr lang="en-US" sz="1875" dirty="0"/>
          </a:p>
        </p:txBody>
      </p:sp>
      <p:sp>
        <p:nvSpPr>
          <p:cNvPr id="4" name="Text 2"/>
          <p:cNvSpPr/>
          <p:nvPr/>
        </p:nvSpPr>
        <p:spPr>
          <a:xfrm>
            <a:off x="13477875" y="333375"/>
            <a:ext cx="4033838" cy="347663"/>
          </a:xfrm>
          <a:prstGeom prst="rect">
            <a:avLst/>
          </a:prstGeom>
          <a:noFill/>
          <a:ln/>
        </p:spPr>
        <p:txBody>
          <a:bodyPr wrap="none" lIns="25400" tIns="25400" rIns="25400" bIns="25400" rtlCol="0" anchor="t">
            <a:normAutofit/>
          </a:bodyPr>
          <a:lstStyle/>
          <a:p>
            <a:pPr algn="l" indent="0" marL="0">
              <a:buNone/>
            </a:pPr>
            <a:r>
              <a:rPr lang="en-US" sz="1875" spc="188" kern="0" dirty="0">
                <a:solidFill>
                  <a:srgbClr val="515858"/>
                </a:solidFill>
                <a:latin typeface="Geist Mono" pitchFamily="34" charset="0"/>
                <a:ea typeface="Geist Mono" pitchFamily="34" charset="-122"/>
                <a:cs typeface="Geist Mono" pitchFamily="34" charset="-120"/>
              </a:rPr>
              <a:t>09 · THE RUN · HAC-341</a:t>
            </a:r>
            <a:endParaRPr lang="en-US" sz="1875" dirty="0"/>
          </a:p>
        </p:txBody>
      </p:sp>
      <p:sp>
        <p:nvSpPr>
          <p:cNvPr id="5" name="Shape 3"/>
          <p:cNvSpPr/>
          <p:nvPr/>
        </p:nvSpPr>
        <p:spPr>
          <a:xfrm>
            <a:off x="2423160" y="1426369"/>
            <a:ext cx="13441682" cy="8401050"/>
          </a:xfrm>
          <a:prstGeom prst="rect">
            <a:avLst/>
          </a:prstGeom>
          <a:solidFill>
            <a:srgbClr val="0F1212"/>
          </a:solidFill>
          <a:ln w="9335">
            <a:solidFill>
              <a:srgbClr val="9BA2A2"/>
            </a:solidFill>
            <a:prstDash val="solid"/>
          </a:ln>
        </p:spPr>
      </p:sp>
      <p:sp>
        <p:nvSpPr>
          <p:cNvPr id="6" name="Shape 4"/>
          <p:cNvSpPr/>
          <p:nvPr/>
        </p:nvSpPr>
        <p:spPr>
          <a:xfrm>
            <a:off x="2432494" y="1949101"/>
            <a:ext cx="13423010" cy="9525"/>
          </a:xfrm>
          <a:prstGeom prst="rect">
            <a:avLst/>
          </a:prstGeom>
          <a:solidFill>
            <a:srgbClr val="343A3A"/>
          </a:solidFill>
          <a:ln/>
        </p:spPr>
      </p:sp>
      <p:sp>
        <p:nvSpPr>
          <p:cNvPr id="7" name="Text 5"/>
          <p:cNvSpPr/>
          <p:nvPr/>
        </p:nvSpPr>
        <p:spPr>
          <a:xfrm>
            <a:off x="2693860" y="1557052"/>
            <a:ext cx="4080869" cy="145447"/>
          </a:xfrm>
          <a:prstGeom prst="rect">
            <a:avLst/>
          </a:prstGeom>
          <a:noFill/>
          <a:ln/>
        </p:spPr>
        <p:txBody>
          <a:bodyPr wrap="square" lIns="25400" tIns="25400" rIns="25400" bIns="25400" rtlCol="0" anchor="t">
            <a:normAutofit/>
          </a:bodyPr>
          <a:lstStyle/>
          <a:p>
            <a:pPr algn="l" indent="0" marL="0">
              <a:buNone/>
            </a:pPr>
            <a:r>
              <a:rPr lang="en-US" sz="662" spc="93" kern="0" dirty="0">
                <a:solidFill>
                  <a:srgbClr val="737B7B"/>
                </a:solidFill>
                <a:latin typeface="Geist Mono" pitchFamily="34" charset="0"/>
                <a:ea typeface="Geist Mono" pitchFamily="34" charset="-122"/>
                <a:cs typeface="Geist Mono" pitchFamily="34" charset="-120"/>
              </a:rPr>
              <a:t>LAYER 3 · SHOW ME THE RAW PROOF</a:t>
            </a:r>
            <a:endParaRPr lang="en-US" sz="662" dirty="0"/>
          </a:p>
        </p:txBody>
      </p:sp>
      <p:sp>
        <p:nvSpPr>
          <p:cNvPr id="8" name="Text 6"/>
          <p:cNvSpPr/>
          <p:nvPr/>
        </p:nvSpPr>
        <p:spPr>
          <a:xfrm>
            <a:off x="2693860" y="1683067"/>
            <a:ext cx="4080869" cy="182785"/>
          </a:xfrm>
          <a:prstGeom prst="rect">
            <a:avLst/>
          </a:prstGeom>
          <a:noFill/>
          <a:ln/>
        </p:spPr>
        <p:txBody>
          <a:bodyPr wrap="square" lIns="25400" tIns="25400" rIns="25400" bIns="25400" rtlCol="0" anchor="t">
            <a:normAutofit/>
          </a:bodyPr>
          <a:lstStyle/>
          <a:p>
            <a:pPr algn="l" indent="0" marL="0">
              <a:buNone/>
            </a:pPr>
            <a:r>
              <a:rPr lang="en-US" sz="882" spc="106" kern="0" dirty="0">
                <a:solidFill>
                  <a:srgbClr val="FBFBFA"/>
                </a:solidFill>
                <a:latin typeface="Geist Mono" pitchFamily="34" charset="0"/>
                <a:ea typeface="Geist Mono" pitchFamily="34" charset="-122"/>
                <a:cs typeface="Geist Mono" pitchFamily="34" charset="-120"/>
              </a:rPr>
              <a:t>ILK-HAC340-CLOUD-1786730369123 · FROZEN RECORD</a:t>
            </a:r>
            <a:endParaRPr lang="en-US" sz="882" dirty="0"/>
          </a:p>
        </p:txBody>
      </p:sp>
      <p:sp>
        <p:nvSpPr>
          <p:cNvPr id="9" name="Shape 7"/>
          <p:cNvSpPr/>
          <p:nvPr/>
        </p:nvSpPr>
        <p:spPr>
          <a:xfrm>
            <a:off x="14389989" y="1557052"/>
            <a:ext cx="1204150" cy="270700"/>
          </a:xfrm>
          <a:prstGeom prst="rect">
            <a:avLst/>
          </a:prstGeom>
          <a:ln w="9335">
            <a:solidFill>
              <a:srgbClr val="515858"/>
            </a:solidFill>
            <a:prstDash val="solid"/>
          </a:ln>
        </p:spPr>
      </p:sp>
      <p:sp>
        <p:nvSpPr>
          <p:cNvPr id="10" name="Text 8"/>
          <p:cNvSpPr/>
          <p:nvPr/>
        </p:nvSpPr>
        <p:spPr>
          <a:xfrm>
            <a:off x="14463903" y="1631728"/>
            <a:ext cx="1056322" cy="159448"/>
          </a:xfrm>
          <a:prstGeom prst="rect">
            <a:avLst/>
          </a:prstGeom>
          <a:noFill/>
          <a:ln/>
        </p:spPr>
        <p:txBody>
          <a:bodyPr wrap="square" lIns="25400" tIns="25400" rIns="25400" bIns="25400" rtlCol="0" anchor="t">
            <a:normAutofit/>
          </a:bodyPr>
          <a:lstStyle/>
          <a:p>
            <a:pPr algn="ctr" indent="0" marL="0">
              <a:buNone/>
            </a:pPr>
            <a:r>
              <a:rPr lang="en-US" sz="735" spc="74" kern="0" dirty="0">
                <a:solidFill>
                  <a:srgbClr val="EEF0F0"/>
                </a:solidFill>
                <a:latin typeface="Geist Mono" pitchFamily="34" charset="0"/>
                <a:ea typeface="Geist Mono" pitchFamily="34" charset="-122"/>
                <a:cs typeface="Geist Mono" pitchFamily="34" charset="-120"/>
              </a:rPr>
              <a:t>BACK TO THE RUN</a:t>
            </a:r>
            <a:endParaRPr lang="en-US" sz="735" dirty="0"/>
          </a:p>
        </p:txBody>
      </p:sp>
      <p:sp>
        <p:nvSpPr>
          <p:cNvPr id="11" name="Text 9"/>
          <p:cNvSpPr/>
          <p:nvPr/>
        </p:nvSpPr>
        <p:spPr>
          <a:xfrm>
            <a:off x="2693860" y="2145125"/>
            <a:ext cx="7436322" cy="159449"/>
          </a:xfrm>
          <a:prstGeom prst="rect">
            <a:avLst/>
          </a:prstGeom>
          <a:noFill/>
          <a:ln/>
        </p:spPr>
        <p:txBody>
          <a:bodyPr wrap="square" lIns="25400" tIns="25400" rIns="25400" bIns="25400" rtlCol="0" anchor="t">
            <a:normAutofit/>
          </a:bodyPr>
          <a:lstStyle/>
          <a:p>
            <a:pPr algn="l" indent="0" marL="0">
              <a:buNone/>
            </a:pPr>
            <a:r>
              <a:rPr lang="en-US" sz="735" spc="103" kern="0" dirty="0">
                <a:solidFill>
                  <a:srgbClr val="737B7B"/>
                </a:solidFill>
                <a:latin typeface="Geist Mono" pitchFamily="34" charset="0"/>
                <a:ea typeface="Geist Mono" pitchFamily="34" charset="-122"/>
                <a:cs typeface="Geist Mono" pitchFamily="34" charset="-120"/>
              </a:rPr>
              <a:t>RECORDED FIELDS</a:t>
            </a:r>
            <a:endParaRPr lang="en-US" sz="735" dirty="0"/>
          </a:p>
        </p:txBody>
      </p:sp>
      <p:sp>
        <p:nvSpPr>
          <p:cNvPr id="12" name="Shape 10"/>
          <p:cNvSpPr/>
          <p:nvPr/>
        </p:nvSpPr>
        <p:spPr>
          <a:xfrm>
            <a:off x="2693860" y="2359819"/>
            <a:ext cx="6760293" cy="4237863"/>
          </a:xfrm>
          <a:prstGeom prst="rect">
            <a:avLst/>
          </a:prstGeom>
          <a:solidFill>
            <a:srgbClr val="0B0D0E"/>
          </a:solidFill>
          <a:ln w="9335">
            <a:solidFill>
              <a:srgbClr val="343A3A"/>
            </a:solidFill>
            <a:prstDash val="solid"/>
          </a:ln>
        </p:spPr>
      </p:sp>
      <p:sp>
        <p:nvSpPr>
          <p:cNvPr id="13" name="Text 11"/>
          <p:cNvSpPr/>
          <p:nvPr/>
        </p:nvSpPr>
        <p:spPr>
          <a:xfrm>
            <a:off x="2871215" y="2518505"/>
            <a:ext cx="6608391" cy="3958590"/>
          </a:xfrm>
          <a:prstGeom prst="rect">
            <a:avLst/>
          </a:prstGeom>
          <a:noFill/>
          <a:ln/>
        </p:spPr>
        <p:txBody>
          <a:bodyPr wrap="square" lIns="25400" tIns="25400" rIns="25400" bIns="25400" rtlCol="0" anchor="t">
            <a:normAutofit/>
          </a:bodyPr>
          <a:lstStyle/>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proofClass            B · Google Cloud participation</a:t>
            </a:r>
            <a:endParaRPr lang="en-US" sz="882" dirty="0"/>
          </a:p>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issue                 HAC-340</a:t>
            </a:r>
            <a:endParaRPr lang="en-US" sz="882" dirty="0"/>
          </a:p>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runId                 ilk-hac340-cloud-1786730369123</a:t>
            </a:r>
            <a:endParaRPr lang="en-US" sz="882" dirty="0"/>
          </a:p>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model                 gemini-3.5-flash</a:t>
            </a:r>
            <a:endParaRPr lang="en-US" sz="882" dirty="0"/>
          </a:p>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agentFramework        Google ADK 1.35.1</a:t>
            </a:r>
            <a:endParaRPr lang="en-US" sz="882" dirty="0"/>
          </a:p>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accessPath            Vertex AI global access</a:t>
            </a:r>
            <a:endParaRPr lang="en-US" sz="882" dirty="0"/>
          </a:p>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host                  Cloud Run-hosted agent</a:t>
            </a:r>
            <a:endParaRPr lang="en-US" sz="882" dirty="0"/>
          </a:p>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transport             Interlock MCP proxy</a:t>
            </a:r>
            <a:endParaRPr lang="en-US" sz="882" dirty="0"/>
          </a:p>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decision              ALLOW + authorization receipt</a:t>
            </a:r>
            <a:endParaRPr lang="en-US" sz="882" dirty="0"/>
          </a:p>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receiptDigest         sha256:9d0fa493…a05234</a:t>
            </a:r>
            <a:endParaRPr lang="en-US" sz="882" dirty="0"/>
          </a:p>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effect                EXECUTED   protected target mutation</a:t>
            </a:r>
            <a:endParaRPr lang="en-US" sz="882" dirty="0"/>
          </a:p>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observation           OBSERVED   alpha=45, independently authenticated read-back</a:t>
            </a:r>
            <a:endParaRPr lang="en-US" sz="882" dirty="0"/>
          </a:p>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correlation           Cloud Logging, correlated by run id</a:t>
            </a:r>
            <a:endParaRPr lang="en-US" sz="882" dirty="0"/>
          </a:p>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negativeControls      403 · 401 · 403</a:t>
            </a:r>
            <a:endParaRPr lang="en-US" sz="882" dirty="0"/>
          </a:p>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runtimeSourceSha      ae6d0d3</a:t>
            </a:r>
            <a:endParaRPr lang="en-US" sz="882" dirty="0"/>
          </a:p>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runtimeSourceUrl      [BIND: runtimeSourceUrl]</a:t>
            </a:r>
            <a:endParaRPr lang="en-US" sz="882" dirty="0"/>
          </a:p>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evidencePublicationSha [BIND: evidencePublicationSha]</a:t>
            </a:r>
            <a:endParaRPr lang="en-US" sz="882" dirty="0"/>
          </a:p>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cloudEvidenceUrl      [BIND: cloudEvidenceUrl]</a:t>
            </a:r>
            <a:endParaRPr lang="en-US" sz="882" dirty="0"/>
          </a:p>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verifierUrl           [BIND: verifierUrl]</a:t>
            </a:r>
            <a:endParaRPr lang="en-US" sz="882" dirty="0"/>
          </a:p>
          <a:p>
            <a:pPr algn="l" indent="0" marL="0">
              <a:lnSpc>
                <a:spcPct val="135484"/>
              </a:lnSpc>
              <a:buNone/>
            </a:pPr>
            <a:r>
              <a:rPr lang="en-US" sz="882" dirty="0">
                <a:solidFill>
                  <a:srgbClr val="EEF0F0"/>
                </a:solidFill>
                <a:latin typeface="Geist Mono" pitchFamily="34" charset="0"/>
                <a:ea typeface="Geist Mono" pitchFamily="34" charset="-122"/>
                <a:cs typeface="Geist Mono" pitchFamily="34" charset="-120"/>
              </a:rPr>
              <a:t>redactionReviewStatus [BIND: redactionReviewStatus]</a:t>
            </a:r>
            <a:endParaRPr lang="en-US" sz="882" dirty="0"/>
          </a:p>
        </p:txBody>
      </p:sp>
      <p:sp>
        <p:nvSpPr>
          <p:cNvPr id="14" name="Text 12"/>
          <p:cNvSpPr/>
          <p:nvPr/>
        </p:nvSpPr>
        <p:spPr>
          <a:xfrm>
            <a:off x="9715519" y="2145125"/>
            <a:ext cx="6466402" cy="159449"/>
          </a:xfrm>
          <a:prstGeom prst="rect">
            <a:avLst/>
          </a:prstGeom>
          <a:noFill/>
          <a:ln/>
        </p:spPr>
        <p:txBody>
          <a:bodyPr wrap="square" lIns="25400" tIns="25400" rIns="25400" bIns="25400" rtlCol="0" anchor="t">
            <a:normAutofit/>
          </a:bodyPr>
          <a:lstStyle/>
          <a:p>
            <a:pPr algn="l" indent="0" marL="0">
              <a:buNone/>
            </a:pPr>
            <a:r>
              <a:rPr lang="en-US" sz="735" spc="103" kern="0" dirty="0">
                <a:solidFill>
                  <a:srgbClr val="737B7B"/>
                </a:solidFill>
                <a:latin typeface="Geist Mono" pitchFamily="34" charset="0"/>
                <a:ea typeface="Geist Mono" pitchFamily="34" charset="-122"/>
                <a:cs typeface="Geist Mono" pitchFamily="34" charset="-120"/>
              </a:rPr>
              <a:t>PROVENANCE · RUNTIME AND PUBLICATION ARE DISTINCT</a:t>
            </a:r>
            <a:endParaRPr lang="en-US" sz="735" dirty="0"/>
          </a:p>
        </p:txBody>
      </p:sp>
      <p:sp>
        <p:nvSpPr>
          <p:cNvPr id="15" name="Shape 13"/>
          <p:cNvSpPr/>
          <p:nvPr/>
        </p:nvSpPr>
        <p:spPr>
          <a:xfrm>
            <a:off x="9715519" y="2341150"/>
            <a:ext cx="5878548" cy="504063"/>
          </a:xfrm>
          <a:prstGeom prst="rect">
            <a:avLst/>
          </a:prstGeom>
          <a:ln w="9335">
            <a:solidFill>
              <a:srgbClr val="515858"/>
            </a:solidFill>
            <a:prstDash val="solid"/>
          </a:ln>
        </p:spPr>
      </p:sp>
      <p:sp>
        <p:nvSpPr>
          <p:cNvPr id="16" name="Text 14"/>
          <p:cNvSpPr/>
          <p:nvPr/>
        </p:nvSpPr>
        <p:spPr>
          <a:xfrm>
            <a:off x="9846201" y="2453164"/>
            <a:ext cx="6178901"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APPLICATION AND RECEIPT · SOLID</a:t>
            </a:r>
            <a:endParaRPr lang="en-US" sz="662" dirty="0"/>
          </a:p>
        </p:txBody>
      </p:sp>
      <p:sp>
        <p:nvSpPr>
          <p:cNvPr id="17" name="Text 15"/>
          <p:cNvSpPr/>
          <p:nvPr/>
        </p:nvSpPr>
        <p:spPr>
          <a:xfrm>
            <a:off x="9846201" y="2588514"/>
            <a:ext cx="6178901" cy="182785"/>
          </a:xfrm>
          <a:prstGeom prst="rect">
            <a:avLst/>
          </a:prstGeom>
          <a:noFill/>
          <a:ln/>
        </p:spPr>
        <p:txBody>
          <a:bodyPr wrap="square" lIns="25400" tIns="25400" rIns="25400" bIns="25400" rtlCol="0" anchor="t">
            <a:normAutofit/>
          </a:bodyPr>
          <a:lstStyle/>
          <a:p>
            <a:pPr algn="l" indent="0" marL="0">
              <a:buNone/>
            </a:pPr>
            <a:r>
              <a:rPr lang="en-US" sz="882" dirty="0">
                <a:solidFill>
                  <a:srgbClr val="FBFBFA"/>
                </a:solidFill>
                <a:latin typeface="Geist Mono" pitchFamily="34" charset="0"/>
                <a:ea typeface="Geist Mono" pitchFamily="34" charset="-122"/>
                <a:cs typeface="Geist Mono" pitchFamily="34" charset="-120"/>
              </a:rPr>
              <a:t>runtimeSourceSha ae6d0d3</a:t>
            </a:r>
            <a:endParaRPr lang="en-US" sz="882" dirty="0"/>
          </a:p>
        </p:txBody>
      </p:sp>
      <p:sp>
        <p:nvSpPr>
          <p:cNvPr id="18" name="Shape 16"/>
          <p:cNvSpPr/>
          <p:nvPr/>
        </p:nvSpPr>
        <p:spPr>
          <a:xfrm>
            <a:off x="9715519" y="2910554"/>
            <a:ext cx="5878548" cy="504063"/>
          </a:xfrm>
          <a:prstGeom prst="rect">
            <a:avLst/>
          </a:prstGeom>
          <a:ln w="9335">
            <a:solidFill>
              <a:srgbClr val="515858"/>
            </a:solidFill>
            <a:prstDash val="dash"/>
          </a:ln>
        </p:spPr>
      </p:sp>
      <p:sp>
        <p:nvSpPr>
          <p:cNvPr id="19" name="Text 17"/>
          <p:cNvSpPr/>
          <p:nvPr/>
        </p:nvSpPr>
        <p:spPr>
          <a:xfrm>
            <a:off x="9846201" y="3022568"/>
            <a:ext cx="6178901" cy="145447"/>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PLATFORM AND TRANSPORT · DASHED</a:t>
            </a:r>
            <a:endParaRPr lang="en-US" sz="662" dirty="0"/>
          </a:p>
        </p:txBody>
      </p:sp>
      <p:sp>
        <p:nvSpPr>
          <p:cNvPr id="20" name="Text 18"/>
          <p:cNvSpPr/>
          <p:nvPr/>
        </p:nvSpPr>
        <p:spPr>
          <a:xfrm>
            <a:off x="9846201" y="3157919"/>
            <a:ext cx="6178901" cy="182785"/>
          </a:xfrm>
          <a:prstGeom prst="rect">
            <a:avLst/>
          </a:prstGeom>
          <a:noFill/>
          <a:ln/>
        </p:spPr>
        <p:txBody>
          <a:bodyPr wrap="square" lIns="25400" tIns="25400" rIns="25400" bIns="25400" rtlCol="0" anchor="t">
            <a:normAutofit/>
          </a:bodyPr>
          <a:lstStyle/>
          <a:p>
            <a:pPr algn="l" indent="0" marL="0">
              <a:buNone/>
            </a:pPr>
            <a:r>
              <a:rPr lang="en-US" sz="882" dirty="0">
                <a:solidFill>
                  <a:srgbClr val="FBFBFA"/>
                </a:solidFill>
                <a:latin typeface="Geist Mono" pitchFamily="34" charset="0"/>
                <a:ea typeface="Geist Mono" pitchFamily="34" charset="-122"/>
                <a:cs typeface="Geist Mono" pitchFamily="34" charset="-120"/>
              </a:rPr>
              <a:t>Vertex AI · Cloud Run · Cloud Logging</a:t>
            </a:r>
            <a:endParaRPr lang="en-US" sz="882" dirty="0"/>
          </a:p>
        </p:txBody>
      </p:sp>
      <p:sp>
        <p:nvSpPr>
          <p:cNvPr id="21" name="Text 19"/>
          <p:cNvSpPr/>
          <p:nvPr/>
        </p:nvSpPr>
        <p:spPr>
          <a:xfrm>
            <a:off x="9715519" y="3563969"/>
            <a:ext cx="6466402" cy="159449"/>
          </a:xfrm>
          <a:prstGeom prst="rect">
            <a:avLst/>
          </a:prstGeom>
          <a:noFill/>
          <a:ln/>
        </p:spPr>
        <p:txBody>
          <a:bodyPr wrap="square" lIns="25400" tIns="25400" rIns="25400" bIns="25400" rtlCol="0" anchor="t">
            <a:normAutofit/>
          </a:bodyPr>
          <a:lstStyle/>
          <a:p>
            <a:pPr algn="l" indent="0" marL="0">
              <a:buNone/>
            </a:pPr>
            <a:r>
              <a:rPr lang="en-US" sz="735" spc="103" kern="0" dirty="0">
                <a:solidFill>
                  <a:srgbClr val="737B7B"/>
                </a:solidFill>
                <a:latin typeface="Geist Mono" pitchFamily="34" charset="0"/>
                <a:ea typeface="Geist Mono" pitchFamily="34" charset="-122"/>
                <a:cs typeface="Geist Mono" pitchFamily="34" charset="-120"/>
              </a:rPr>
              <a:t>NOT ON THE RECORDED PATH</a:t>
            </a:r>
            <a:endParaRPr lang="en-US" sz="735" dirty="0"/>
          </a:p>
        </p:txBody>
      </p:sp>
      <p:sp>
        <p:nvSpPr>
          <p:cNvPr id="22" name="Text 20"/>
          <p:cNvSpPr/>
          <p:nvPr/>
        </p:nvSpPr>
        <p:spPr>
          <a:xfrm>
            <a:off x="9763271" y="3759994"/>
            <a:ext cx="5906996" cy="881705"/>
          </a:xfrm>
          <a:prstGeom prst="rect">
            <a:avLst/>
          </a:prstGeom>
          <a:noFill/>
          <a:ln/>
        </p:spPr>
        <p:txBody>
          <a:bodyPr wrap="square" lIns="25400" tIns="25400" rIns="25400" bIns="25400" rtlCol="0" anchor="t">
            <a:normAutofit/>
          </a:bodyPr>
          <a:lstStyle/>
          <a:p>
            <a:pPr algn="l" marL="101600" indent="-101600">
              <a:lnSpc>
                <a:spcPct val="110882"/>
              </a:lnSpc>
              <a:buSzPct val="100000"/>
              <a:buChar char="•"/>
              <a:tabLst>
                <a:tab pos="101600" algn="l"/>
              </a:tabLst>
            </a:pPr>
            <a:r>
              <a:rPr lang="en-US" sz="956" dirty="0">
                <a:solidFill>
                  <a:srgbClr val="C2C7C7"/>
                </a:solidFill>
                <a:latin typeface="Geist" pitchFamily="34" charset="0"/>
                <a:ea typeface="Geist" pitchFamily="34" charset="-122"/>
                <a:cs typeface="Geist" pitchFamily="34" charset="-120"/>
              </a:rPr>
              <a:t>Agent Runtime</a:t>
            </a:r>
            <a:endParaRPr lang="en-US" sz="956" dirty="0"/>
          </a:p>
          <a:p>
            <a:pPr algn="l" marL="101600" indent="-101600">
              <a:lnSpc>
                <a:spcPct val="110882"/>
              </a:lnSpc>
              <a:buSzPct val="100000"/>
              <a:buChar char="•"/>
              <a:tabLst>
                <a:tab pos="101600" algn="l"/>
              </a:tabLst>
            </a:pPr>
            <a:r>
              <a:rPr lang="en-US" sz="956" dirty="0">
                <a:solidFill>
                  <a:srgbClr val="C2C7C7"/>
                </a:solidFill>
                <a:latin typeface="Geist" pitchFamily="34" charset="0"/>
                <a:ea typeface="Geist" pitchFamily="34" charset="-122"/>
                <a:cs typeface="Geist" pitchFamily="34" charset="-120"/>
              </a:rPr>
              <a:t>Agent Gateway</a:t>
            </a:r>
            <a:endParaRPr lang="en-US" sz="956" dirty="0"/>
          </a:p>
          <a:p>
            <a:pPr algn="l" marL="101600" indent="-101600">
              <a:lnSpc>
                <a:spcPct val="110882"/>
              </a:lnSpc>
              <a:buSzPct val="100000"/>
              <a:buChar char="•"/>
              <a:tabLst>
                <a:tab pos="101600" algn="l"/>
              </a:tabLst>
            </a:pPr>
            <a:r>
              <a:rPr lang="en-US" sz="956" dirty="0">
                <a:solidFill>
                  <a:srgbClr val="C2C7C7"/>
                </a:solidFill>
                <a:latin typeface="Geist" pitchFamily="34" charset="0"/>
                <a:ea typeface="Geist" pitchFamily="34" charset="-122"/>
                <a:cs typeface="Geist" pitchFamily="34" charset="-120"/>
              </a:rPr>
              <a:t>CONTENT_AUTHZ</a:t>
            </a:r>
            <a:endParaRPr lang="en-US" sz="956" dirty="0"/>
          </a:p>
          <a:p>
            <a:pPr algn="l" marL="101600" indent="-101600">
              <a:lnSpc>
                <a:spcPct val="110882"/>
              </a:lnSpc>
              <a:buSzPct val="100000"/>
              <a:buChar char="•"/>
              <a:tabLst>
                <a:tab pos="101600" algn="l"/>
              </a:tabLst>
            </a:pPr>
            <a:r>
              <a:rPr lang="en-US" sz="956" dirty="0">
                <a:solidFill>
                  <a:srgbClr val="C2C7C7"/>
                </a:solidFill>
                <a:latin typeface="Geist" pitchFamily="34" charset="0"/>
                <a:ea typeface="Geist" pitchFamily="34" charset="-122"/>
                <a:cs typeface="Geist" pitchFamily="34" charset="-120"/>
              </a:rPr>
              <a:t>human authorization</a:t>
            </a:r>
            <a:endParaRPr lang="en-US" sz="956" dirty="0"/>
          </a:p>
        </p:txBody>
      </p:sp>
      <p:sp>
        <p:nvSpPr>
          <p:cNvPr id="23" name="Shape 21"/>
          <p:cNvSpPr/>
          <p:nvPr/>
        </p:nvSpPr>
        <p:spPr>
          <a:xfrm>
            <a:off x="9715519" y="4752951"/>
            <a:ext cx="5878548" cy="987488"/>
          </a:xfrm>
          <a:prstGeom prst="rect">
            <a:avLst/>
          </a:prstGeom>
          <a:ln w="9335">
            <a:solidFill>
              <a:srgbClr val="E4B65C"/>
            </a:solidFill>
            <a:prstDash val="solid"/>
          </a:ln>
        </p:spPr>
      </p:sp>
      <p:sp>
        <p:nvSpPr>
          <p:cNvPr id="24" name="Text 22"/>
          <p:cNvSpPr/>
          <p:nvPr/>
        </p:nvSpPr>
        <p:spPr>
          <a:xfrm>
            <a:off x="9855537" y="4874300"/>
            <a:ext cx="6158364" cy="159449"/>
          </a:xfrm>
          <a:prstGeom prst="rect">
            <a:avLst/>
          </a:prstGeom>
          <a:noFill/>
          <a:ln/>
        </p:spPr>
        <p:txBody>
          <a:bodyPr wrap="square" lIns="25400" tIns="25400" rIns="25400" bIns="25400" rtlCol="0" anchor="t">
            <a:normAutofit/>
          </a:bodyPr>
          <a:lstStyle/>
          <a:p>
            <a:pPr algn="l" indent="0" marL="0">
              <a:buNone/>
            </a:pPr>
            <a:r>
              <a:rPr lang="en-US" sz="735" spc="103" kern="0" dirty="0">
                <a:solidFill>
                  <a:srgbClr val="E4B65C"/>
                </a:solidFill>
                <a:latin typeface="Geist Mono" pitchFamily="34" charset="0"/>
                <a:ea typeface="Geist Mono" pitchFamily="34" charset="-122"/>
                <a:cs typeface="Geist Mono" pitchFamily="34" charset="-120"/>
              </a:rPr>
              <a:t>UNRESOLVED BINDINGS ON THIS VIEW · 5</a:t>
            </a:r>
            <a:endParaRPr lang="en-US" sz="735" dirty="0"/>
          </a:p>
        </p:txBody>
      </p:sp>
      <p:sp>
        <p:nvSpPr>
          <p:cNvPr id="25" name="Text 23"/>
          <p:cNvSpPr/>
          <p:nvPr/>
        </p:nvSpPr>
        <p:spPr>
          <a:xfrm>
            <a:off x="9855537" y="5051656"/>
            <a:ext cx="5766468" cy="387123"/>
          </a:xfrm>
          <a:prstGeom prst="rect">
            <a:avLst/>
          </a:prstGeom>
          <a:noFill/>
          <a:ln/>
        </p:spPr>
        <p:txBody>
          <a:bodyPr wrap="square" lIns="25400" tIns="25400" rIns="25400" bIns="25400" rtlCol="0" anchor="t">
            <a:normAutofit/>
          </a:bodyPr>
          <a:lstStyle/>
          <a:p>
            <a:pPr algn="l" indent="0" marL="0">
              <a:lnSpc>
                <a:spcPct val="133571"/>
              </a:lnSpc>
              <a:buNone/>
            </a:pPr>
            <a:r>
              <a:rPr lang="en-US" sz="808" dirty="0">
                <a:solidFill>
                  <a:srgbClr val="E4B65C"/>
                </a:solidFill>
                <a:latin typeface="Geist Mono" pitchFamily="34" charset="0"/>
                <a:ea typeface="Geist Mono" pitchFamily="34" charset="-122"/>
                <a:cs typeface="Geist Mono" pitchFamily="34" charset="-120"/>
              </a:rPr>
              <a:t>[BIND: evidencePublicationSha] · [BIND: cloudEvidenceUrl] · [BIND: runtimeSourceUrl] · [BIND: verifierUrl] · [BIND: redactionReviewStatus]</a:t>
            </a:r>
            <a:endParaRPr lang="en-US" sz="808" dirty="0"/>
          </a:p>
        </p:txBody>
      </p:sp>
      <p:sp>
        <p:nvSpPr>
          <p:cNvPr id="26" name="Text 24"/>
          <p:cNvSpPr/>
          <p:nvPr/>
        </p:nvSpPr>
        <p:spPr>
          <a:xfrm>
            <a:off x="9855537" y="5456685"/>
            <a:ext cx="6158364" cy="200506"/>
          </a:xfrm>
          <a:prstGeom prst="rect">
            <a:avLst/>
          </a:prstGeom>
          <a:noFill/>
          <a:ln/>
        </p:spPr>
        <p:txBody>
          <a:bodyPr wrap="square" lIns="25400" tIns="25400" rIns="25400" bIns="25400" rtlCol="0" anchor="t">
            <a:normAutofit/>
          </a:bodyPr>
          <a:lstStyle/>
          <a:p>
            <a:pPr algn="l" indent="0" marL="0">
              <a:lnSpc>
                <a:spcPct val="112258"/>
              </a:lnSpc>
              <a:buNone/>
            </a:pPr>
            <a:r>
              <a:rPr lang="en-US" sz="882" dirty="0">
                <a:solidFill>
                  <a:srgbClr val="9BA2A2"/>
                </a:solidFill>
                <a:latin typeface="Geist" pitchFamily="34" charset="0"/>
                <a:ea typeface="Geist" pitchFamily="34" charset="-122"/>
                <a:cs typeface="Geist" pitchFamily="34" charset="-120"/>
              </a:rPr>
              <a:t>Rendered as visible defects. An unresolved binding is never replaced by a plausible-looking value.</a:t>
            </a:r>
            <a:endParaRPr lang="en-US" sz="882" dirty="0"/>
          </a:p>
        </p:txBody>
      </p:sp>
      <p:sp>
        <p:nvSpPr>
          <p:cNvPr id="27" name="Shape 25"/>
          <p:cNvSpPr/>
          <p:nvPr/>
        </p:nvSpPr>
        <p:spPr>
          <a:xfrm>
            <a:off x="2432494" y="9482042"/>
            <a:ext cx="13423010" cy="336042"/>
          </a:xfrm>
          <a:prstGeom prst="rect">
            <a:avLst/>
          </a:prstGeom>
          <a:solidFill>
            <a:srgbClr val="0B0D0E"/>
          </a:solidFill>
          <a:ln/>
        </p:spPr>
      </p:sp>
      <p:sp>
        <p:nvSpPr>
          <p:cNvPr id="28" name="Shape 26"/>
          <p:cNvSpPr/>
          <p:nvPr/>
        </p:nvSpPr>
        <p:spPr>
          <a:xfrm>
            <a:off x="2432494" y="9482042"/>
            <a:ext cx="13423010" cy="9525"/>
          </a:xfrm>
          <a:prstGeom prst="rect">
            <a:avLst/>
          </a:prstGeom>
          <a:solidFill>
            <a:srgbClr val="343A3A"/>
          </a:solidFill>
          <a:ln/>
        </p:spPr>
      </p:sp>
      <p:sp>
        <p:nvSpPr>
          <p:cNvPr id="29" name="Text 27"/>
          <p:cNvSpPr/>
          <p:nvPr/>
        </p:nvSpPr>
        <p:spPr>
          <a:xfrm>
            <a:off x="2693860" y="9601058"/>
            <a:ext cx="879930" cy="145446"/>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FBFBFA"/>
                </a:solidFill>
                <a:latin typeface="Geist Mono" pitchFamily="34" charset="0"/>
                <a:ea typeface="Geist Mono" pitchFamily="34" charset="-122"/>
                <a:cs typeface="Geist Mono" pitchFamily="34" charset="-120"/>
              </a:rPr>
              <a:t>RUN.CLOUD.RAW</a:t>
            </a:r>
            <a:endParaRPr lang="en-US" sz="662" dirty="0"/>
          </a:p>
        </p:txBody>
      </p:sp>
      <p:sp>
        <p:nvSpPr>
          <p:cNvPr id="30" name="Shape 28"/>
          <p:cNvSpPr/>
          <p:nvPr/>
        </p:nvSpPr>
        <p:spPr>
          <a:xfrm>
            <a:off x="3629571" y="9601058"/>
            <a:ext cx="9525" cy="107346"/>
          </a:xfrm>
          <a:prstGeom prst="rect">
            <a:avLst/>
          </a:prstGeom>
          <a:solidFill>
            <a:srgbClr val="343A3A"/>
          </a:solidFill>
          <a:ln/>
        </p:spPr>
      </p:sp>
      <p:sp>
        <p:nvSpPr>
          <p:cNvPr id="31" name="Text 29"/>
          <p:cNvSpPr/>
          <p:nvPr/>
        </p:nvSpPr>
        <p:spPr>
          <a:xfrm>
            <a:off x="3788257" y="9601058"/>
            <a:ext cx="3291119" cy="145446"/>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?RUN=HAC340-CLOUD&amp;PROOF=CLOUD&amp;STATE=RUN.CLOUD.RAW</a:t>
            </a:r>
            <a:endParaRPr lang="en-US" sz="662" dirty="0"/>
          </a:p>
        </p:txBody>
      </p:sp>
      <p:sp>
        <p:nvSpPr>
          <p:cNvPr id="32" name="Shape 30"/>
          <p:cNvSpPr/>
          <p:nvPr/>
        </p:nvSpPr>
        <p:spPr>
          <a:xfrm>
            <a:off x="12411075" y="9601058"/>
            <a:ext cx="9525" cy="107346"/>
          </a:xfrm>
          <a:prstGeom prst="rect">
            <a:avLst/>
          </a:prstGeom>
          <a:solidFill>
            <a:srgbClr val="343A3A"/>
          </a:solidFill>
          <a:ln/>
        </p:spPr>
      </p:sp>
      <p:sp>
        <p:nvSpPr>
          <p:cNvPr id="33" name="Text 31"/>
          <p:cNvSpPr/>
          <p:nvPr/>
        </p:nvSpPr>
        <p:spPr>
          <a:xfrm>
            <a:off x="12569762" y="9601058"/>
            <a:ext cx="3342684" cy="145446"/>
          </a:xfrm>
          <a:prstGeom prst="rect">
            <a:avLst/>
          </a:prstGeom>
          <a:noFill/>
          <a:ln/>
        </p:spPr>
        <p:txBody>
          <a:bodyPr wrap="square" lIns="25400" tIns="25400" rIns="25400" bIns="25400" rtlCol="0" anchor="t">
            <a:normAutofit/>
          </a:bodyPr>
          <a:lstStyle/>
          <a:p>
            <a:pPr algn="l" indent="0" marL="0">
              <a:buNone/>
            </a:pPr>
            <a:r>
              <a:rPr lang="en-US" sz="662" spc="79" kern="0" dirty="0">
                <a:solidFill>
                  <a:srgbClr val="737B7B"/>
                </a:solidFill>
                <a:latin typeface="Geist Mono" pitchFamily="34" charset="0"/>
                <a:ea typeface="Geist Mono" pitchFamily="34" charset="-122"/>
                <a:cs typeface="Geist Mono" pitchFamily="34" charset="-120"/>
              </a:rPr>
              <a:t>RAW IS NOT MORE TRUE THAN L1, ONLY LESS SUMMARISED</a:t>
            </a:r>
            <a:endParaRPr lang="en-US" sz="662"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DDE0E0"/>
        </a:solidFill>
      </p:bgPr>
    </p:bg>
    <p:spTree>
      <p:nvGrpSpPr>
        <p:cNvPr id="1" name=""/>
        <p:cNvGrpSpPr/>
        <p:nvPr/>
      </p:nvGrpSpPr>
      <p:grpSpPr>
        <a:xfrm>
          <a:off x="0" y="0"/>
          <a:ext cx="0" cy="0"/>
          <a:chOff x="0" y="0"/>
          <a:chExt cx="0" cy="0"/>
        </a:xfrm>
      </p:grpSpPr>
      <p:sp>
        <p:nvSpPr>
          <p:cNvPr id="2" name="Text 0"/>
          <p:cNvSpPr/>
          <p:nvPr/>
        </p:nvSpPr>
        <p:spPr>
          <a:xfrm>
            <a:off x="1143000" y="247650"/>
            <a:ext cx="3658939" cy="457200"/>
          </a:xfrm>
          <a:prstGeom prst="rect">
            <a:avLst/>
          </a:prstGeom>
          <a:noFill/>
          <a:ln/>
        </p:spPr>
        <p:txBody>
          <a:bodyPr wrap="square" lIns="25400" tIns="25400" rIns="25400" bIns="25400" rtlCol="0" anchor="t">
            <a:normAutofit/>
          </a:bodyPr>
          <a:lstStyle/>
          <a:p>
            <a:pPr algn="l" indent="0" marL="0">
              <a:buNone/>
            </a:pPr>
            <a:r>
              <a:rPr lang="en-US" sz="2550" spc="-51" kern="0" dirty="0">
                <a:solidFill>
                  <a:srgbClr val="0B0D0E"/>
                </a:solidFill>
                <a:latin typeface="Geist" pitchFamily="34" charset="0"/>
                <a:ea typeface="Geist" pitchFamily="34" charset="-122"/>
                <a:cs typeface="Geist" pitchFamily="34" charset="-120"/>
              </a:rPr>
              <a:t>Typed degraded states</a:t>
            </a:r>
            <a:endParaRPr lang="en-US" sz="2550" dirty="0"/>
          </a:p>
        </p:txBody>
      </p:sp>
      <p:sp>
        <p:nvSpPr>
          <p:cNvPr id="3" name="Text 1"/>
          <p:cNvSpPr/>
          <p:nvPr/>
        </p:nvSpPr>
        <p:spPr>
          <a:xfrm>
            <a:off x="1143000" y="733425"/>
            <a:ext cx="5521643" cy="347663"/>
          </a:xfrm>
          <a:prstGeom prst="rect">
            <a:avLst/>
          </a:prstGeom>
          <a:noFill/>
          <a:ln/>
        </p:spPr>
        <p:txBody>
          <a:bodyPr wrap="square" lIns="25400" tIns="25400" rIns="25400" bIns="25400" rtlCol="0" anchor="t">
            <a:normAutofit/>
          </a:bodyPr>
          <a:lstStyle/>
          <a:p>
            <a:pPr algn="l" indent="0" marL="0">
              <a:buNone/>
            </a:pPr>
            <a:r>
              <a:rPr lang="en-US" sz="1875" spc="150" kern="0" dirty="0">
                <a:solidFill>
                  <a:srgbClr val="515858"/>
                </a:solidFill>
                <a:latin typeface="Geist Mono" pitchFamily="34" charset="0"/>
                <a:ea typeface="Geist Mono" pitchFamily="34" charset="-122"/>
                <a:cs typeface="Geist Mono" pitchFamily="34" charset="-120"/>
              </a:rPr>
              <a:t>ABSENCE IS ABSENCE, NOT SUCCESS</a:t>
            </a:r>
            <a:endParaRPr lang="en-US" sz="1875" dirty="0"/>
          </a:p>
        </p:txBody>
      </p:sp>
      <p:sp>
        <p:nvSpPr>
          <p:cNvPr id="4" name="Text 2"/>
          <p:cNvSpPr/>
          <p:nvPr/>
        </p:nvSpPr>
        <p:spPr>
          <a:xfrm>
            <a:off x="13477875" y="333375"/>
            <a:ext cx="4033838" cy="347663"/>
          </a:xfrm>
          <a:prstGeom prst="rect">
            <a:avLst/>
          </a:prstGeom>
          <a:noFill/>
          <a:ln/>
        </p:spPr>
        <p:txBody>
          <a:bodyPr wrap="none" lIns="25400" tIns="25400" rIns="25400" bIns="25400" rtlCol="0" anchor="t">
            <a:normAutofit/>
          </a:bodyPr>
          <a:lstStyle/>
          <a:p>
            <a:pPr algn="l" indent="0" marL="0">
              <a:buNone/>
            </a:pPr>
            <a:r>
              <a:rPr lang="en-US" sz="1875" spc="188" kern="0" dirty="0">
                <a:solidFill>
                  <a:srgbClr val="515858"/>
                </a:solidFill>
                <a:latin typeface="Geist Mono" pitchFamily="34" charset="0"/>
                <a:ea typeface="Geist Mono" pitchFamily="34" charset="-122"/>
                <a:cs typeface="Geist Mono" pitchFamily="34" charset="-120"/>
              </a:rPr>
              <a:t>10 · THE RUN · HAC-341</a:t>
            </a:r>
            <a:endParaRPr lang="en-US" sz="1875" dirty="0"/>
          </a:p>
        </p:txBody>
      </p:sp>
      <p:sp>
        <p:nvSpPr>
          <p:cNvPr id="5" name="Shape 3"/>
          <p:cNvSpPr/>
          <p:nvPr/>
        </p:nvSpPr>
        <p:spPr>
          <a:xfrm>
            <a:off x="1143000" y="2938983"/>
            <a:ext cx="5194250" cy="2245965"/>
          </a:xfrm>
          <a:prstGeom prst="rect">
            <a:avLst/>
          </a:prstGeom>
          <a:solidFill>
            <a:srgbClr val="FBFBFA"/>
          </a:solidFill>
          <a:ln w="9525">
            <a:solidFill>
              <a:srgbClr val="9BA2A2"/>
            </a:solidFill>
            <a:prstDash val="solid"/>
          </a:ln>
        </p:spPr>
      </p:sp>
      <p:sp>
        <p:nvSpPr>
          <p:cNvPr id="6" name="Text 4"/>
          <p:cNvSpPr/>
          <p:nvPr/>
        </p:nvSpPr>
        <p:spPr>
          <a:xfrm>
            <a:off x="1419225" y="3196158"/>
            <a:ext cx="5105980"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37B7B"/>
                </a:solidFill>
                <a:latin typeface="Geist Mono" pitchFamily="34" charset="0"/>
                <a:ea typeface="Geist Mono" pitchFamily="34" charset="-122"/>
                <a:cs typeface="Geist Mono" pitchFamily="34" charset="-120"/>
              </a:rPr>
              <a:t>RUN.LOADING</a:t>
            </a:r>
            <a:endParaRPr lang="en-US" sz="1800" dirty="0"/>
          </a:p>
        </p:txBody>
      </p:sp>
      <p:sp>
        <p:nvSpPr>
          <p:cNvPr id="7" name="Shape 5"/>
          <p:cNvSpPr/>
          <p:nvPr/>
        </p:nvSpPr>
        <p:spPr>
          <a:xfrm>
            <a:off x="1419225" y="3643833"/>
            <a:ext cx="3356670" cy="438150"/>
          </a:xfrm>
          <a:prstGeom prst="rect">
            <a:avLst/>
          </a:prstGeom>
          <a:ln w="9525">
            <a:solidFill>
              <a:srgbClr val="9BA2A2"/>
            </a:solidFill>
            <a:prstDash val="solid"/>
          </a:ln>
        </p:spPr>
      </p:sp>
      <p:sp>
        <p:nvSpPr>
          <p:cNvPr id="8" name="Text 6"/>
          <p:cNvSpPr/>
          <p:nvPr/>
        </p:nvSpPr>
        <p:spPr>
          <a:xfrm>
            <a:off x="1543050" y="3710508"/>
            <a:ext cx="320972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B0D0E"/>
                </a:solidFill>
                <a:latin typeface="Geist Mono" pitchFamily="34" charset="0"/>
                <a:ea typeface="Geist Mono" pitchFamily="34" charset="-122"/>
                <a:cs typeface="Geist Mono" pitchFamily="34" charset="-120"/>
              </a:rPr>
              <a:t>‖ READING THE RECORD</a:t>
            </a:r>
            <a:endParaRPr lang="en-US" sz="1800" dirty="0"/>
          </a:p>
        </p:txBody>
      </p:sp>
      <p:sp>
        <p:nvSpPr>
          <p:cNvPr id="9" name="Text 7"/>
          <p:cNvSpPr/>
          <p:nvPr/>
        </p:nvSpPr>
        <p:spPr>
          <a:xfrm>
            <a:off x="1419225" y="4234383"/>
            <a:ext cx="4781054" cy="731490"/>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1E2323"/>
                </a:solidFill>
                <a:latin typeface="Geist" pitchFamily="34" charset="0"/>
                <a:ea typeface="Geist" pitchFamily="34" charset="-122"/>
                <a:cs typeface="Geist" pitchFamily="34" charset="-120"/>
              </a:rPr>
              <a:t>Loading frozen evidence. No proof class is asserted and no fact is shown.</a:t>
            </a:r>
            <a:endParaRPr lang="en-US" sz="1950" dirty="0"/>
          </a:p>
        </p:txBody>
      </p:sp>
      <p:sp>
        <p:nvSpPr>
          <p:cNvPr id="10" name="Shape 8"/>
          <p:cNvSpPr/>
          <p:nvPr/>
        </p:nvSpPr>
        <p:spPr>
          <a:xfrm>
            <a:off x="6546800" y="2938983"/>
            <a:ext cx="5194325" cy="2236440"/>
          </a:xfrm>
          <a:prstGeom prst="rect">
            <a:avLst/>
          </a:prstGeom>
          <a:solidFill>
            <a:srgbClr val="FBFBFA"/>
          </a:solidFill>
          <a:ln w="9525">
            <a:solidFill>
              <a:srgbClr val="9BA2A2"/>
            </a:solidFill>
            <a:prstDash val="solid"/>
          </a:ln>
        </p:spPr>
      </p:sp>
      <p:sp>
        <p:nvSpPr>
          <p:cNvPr id="11" name="Text 9"/>
          <p:cNvSpPr/>
          <p:nvPr/>
        </p:nvSpPr>
        <p:spPr>
          <a:xfrm>
            <a:off x="6823025" y="3196158"/>
            <a:ext cx="5106062"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37B7B"/>
                </a:solidFill>
                <a:latin typeface="Geist Mono" pitchFamily="34" charset="0"/>
                <a:ea typeface="Geist Mono" pitchFamily="34" charset="-122"/>
                <a:cs typeface="Geist Mono" pitchFamily="34" charset="-120"/>
              </a:rPr>
              <a:t>RUN.UNAVAILABLE</a:t>
            </a:r>
            <a:endParaRPr lang="en-US" sz="1800" dirty="0"/>
          </a:p>
        </p:txBody>
      </p:sp>
      <p:sp>
        <p:nvSpPr>
          <p:cNvPr id="12" name="Shape 10"/>
          <p:cNvSpPr/>
          <p:nvPr/>
        </p:nvSpPr>
        <p:spPr>
          <a:xfrm>
            <a:off x="6823025" y="3643833"/>
            <a:ext cx="3668018" cy="428625"/>
          </a:xfrm>
          <a:prstGeom prst="rect">
            <a:avLst/>
          </a:prstGeom>
          <a:ln w="9525">
            <a:solidFill>
              <a:srgbClr val="A21829"/>
            </a:solidFill>
            <a:prstDash val="solid"/>
          </a:ln>
        </p:spPr>
      </p:sp>
      <p:sp>
        <p:nvSpPr>
          <p:cNvPr id="13" name="Text 11"/>
          <p:cNvSpPr/>
          <p:nvPr/>
        </p:nvSpPr>
        <p:spPr>
          <a:xfrm>
            <a:off x="6946850" y="3710508"/>
            <a:ext cx="3530409"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A21829"/>
                </a:solidFill>
                <a:latin typeface="Geist Mono" pitchFamily="34" charset="0"/>
                <a:ea typeface="Geist Mono" pitchFamily="34" charset="-122"/>
                <a:cs typeface="Geist Mono" pitchFamily="34" charset="-120"/>
              </a:rPr>
              <a:t>✕ EVIDENCE UNAVAILABLE</a:t>
            </a:r>
            <a:endParaRPr lang="en-US" sz="1800" dirty="0"/>
          </a:p>
        </p:txBody>
      </p:sp>
      <p:sp>
        <p:nvSpPr>
          <p:cNvPr id="14" name="Text 12"/>
          <p:cNvSpPr/>
          <p:nvPr/>
        </p:nvSpPr>
        <p:spPr>
          <a:xfrm>
            <a:off x="6823025" y="4224858"/>
            <a:ext cx="4781131" cy="731490"/>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1E2323"/>
                </a:solidFill>
                <a:latin typeface="Geist" pitchFamily="34" charset="0"/>
                <a:ea typeface="Geist" pitchFamily="34" charset="-122"/>
                <a:cs typeface="Geist" pitchFamily="34" charset="-120"/>
              </a:rPr>
              <a:t>The pinned record could not be read. Fallback to design data: refused.</a:t>
            </a:r>
            <a:endParaRPr lang="en-US" sz="1950" dirty="0"/>
          </a:p>
        </p:txBody>
      </p:sp>
      <p:sp>
        <p:nvSpPr>
          <p:cNvPr id="15" name="Shape 13"/>
          <p:cNvSpPr/>
          <p:nvPr/>
        </p:nvSpPr>
        <p:spPr>
          <a:xfrm>
            <a:off x="11950675" y="2938983"/>
            <a:ext cx="5194250" cy="2583135"/>
          </a:xfrm>
          <a:prstGeom prst="rect">
            <a:avLst/>
          </a:prstGeom>
          <a:solidFill>
            <a:srgbClr val="FBFBFA"/>
          </a:solidFill>
          <a:ln w="9525">
            <a:solidFill>
              <a:srgbClr val="9BA2A2"/>
            </a:solidFill>
            <a:prstDash val="solid"/>
          </a:ln>
        </p:spPr>
      </p:sp>
      <p:sp>
        <p:nvSpPr>
          <p:cNvPr id="16" name="Text 14"/>
          <p:cNvSpPr/>
          <p:nvPr/>
        </p:nvSpPr>
        <p:spPr>
          <a:xfrm>
            <a:off x="12226900" y="3196158"/>
            <a:ext cx="5105980"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37B7B"/>
                </a:solidFill>
                <a:latin typeface="Geist Mono" pitchFamily="34" charset="0"/>
                <a:ea typeface="Geist Mono" pitchFamily="34" charset="-122"/>
                <a:cs typeface="Geist Mono" pitchFamily="34" charset="-120"/>
              </a:rPr>
              <a:t>RUN.MISSING</a:t>
            </a:r>
            <a:endParaRPr lang="en-US" sz="1800" dirty="0"/>
          </a:p>
        </p:txBody>
      </p:sp>
      <p:sp>
        <p:nvSpPr>
          <p:cNvPr id="17" name="Shape 15"/>
          <p:cNvSpPr/>
          <p:nvPr/>
        </p:nvSpPr>
        <p:spPr>
          <a:xfrm>
            <a:off x="12226900" y="3643833"/>
            <a:ext cx="2890763" cy="428625"/>
          </a:xfrm>
          <a:prstGeom prst="rect">
            <a:avLst/>
          </a:prstGeom>
          <a:ln w="9525">
            <a:solidFill>
              <a:srgbClr val="A21829"/>
            </a:solidFill>
            <a:prstDash val="solid"/>
          </a:ln>
        </p:spPr>
      </p:sp>
      <p:sp>
        <p:nvSpPr>
          <p:cNvPr id="18" name="Text 16"/>
          <p:cNvSpPr/>
          <p:nvPr/>
        </p:nvSpPr>
        <p:spPr>
          <a:xfrm>
            <a:off x="12350725" y="3710508"/>
            <a:ext cx="2729836"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A21829"/>
                </a:solidFill>
                <a:latin typeface="Geist Mono" pitchFamily="34" charset="0"/>
                <a:ea typeface="Geist Mono" pitchFamily="34" charset="-122"/>
                <a:cs typeface="Geist Mono" pitchFamily="34" charset="-120"/>
              </a:rPr>
              <a:t>✕ RUN UNAVAILABLE</a:t>
            </a:r>
            <a:endParaRPr lang="en-US" sz="1800" dirty="0"/>
          </a:p>
        </p:txBody>
      </p:sp>
      <p:sp>
        <p:nvSpPr>
          <p:cNvPr id="19" name="Text 17"/>
          <p:cNvSpPr/>
          <p:nvPr/>
        </p:nvSpPr>
        <p:spPr>
          <a:xfrm>
            <a:off x="12226900" y="4224858"/>
            <a:ext cx="4781054" cy="1078185"/>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1E2323"/>
                </a:solidFill>
                <a:latin typeface="Geist" pitchFamily="34" charset="0"/>
                <a:ea typeface="Geist" pitchFamily="34" charset="-122"/>
                <a:cs typeface="Geist" pitchFamily="34" charset="-120"/>
              </a:rPr>
              <a:t>The requested address is echoed. Substitution of the canonical run: refused.</a:t>
            </a:r>
            <a:endParaRPr lang="en-US" sz="1950" dirty="0"/>
          </a:p>
        </p:txBody>
      </p:sp>
      <p:sp>
        <p:nvSpPr>
          <p:cNvPr id="20" name="Shape 18"/>
          <p:cNvSpPr/>
          <p:nvPr/>
        </p:nvSpPr>
        <p:spPr>
          <a:xfrm>
            <a:off x="1143000" y="5731669"/>
            <a:ext cx="5194250" cy="2583135"/>
          </a:xfrm>
          <a:prstGeom prst="rect">
            <a:avLst/>
          </a:prstGeom>
          <a:solidFill>
            <a:srgbClr val="0B0D0E"/>
          </a:solidFill>
          <a:ln w="9525">
            <a:solidFill>
              <a:srgbClr val="515858"/>
            </a:solidFill>
            <a:prstDash val="solid"/>
          </a:ln>
        </p:spPr>
      </p:sp>
      <p:sp>
        <p:nvSpPr>
          <p:cNvPr id="21" name="Text 19"/>
          <p:cNvSpPr/>
          <p:nvPr/>
        </p:nvSpPr>
        <p:spPr>
          <a:xfrm>
            <a:off x="1419225" y="5988844"/>
            <a:ext cx="5105980"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37B7B"/>
                </a:solidFill>
                <a:latin typeface="Geist Mono" pitchFamily="34" charset="0"/>
                <a:ea typeface="Geist Mono" pitchFamily="34" charset="-122"/>
                <a:cs typeface="Geist Mono" pitchFamily="34" charset="-120"/>
              </a:rPr>
              <a:t>RUN.CLOUD.PARTIAL</a:t>
            </a:r>
            <a:endParaRPr lang="en-US" sz="1800" dirty="0"/>
          </a:p>
        </p:txBody>
      </p:sp>
      <p:sp>
        <p:nvSpPr>
          <p:cNvPr id="22" name="Shape 20"/>
          <p:cNvSpPr/>
          <p:nvPr/>
        </p:nvSpPr>
        <p:spPr>
          <a:xfrm>
            <a:off x="1419225" y="6436519"/>
            <a:ext cx="3046214" cy="428625"/>
          </a:xfrm>
          <a:prstGeom prst="rect">
            <a:avLst/>
          </a:prstGeom>
          <a:ln w="9525">
            <a:solidFill>
              <a:srgbClr val="E4B65C"/>
            </a:solidFill>
            <a:prstDash val="dash"/>
          </a:ln>
        </p:spPr>
      </p:sp>
      <p:sp>
        <p:nvSpPr>
          <p:cNvPr id="23" name="Text 21"/>
          <p:cNvSpPr/>
          <p:nvPr/>
        </p:nvSpPr>
        <p:spPr>
          <a:xfrm>
            <a:off x="1543050" y="6503194"/>
            <a:ext cx="2889950"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E4B65C"/>
                </a:solidFill>
                <a:latin typeface="Geist Mono" pitchFamily="34" charset="0"/>
                <a:ea typeface="Geist Mono" pitchFamily="34" charset="-122"/>
                <a:cs typeface="Geist Mono" pitchFamily="34" charset="-120"/>
              </a:rPr>
              <a:t>● PARTIAL EVIDENCE</a:t>
            </a:r>
            <a:endParaRPr lang="en-US" sz="1800" dirty="0"/>
          </a:p>
        </p:txBody>
      </p:sp>
      <p:sp>
        <p:nvSpPr>
          <p:cNvPr id="24" name="Text 22"/>
          <p:cNvSpPr/>
          <p:nvPr/>
        </p:nvSpPr>
        <p:spPr>
          <a:xfrm>
            <a:off x="1419225" y="7017544"/>
            <a:ext cx="4781054" cy="1078185"/>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EEF0F0"/>
                </a:solidFill>
                <a:latin typeface="Geist" pitchFamily="34" charset="0"/>
                <a:ea typeface="Geist" pitchFamily="34" charset="-122"/>
                <a:cs typeface="Geist" pitchFamily="34" charset="-120"/>
              </a:rPr>
              <a:t>Negative-control evidence did not load. The controls are withheld, not shown as passing.</a:t>
            </a:r>
            <a:endParaRPr lang="en-US" sz="1950" dirty="0"/>
          </a:p>
        </p:txBody>
      </p:sp>
      <p:sp>
        <p:nvSpPr>
          <p:cNvPr id="25" name="Shape 23"/>
          <p:cNvSpPr/>
          <p:nvPr/>
        </p:nvSpPr>
        <p:spPr>
          <a:xfrm>
            <a:off x="6546800" y="5731669"/>
            <a:ext cx="5194325" cy="2236440"/>
          </a:xfrm>
          <a:prstGeom prst="rect">
            <a:avLst/>
          </a:prstGeom>
          <a:solidFill>
            <a:srgbClr val="0B0D0E"/>
          </a:solidFill>
          <a:ln w="9525">
            <a:solidFill>
              <a:srgbClr val="515858"/>
            </a:solidFill>
            <a:prstDash val="solid"/>
          </a:ln>
        </p:spPr>
      </p:sp>
      <p:sp>
        <p:nvSpPr>
          <p:cNvPr id="26" name="Text 24"/>
          <p:cNvSpPr/>
          <p:nvPr/>
        </p:nvSpPr>
        <p:spPr>
          <a:xfrm>
            <a:off x="6823025" y="5988844"/>
            <a:ext cx="5106062"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37B7B"/>
                </a:solidFill>
                <a:latin typeface="Geist Mono" pitchFamily="34" charset="0"/>
                <a:ea typeface="Geist Mono" pitchFamily="34" charset="-122"/>
                <a:cs typeface="Geist Mono" pitchFamily="34" charset="-120"/>
              </a:rPr>
              <a:t>EVIDENCE.INVALID-LINK</a:t>
            </a:r>
            <a:endParaRPr lang="en-US" sz="1800" dirty="0"/>
          </a:p>
        </p:txBody>
      </p:sp>
      <p:sp>
        <p:nvSpPr>
          <p:cNvPr id="27" name="Shape 25"/>
          <p:cNvSpPr/>
          <p:nvPr/>
        </p:nvSpPr>
        <p:spPr>
          <a:xfrm>
            <a:off x="6823025" y="6436519"/>
            <a:ext cx="3823469" cy="428625"/>
          </a:xfrm>
          <a:prstGeom prst="rect">
            <a:avLst/>
          </a:prstGeom>
          <a:ln w="9525">
            <a:solidFill>
              <a:srgbClr val="E15955"/>
            </a:solidFill>
            <a:prstDash val="solid"/>
          </a:ln>
        </p:spPr>
      </p:sp>
      <p:sp>
        <p:nvSpPr>
          <p:cNvPr id="28" name="Text 26"/>
          <p:cNvSpPr/>
          <p:nvPr/>
        </p:nvSpPr>
        <p:spPr>
          <a:xfrm>
            <a:off x="6946850" y="6503194"/>
            <a:ext cx="3690523"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E15955"/>
                </a:solidFill>
                <a:latin typeface="Geist Mono" pitchFamily="34" charset="0"/>
                <a:ea typeface="Geist Mono" pitchFamily="34" charset="-122"/>
                <a:cs typeface="Geist Mono" pitchFamily="34" charset="-120"/>
              </a:rPr>
              <a:t>✕ INVALID EVIDENCE LINK</a:t>
            </a:r>
            <a:endParaRPr lang="en-US" sz="1800" dirty="0"/>
          </a:p>
        </p:txBody>
      </p:sp>
      <p:sp>
        <p:nvSpPr>
          <p:cNvPr id="29" name="Text 27"/>
          <p:cNvSpPr/>
          <p:nvPr/>
        </p:nvSpPr>
        <p:spPr>
          <a:xfrm>
            <a:off x="6823025" y="7017544"/>
            <a:ext cx="4781131" cy="731490"/>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EEF0F0"/>
                </a:solidFill>
                <a:latin typeface="Geist" pitchFamily="34" charset="0"/>
                <a:ea typeface="Geist" pitchFamily="34" charset="-122"/>
                <a:cs typeface="Geist" pitchFamily="34" charset="-120"/>
              </a:rPr>
              <a:t>Release-blocking and visible. Unverified is never rendered as verified.</a:t>
            </a:r>
            <a:endParaRPr lang="en-US" sz="1950" dirty="0"/>
          </a:p>
        </p:txBody>
      </p:sp>
      <p:sp>
        <p:nvSpPr>
          <p:cNvPr id="30" name="Shape 28"/>
          <p:cNvSpPr/>
          <p:nvPr/>
        </p:nvSpPr>
        <p:spPr>
          <a:xfrm>
            <a:off x="11950675" y="5731669"/>
            <a:ext cx="5194250" cy="2236440"/>
          </a:xfrm>
          <a:prstGeom prst="rect">
            <a:avLst/>
          </a:prstGeom>
          <a:solidFill>
            <a:srgbClr val="FBFBFA"/>
          </a:solidFill>
          <a:ln w="9525">
            <a:solidFill>
              <a:srgbClr val="9BA2A2"/>
            </a:solidFill>
            <a:prstDash val="solid"/>
          </a:ln>
        </p:spPr>
      </p:sp>
      <p:sp>
        <p:nvSpPr>
          <p:cNvPr id="31" name="Text 29"/>
          <p:cNvSpPr/>
          <p:nvPr/>
        </p:nvSpPr>
        <p:spPr>
          <a:xfrm>
            <a:off x="12226900" y="5988844"/>
            <a:ext cx="5105980"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37B7B"/>
                </a:solidFill>
                <a:latin typeface="Geist Mono" pitchFamily="34" charset="0"/>
                <a:ea typeface="Geist Mono" pitchFamily="34" charset="-122"/>
                <a:cs typeface="Geist Mono" pitchFamily="34" charset="-120"/>
              </a:rPr>
              <a:t>RUN.RESERVED.EVALUATION</a:t>
            </a:r>
            <a:endParaRPr lang="en-US" sz="1800" dirty="0"/>
          </a:p>
        </p:txBody>
      </p:sp>
      <p:sp>
        <p:nvSpPr>
          <p:cNvPr id="32" name="Shape 30"/>
          <p:cNvSpPr/>
          <p:nvPr/>
        </p:nvSpPr>
        <p:spPr>
          <a:xfrm>
            <a:off x="12226900" y="6436519"/>
            <a:ext cx="3668018" cy="428625"/>
          </a:xfrm>
          <a:prstGeom prst="rect">
            <a:avLst/>
          </a:prstGeom>
          <a:ln w="9525">
            <a:solidFill>
              <a:srgbClr val="B07A00"/>
            </a:solidFill>
            <a:prstDash val="dash"/>
          </a:ln>
        </p:spPr>
      </p:sp>
      <p:sp>
        <p:nvSpPr>
          <p:cNvPr id="33" name="Text 31"/>
          <p:cNvSpPr/>
          <p:nvPr/>
        </p:nvSpPr>
        <p:spPr>
          <a:xfrm>
            <a:off x="12350725" y="6503194"/>
            <a:ext cx="3530409"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B07A00"/>
                </a:solidFill>
                <a:latin typeface="Geist Mono" pitchFamily="34" charset="0"/>
                <a:ea typeface="Geist Mono" pitchFamily="34" charset="-122"/>
                <a:cs typeface="Geist Mono" pitchFamily="34" charset="-120"/>
              </a:rPr>
              <a:t>● EVALUATION NOT BOUND</a:t>
            </a:r>
            <a:endParaRPr lang="en-US" sz="1800" dirty="0"/>
          </a:p>
        </p:txBody>
      </p:sp>
      <p:sp>
        <p:nvSpPr>
          <p:cNvPr id="34" name="Text 32"/>
          <p:cNvSpPr/>
          <p:nvPr/>
        </p:nvSpPr>
        <p:spPr>
          <a:xfrm>
            <a:off x="12226900" y="7017544"/>
            <a:ext cx="4781054" cy="731490"/>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1E2323"/>
                </a:solidFill>
                <a:latin typeface="Geist" pitchFamily="34" charset="0"/>
                <a:ea typeface="Geist" pitchFamily="34" charset="-122"/>
                <a:cs typeface="Geist" pitchFamily="34" charset="-120"/>
              </a:rPr>
              <a:t>The shell is drawn. The numbers are withheld until a frozen packet exists.</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DE0E0"/>
        </a:solidFill>
      </p:bgPr>
    </p:bg>
    <p:spTree>
      <p:nvGrpSpPr>
        <p:cNvPr id="1" name=""/>
        <p:cNvGrpSpPr/>
        <p:nvPr/>
      </p:nvGrpSpPr>
      <p:grpSpPr>
        <a:xfrm>
          <a:off x="0" y="0"/>
          <a:ext cx="0" cy="0"/>
          <a:chOff x="0" y="0"/>
          <a:chExt cx="0" cy="0"/>
        </a:xfrm>
      </p:grpSpPr>
      <p:sp>
        <p:nvSpPr>
          <p:cNvPr id="2" name="Text 0"/>
          <p:cNvSpPr/>
          <p:nvPr/>
        </p:nvSpPr>
        <p:spPr>
          <a:xfrm>
            <a:off x="1143000" y="247650"/>
            <a:ext cx="2493972" cy="457200"/>
          </a:xfrm>
          <a:prstGeom prst="rect">
            <a:avLst/>
          </a:prstGeom>
          <a:noFill/>
          <a:ln/>
        </p:spPr>
        <p:txBody>
          <a:bodyPr wrap="square" lIns="25400" tIns="25400" rIns="25400" bIns="25400" rtlCol="0" anchor="t">
            <a:normAutofit/>
          </a:bodyPr>
          <a:lstStyle/>
          <a:p>
            <a:pPr algn="l" indent="0" marL="0">
              <a:buNone/>
            </a:pPr>
            <a:r>
              <a:rPr lang="en-US" sz="2550" spc="-51" kern="0" dirty="0">
                <a:solidFill>
                  <a:srgbClr val="0B0D0E"/>
                </a:solidFill>
                <a:latin typeface="Geist" pitchFamily="34" charset="0"/>
                <a:ea typeface="Geist" pitchFamily="34" charset="-122"/>
                <a:cs typeface="Geist" pitchFamily="34" charset="-120"/>
              </a:rPr>
              <a:t>Deep-link entry</a:t>
            </a:r>
            <a:endParaRPr lang="en-US" sz="2550" dirty="0"/>
          </a:p>
        </p:txBody>
      </p:sp>
      <p:sp>
        <p:nvSpPr>
          <p:cNvPr id="3" name="Text 1"/>
          <p:cNvSpPr/>
          <p:nvPr/>
        </p:nvSpPr>
        <p:spPr>
          <a:xfrm>
            <a:off x="1143000" y="733425"/>
            <a:ext cx="7302818" cy="347663"/>
          </a:xfrm>
          <a:prstGeom prst="rect">
            <a:avLst/>
          </a:prstGeom>
          <a:noFill/>
          <a:ln/>
        </p:spPr>
        <p:txBody>
          <a:bodyPr wrap="square" lIns="25400" tIns="25400" rIns="25400" bIns="25400" rtlCol="0" anchor="t">
            <a:normAutofit/>
          </a:bodyPr>
          <a:lstStyle/>
          <a:p>
            <a:pPr algn="l" indent="0" marL="0">
              <a:buNone/>
            </a:pPr>
            <a:r>
              <a:rPr lang="en-US" sz="1875" spc="150" kern="0" dirty="0">
                <a:solidFill>
                  <a:srgbClr val="515858"/>
                </a:solidFill>
                <a:latin typeface="Geist Mono" pitchFamily="34" charset="0"/>
                <a:ea typeface="Geist Mono" pitchFamily="34" charset="-122"/>
                <a:cs typeface="Geist Mono" pitchFamily="34" charset="-120"/>
              </a:rPr>
              <a:t>ONE VOCABULARY FOR URL, STATE AND CAPTURE</a:t>
            </a:r>
            <a:endParaRPr lang="en-US" sz="1875" dirty="0"/>
          </a:p>
        </p:txBody>
      </p:sp>
      <p:sp>
        <p:nvSpPr>
          <p:cNvPr id="4" name="Text 2"/>
          <p:cNvSpPr/>
          <p:nvPr/>
        </p:nvSpPr>
        <p:spPr>
          <a:xfrm>
            <a:off x="13477875" y="333375"/>
            <a:ext cx="4033838" cy="347663"/>
          </a:xfrm>
          <a:prstGeom prst="rect">
            <a:avLst/>
          </a:prstGeom>
          <a:noFill/>
          <a:ln/>
        </p:spPr>
        <p:txBody>
          <a:bodyPr wrap="none" lIns="25400" tIns="25400" rIns="25400" bIns="25400" rtlCol="0" anchor="t">
            <a:normAutofit/>
          </a:bodyPr>
          <a:lstStyle/>
          <a:p>
            <a:pPr algn="l" indent="0" marL="0">
              <a:buNone/>
            </a:pPr>
            <a:r>
              <a:rPr lang="en-US" sz="1875" spc="188" kern="0" dirty="0">
                <a:solidFill>
                  <a:srgbClr val="515858"/>
                </a:solidFill>
                <a:latin typeface="Geist Mono" pitchFamily="34" charset="0"/>
                <a:ea typeface="Geist Mono" pitchFamily="34" charset="-122"/>
                <a:cs typeface="Geist Mono" pitchFamily="34" charset="-120"/>
              </a:rPr>
              <a:t>11 · THE RUN · HAC-341</a:t>
            </a:r>
            <a:endParaRPr lang="en-US" sz="1875" dirty="0"/>
          </a:p>
        </p:txBody>
      </p:sp>
      <p:sp>
        <p:nvSpPr>
          <p:cNvPr id="5" name="Shape 3"/>
          <p:cNvSpPr/>
          <p:nvPr/>
        </p:nvSpPr>
        <p:spPr>
          <a:xfrm>
            <a:off x="1143000" y="3026122"/>
            <a:ext cx="8773567" cy="5142458"/>
          </a:xfrm>
          <a:prstGeom prst="rect">
            <a:avLst/>
          </a:prstGeom>
          <a:solidFill>
            <a:srgbClr val="FFFFFF"/>
          </a:solidFill>
          <a:ln w="9525">
            <a:solidFill>
              <a:srgbClr val="9BA2A2"/>
            </a:solidFill>
            <a:prstDash val="solid"/>
          </a:ln>
        </p:spPr>
      </p:sp>
      <p:sp>
        <p:nvSpPr>
          <p:cNvPr id="6" name="Text 4"/>
          <p:cNvSpPr/>
          <p:nvPr/>
        </p:nvSpPr>
        <p:spPr>
          <a:xfrm>
            <a:off x="1476375" y="3321397"/>
            <a:ext cx="8917498"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37B7B"/>
                </a:solidFill>
                <a:latin typeface="Geist Mono" pitchFamily="34" charset="0"/>
                <a:ea typeface="Geist Mono" pitchFamily="34" charset="-122"/>
                <a:cs typeface="Geist Mono" pitchFamily="34" charset="-120"/>
              </a:rPr>
              <a:t>ADDRESS, AND WHAT IT RESOLVES TO</a:t>
            </a:r>
            <a:endParaRPr lang="en-US" sz="1800" dirty="0"/>
          </a:p>
        </p:txBody>
      </p:sp>
      <p:sp>
        <p:nvSpPr>
          <p:cNvPr id="7" name="Shape 5"/>
          <p:cNvSpPr/>
          <p:nvPr/>
        </p:nvSpPr>
        <p:spPr>
          <a:xfrm>
            <a:off x="1476375" y="4383435"/>
            <a:ext cx="8106817" cy="9525"/>
          </a:xfrm>
          <a:prstGeom prst="rect">
            <a:avLst/>
          </a:prstGeom>
          <a:solidFill>
            <a:srgbClr val="DDE0E0"/>
          </a:solidFill>
          <a:ln/>
        </p:spPr>
      </p:sp>
      <p:sp>
        <p:nvSpPr>
          <p:cNvPr id="8" name="Text 6"/>
          <p:cNvSpPr/>
          <p:nvPr/>
        </p:nvSpPr>
        <p:spPr>
          <a:xfrm>
            <a:off x="1476375" y="3930997"/>
            <a:ext cx="5323143" cy="347663"/>
          </a:xfrm>
          <a:prstGeom prst="rect">
            <a:avLst/>
          </a:prstGeom>
          <a:noFill/>
          <a:ln/>
        </p:spPr>
        <p:txBody>
          <a:bodyPr wrap="square" lIns="25400" tIns="25400" rIns="25400" bIns="25400" rtlCol="0" anchor="t">
            <a:normAutofit/>
          </a:bodyPr>
          <a:lstStyle/>
          <a:p>
            <a:pPr algn="l" indent="0" marL="0">
              <a:buNone/>
            </a:pPr>
            <a:r>
              <a:rPr lang="en-US" sz="1875" dirty="0">
                <a:solidFill>
                  <a:srgbClr val="0B0D0E"/>
                </a:solidFill>
                <a:latin typeface="Geist Mono" pitchFamily="34" charset="0"/>
                <a:ea typeface="Geist Mono" pitchFamily="34" charset="-122"/>
                <a:cs typeface="Geist Mono" pitchFamily="34" charset="-120"/>
              </a:rPr>
              <a:t>?run=hac330-local</a:t>
            </a:r>
            <a:endParaRPr lang="en-US" sz="1875" dirty="0"/>
          </a:p>
        </p:txBody>
      </p:sp>
      <p:sp>
        <p:nvSpPr>
          <p:cNvPr id="9" name="Text 7"/>
          <p:cNvSpPr/>
          <p:nvPr/>
        </p:nvSpPr>
        <p:spPr>
          <a:xfrm>
            <a:off x="6582296" y="3930997"/>
            <a:ext cx="3300985" cy="347663"/>
          </a:xfrm>
          <a:prstGeom prst="rect">
            <a:avLst/>
          </a:prstGeom>
          <a:noFill/>
          <a:ln/>
        </p:spPr>
        <p:txBody>
          <a:bodyPr wrap="square" lIns="25400" tIns="25400" rIns="25400" bIns="25400" rtlCol="0" anchor="t">
            <a:normAutofit/>
          </a:bodyPr>
          <a:lstStyle/>
          <a:p>
            <a:pPr algn="l" indent="0" marL="0">
              <a:buNone/>
            </a:pPr>
            <a:r>
              <a:rPr lang="en-US" sz="1875" dirty="0">
                <a:solidFill>
                  <a:srgbClr val="515858"/>
                </a:solidFill>
                <a:latin typeface="Geist Mono" pitchFamily="34" charset="0"/>
                <a:ea typeface="Geist Mono" pitchFamily="34" charset="-122"/>
                <a:cs typeface="Geist Mono" pitchFamily="34" charset="-120"/>
              </a:rPr>
              <a:t>→ run.local.treatment</a:t>
            </a:r>
            <a:endParaRPr lang="en-US" sz="1875" dirty="0"/>
          </a:p>
        </p:txBody>
      </p:sp>
      <p:sp>
        <p:nvSpPr>
          <p:cNvPr id="10" name="Shape 8"/>
          <p:cNvSpPr/>
          <p:nvPr/>
        </p:nvSpPr>
        <p:spPr>
          <a:xfrm>
            <a:off x="1476375" y="4988272"/>
            <a:ext cx="8106817" cy="9525"/>
          </a:xfrm>
          <a:prstGeom prst="rect">
            <a:avLst/>
          </a:prstGeom>
          <a:solidFill>
            <a:srgbClr val="DDE0E0"/>
          </a:solidFill>
          <a:ln/>
        </p:spPr>
      </p:sp>
      <p:sp>
        <p:nvSpPr>
          <p:cNvPr id="11" name="Text 9"/>
          <p:cNvSpPr/>
          <p:nvPr/>
        </p:nvSpPr>
        <p:spPr>
          <a:xfrm>
            <a:off x="1476375" y="4535835"/>
            <a:ext cx="5951793" cy="347663"/>
          </a:xfrm>
          <a:prstGeom prst="rect">
            <a:avLst/>
          </a:prstGeom>
          <a:noFill/>
          <a:ln/>
        </p:spPr>
        <p:txBody>
          <a:bodyPr wrap="square" lIns="25400" tIns="25400" rIns="25400" bIns="25400" rtlCol="0" anchor="t">
            <a:normAutofit/>
          </a:bodyPr>
          <a:lstStyle/>
          <a:p>
            <a:pPr algn="l" indent="0" marL="0">
              <a:buNone/>
            </a:pPr>
            <a:r>
              <a:rPr lang="en-US" sz="1875" dirty="0">
                <a:solidFill>
                  <a:srgbClr val="0B0D0E"/>
                </a:solidFill>
                <a:latin typeface="Geist Mono" pitchFamily="34" charset="0"/>
                <a:ea typeface="Geist Mono" pitchFamily="34" charset="-122"/>
                <a:cs typeface="Geist Mono" pitchFamily="34" charset="-120"/>
              </a:rPr>
              <a:t>&amp;state=run.local.perturbed</a:t>
            </a:r>
            <a:endParaRPr lang="en-US" sz="1875" dirty="0"/>
          </a:p>
        </p:txBody>
      </p:sp>
      <p:sp>
        <p:nvSpPr>
          <p:cNvPr id="12" name="Text 10"/>
          <p:cNvSpPr/>
          <p:nvPr/>
        </p:nvSpPr>
        <p:spPr>
          <a:xfrm>
            <a:off x="7153796" y="4535835"/>
            <a:ext cx="2672335" cy="347663"/>
          </a:xfrm>
          <a:prstGeom prst="rect">
            <a:avLst/>
          </a:prstGeom>
          <a:noFill/>
          <a:ln/>
        </p:spPr>
        <p:txBody>
          <a:bodyPr wrap="square" lIns="25400" tIns="25400" rIns="25400" bIns="25400" rtlCol="0" anchor="t">
            <a:normAutofit/>
          </a:bodyPr>
          <a:lstStyle/>
          <a:p>
            <a:pPr algn="l" indent="0" marL="0">
              <a:buNone/>
            </a:pPr>
            <a:r>
              <a:rPr lang="en-US" sz="1875" dirty="0">
                <a:solidFill>
                  <a:srgbClr val="515858"/>
                </a:solidFill>
                <a:latin typeface="Geist Mono" pitchFamily="34" charset="0"/>
                <a:ea typeface="Geist Mono" pitchFamily="34" charset="-122"/>
                <a:cs typeface="Geist Mono" pitchFamily="34" charset="-120"/>
              </a:rPr>
              <a:t>→ arm preselected</a:t>
            </a:r>
            <a:endParaRPr lang="en-US" sz="1875" dirty="0"/>
          </a:p>
        </p:txBody>
      </p:sp>
      <p:sp>
        <p:nvSpPr>
          <p:cNvPr id="13" name="Shape 11"/>
          <p:cNvSpPr/>
          <p:nvPr/>
        </p:nvSpPr>
        <p:spPr>
          <a:xfrm>
            <a:off x="1476375" y="5593110"/>
            <a:ext cx="8106817" cy="9525"/>
          </a:xfrm>
          <a:prstGeom prst="rect">
            <a:avLst/>
          </a:prstGeom>
          <a:solidFill>
            <a:srgbClr val="DDE0E0"/>
          </a:solidFill>
          <a:ln/>
        </p:spPr>
      </p:sp>
      <p:sp>
        <p:nvSpPr>
          <p:cNvPr id="14" name="Text 12"/>
          <p:cNvSpPr/>
          <p:nvPr/>
        </p:nvSpPr>
        <p:spPr>
          <a:xfrm>
            <a:off x="1476375" y="5140672"/>
            <a:ext cx="6580443" cy="347663"/>
          </a:xfrm>
          <a:prstGeom prst="rect">
            <a:avLst/>
          </a:prstGeom>
          <a:noFill/>
          <a:ln/>
        </p:spPr>
        <p:txBody>
          <a:bodyPr wrap="square" lIns="25400" tIns="25400" rIns="25400" bIns="25400" rtlCol="0" anchor="t">
            <a:normAutofit/>
          </a:bodyPr>
          <a:lstStyle/>
          <a:p>
            <a:pPr algn="l" indent="0" marL="0">
              <a:buNone/>
            </a:pPr>
            <a:r>
              <a:rPr lang="en-US" sz="1875" dirty="0">
                <a:solidFill>
                  <a:srgbClr val="0B0D0E"/>
                </a:solidFill>
                <a:latin typeface="Geist Mono" pitchFamily="34" charset="0"/>
                <a:ea typeface="Geist Mono" pitchFamily="34" charset="-122"/>
                <a:cs typeface="Geist Mono" pitchFamily="34" charset="-120"/>
              </a:rPr>
              <a:t>?proof=cloud&amp;state=run.local.*</a:t>
            </a:r>
            <a:endParaRPr lang="en-US" sz="1875" dirty="0"/>
          </a:p>
        </p:txBody>
      </p:sp>
      <p:sp>
        <p:nvSpPr>
          <p:cNvPr id="15" name="Text 13"/>
          <p:cNvSpPr/>
          <p:nvPr/>
        </p:nvSpPr>
        <p:spPr>
          <a:xfrm>
            <a:off x="7725296" y="5140672"/>
            <a:ext cx="2043685" cy="347663"/>
          </a:xfrm>
          <a:prstGeom prst="rect">
            <a:avLst/>
          </a:prstGeom>
          <a:noFill/>
          <a:ln/>
        </p:spPr>
        <p:txBody>
          <a:bodyPr wrap="square" lIns="25400" tIns="25400" rIns="25400" bIns="25400" rtlCol="0" anchor="t">
            <a:normAutofit/>
          </a:bodyPr>
          <a:lstStyle/>
          <a:p>
            <a:pPr algn="l" indent="0" marL="0">
              <a:buNone/>
            </a:pPr>
            <a:r>
              <a:rPr lang="en-US" sz="1875" dirty="0">
                <a:solidFill>
                  <a:srgbClr val="A21829"/>
                </a:solidFill>
                <a:latin typeface="Geist Mono" pitchFamily="34" charset="0"/>
                <a:ea typeface="Geist Mono" pitchFamily="34" charset="-122"/>
                <a:cs typeface="Geist Mono" pitchFamily="34" charset="-120"/>
              </a:rPr>
              <a:t>→ run.missing</a:t>
            </a:r>
            <a:endParaRPr lang="en-US" sz="1875" dirty="0"/>
          </a:p>
        </p:txBody>
      </p:sp>
      <p:sp>
        <p:nvSpPr>
          <p:cNvPr id="16" name="Shape 14"/>
          <p:cNvSpPr/>
          <p:nvPr/>
        </p:nvSpPr>
        <p:spPr>
          <a:xfrm>
            <a:off x="1476375" y="6197947"/>
            <a:ext cx="8106817" cy="9525"/>
          </a:xfrm>
          <a:prstGeom prst="rect">
            <a:avLst/>
          </a:prstGeom>
          <a:solidFill>
            <a:srgbClr val="DDE0E0"/>
          </a:solidFill>
          <a:ln/>
        </p:spPr>
      </p:sp>
      <p:sp>
        <p:nvSpPr>
          <p:cNvPr id="17" name="Text 15"/>
          <p:cNvSpPr/>
          <p:nvPr/>
        </p:nvSpPr>
        <p:spPr>
          <a:xfrm>
            <a:off x="1476375" y="5745510"/>
            <a:ext cx="6580443" cy="347663"/>
          </a:xfrm>
          <a:prstGeom prst="rect">
            <a:avLst/>
          </a:prstGeom>
          <a:noFill/>
          <a:ln/>
        </p:spPr>
        <p:txBody>
          <a:bodyPr wrap="square" lIns="25400" tIns="25400" rIns="25400" bIns="25400" rtlCol="0" anchor="t">
            <a:normAutofit/>
          </a:bodyPr>
          <a:lstStyle/>
          <a:p>
            <a:pPr algn="l" indent="0" marL="0">
              <a:buNone/>
            </a:pPr>
            <a:r>
              <a:rPr lang="en-US" sz="1875" dirty="0">
                <a:solidFill>
                  <a:srgbClr val="0B0D0E"/>
                </a:solidFill>
                <a:latin typeface="Geist Mono" pitchFamily="34" charset="0"/>
                <a:ea typeface="Geist Mono" pitchFamily="34" charset="-122"/>
                <a:cs typeface="Geist Mono" pitchFamily="34" charset="-120"/>
              </a:rPr>
              <a:t>?run=hac999</a:t>
            </a:r>
            <a:endParaRPr lang="en-US" sz="1875" dirty="0"/>
          </a:p>
        </p:txBody>
      </p:sp>
      <p:sp>
        <p:nvSpPr>
          <p:cNvPr id="18" name="Text 16"/>
          <p:cNvSpPr/>
          <p:nvPr/>
        </p:nvSpPr>
        <p:spPr>
          <a:xfrm>
            <a:off x="7725296" y="5745510"/>
            <a:ext cx="2043685" cy="347663"/>
          </a:xfrm>
          <a:prstGeom prst="rect">
            <a:avLst/>
          </a:prstGeom>
          <a:noFill/>
          <a:ln/>
        </p:spPr>
        <p:txBody>
          <a:bodyPr wrap="square" lIns="25400" tIns="25400" rIns="25400" bIns="25400" rtlCol="0" anchor="t">
            <a:normAutofit/>
          </a:bodyPr>
          <a:lstStyle/>
          <a:p>
            <a:pPr algn="l" indent="0" marL="0">
              <a:buNone/>
            </a:pPr>
            <a:r>
              <a:rPr lang="en-US" sz="1875" dirty="0">
                <a:solidFill>
                  <a:srgbClr val="A21829"/>
                </a:solidFill>
                <a:latin typeface="Geist Mono" pitchFamily="34" charset="0"/>
                <a:ea typeface="Geist Mono" pitchFamily="34" charset="-122"/>
                <a:cs typeface="Geist Mono" pitchFamily="34" charset="-120"/>
              </a:rPr>
              <a:t>→ run.missing</a:t>
            </a:r>
            <a:endParaRPr lang="en-US" sz="1875" dirty="0"/>
          </a:p>
        </p:txBody>
      </p:sp>
      <p:sp>
        <p:nvSpPr>
          <p:cNvPr id="19" name="Text 17"/>
          <p:cNvSpPr/>
          <p:nvPr/>
        </p:nvSpPr>
        <p:spPr>
          <a:xfrm>
            <a:off x="1476375" y="6350347"/>
            <a:ext cx="5951793" cy="347663"/>
          </a:xfrm>
          <a:prstGeom prst="rect">
            <a:avLst/>
          </a:prstGeom>
          <a:noFill/>
          <a:ln/>
        </p:spPr>
        <p:txBody>
          <a:bodyPr wrap="square" lIns="25400" tIns="25400" rIns="25400" bIns="25400" rtlCol="0" anchor="t">
            <a:normAutofit/>
          </a:bodyPr>
          <a:lstStyle/>
          <a:p>
            <a:pPr algn="l" indent="0" marL="0">
              <a:buNone/>
            </a:pPr>
            <a:r>
              <a:rPr lang="en-US" sz="1875" dirty="0">
                <a:solidFill>
                  <a:srgbClr val="0B0D0E"/>
                </a:solidFill>
                <a:latin typeface="Geist Mono" pitchFamily="34" charset="0"/>
                <a:ea typeface="Geist Mono" pitchFamily="34" charset="-122"/>
                <a:cs typeface="Geist Mono" pitchFamily="34" charset="-120"/>
              </a:rPr>
              <a:t>&amp;state=run.reserved.evaluation</a:t>
            </a:r>
            <a:endParaRPr lang="en-US" sz="1875" dirty="0"/>
          </a:p>
        </p:txBody>
      </p:sp>
      <p:sp>
        <p:nvSpPr>
          <p:cNvPr id="20" name="Text 18"/>
          <p:cNvSpPr/>
          <p:nvPr/>
        </p:nvSpPr>
        <p:spPr>
          <a:xfrm>
            <a:off x="7153796" y="6350347"/>
            <a:ext cx="2672335" cy="347663"/>
          </a:xfrm>
          <a:prstGeom prst="rect">
            <a:avLst/>
          </a:prstGeom>
          <a:noFill/>
          <a:ln/>
        </p:spPr>
        <p:txBody>
          <a:bodyPr wrap="square" lIns="25400" tIns="25400" rIns="25400" bIns="25400" rtlCol="0" anchor="t">
            <a:normAutofit/>
          </a:bodyPr>
          <a:lstStyle/>
          <a:p>
            <a:pPr algn="l" indent="0" marL="0">
              <a:buNone/>
            </a:pPr>
            <a:r>
              <a:rPr lang="en-US" sz="1875" dirty="0">
                <a:solidFill>
                  <a:srgbClr val="B07A00"/>
                </a:solidFill>
                <a:latin typeface="Geist Mono" pitchFamily="34" charset="0"/>
                <a:ea typeface="Geist Mono" pitchFamily="34" charset="-122"/>
                <a:cs typeface="Geist Mono" pitchFamily="34" charset="-120"/>
              </a:rPr>
              <a:t>→ unbound surface</a:t>
            </a:r>
            <a:endParaRPr lang="en-US" sz="1875" dirty="0"/>
          </a:p>
        </p:txBody>
      </p:sp>
      <p:sp>
        <p:nvSpPr>
          <p:cNvPr id="21" name="Shape 19"/>
          <p:cNvSpPr/>
          <p:nvPr/>
        </p:nvSpPr>
        <p:spPr>
          <a:xfrm>
            <a:off x="1476375" y="6974235"/>
            <a:ext cx="8106817" cy="9525"/>
          </a:xfrm>
          <a:prstGeom prst="rect">
            <a:avLst/>
          </a:prstGeom>
          <a:solidFill>
            <a:srgbClr val="DDE0E0"/>
          </a:solidFill>
          <a:ln/>
        </p:spPr>
      </p:sp>
      <p:sp>
        <p:nvSpPr>
          <p:cNvPr id="22" name="Text 20"/>
          <p:cNvSpPr/>
          <p:nvPr/>
        </p:nvSpPr>
        <p:spPr>
          <a:xfrm>
            <a:off x="1476375" y="7155210"/>
            <a:ext cx="8350021" cy="756196"/>
          </a:xfrm>
          <a:prstGeom prst="rect">
            <a:avLst/>
          </a:prstGeom>
          <a:noFill/>
          <a:ln/>
        </p:spPr>
        <p:txBody>
          <a:bodyPr wrap="square" lIns="25400" tIns="25400" rIns="25400" bIns="25400" rtlCol="0" anchor="t">
            <a:normAutofit/>
          </a:bodyPr>
          <a:lstStyle/>
          <a:p>
            <a:pPr algn="l" indent="0" marL="0">
              <a:lnSpc>
                <a:spcPct val="112537"/>
              </a:lnSpc>
              <a:buNone/>
            </a:pPr>
            <a:r>
              <a:rPr lang="en-US" sz="1950" dirty="0">
                <a:solidFill>
                  <a:srgbClr val="515858"/>
                </a:solidFill>
                <a:latin typeface="Geist" pitchFamily="34" charset="0"/>
                <a:ea typeface="Geist" pitchFamily="34" charset="-122"/>
                <a:cs typeface="Geist" pitchFamily="34" charset="-120"/>
              </a:rPr>
              <a:t>An invalid address renders a named degraded state and echoes what was asked for. The canonical run is never silently substituted.</a:t>
            </a:r>
            <a:endParaRPr lang="en-US" sz="1950" dirty="0"/>
          </a:p>
        </p:txBody>
      </p:sp>
      <p:sp>
        <p:nvSpPr>
          <p:cNvPr id="23" name="Shape 21"/>
          <p:cNvSpPr/>
          <p:nvPr/>
        </p:nvSpPr>
        <p:spPr>
          <a:xfrm>
            <a:off x="10126117" y="3026122"/>
            <a:ext cx="7018883" cy="5201469"/>
          </a:xfrm>
          <a:prstGeom prst="rect">
            <a:avLst/>
          </a:prstGeom>
          <a:solidFill>
            <a:srgbClr val="FFFFFF"/>
          </a:solidFill>
          <a:ln w="9525">
            <a:solidFill>
              <a:srgbClr val="9BA2A2"/>
            </a:solidFill>
            <a:prstDash val="solid"/>
          </a:ln>
        </p:spPr>
      </p:sp>
      <p:sp>
        <p:nvSpPr>
          <p:cNvPr id="24" name="Text 22"/>
          <p:cNvSpPr/>
          <p:nvPr/>
        </p:nvSpPr>
        <p:spPr>
          <a:xfrm>
            <a:off x="10459492" y="3321397"/>
            <a:ext cx="6987347"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37B7B"/>
                </a:solidFill>
                <a:latin typeface="Geist Mono" pitchFamily="34" charset="0"/>
                <a:ea typeface="Geist Mono" pitchFamily="34" charset="-122"/>
                <a:cs typeface="Geist Mono" pitchFamily="34" charset="-120"/>
              </a:rPr>
              <a:t>PROJECTION READ</a:t>
            </a:r>
            <a:endParaRPr lang="en-US" sz="1800" dirty="0"/>
          </a:p>
        </p:txBody>
      </p:sp>
      <p:sp>
        <p:nvSpPr>
          <p:cNvPr id="25" name="Shape 23"/>
          <p:cNvSpPr/>
          <p:nvPr/>
        </p:nvSpPr>
        <p:spPr>
          <a:xfrm>
            <a:off x="10459492" y="3807172"/>
            <a:ext cx="6352133" cy="2857500"/>
          </a:xfrm>
          <a:prstGeom prst="rect">
            <a:avLst/>
          </a:prstGeom>
          <a:solidFill>
            <a:srgbClr val="0B0D0E"/>
          </a:solidFill>
          <a:ln/>
        </p:spPr>
      </p:sp>
      <p:sp>
        <p:nvSpPr>
          <p:cNvPr id="26" name="Shape 24"/>
          <p:cNvSpPr/>
          <p:nvPr/>
        </p:nvSpPr>
        <p:spPr>
          <a:xfrm>
            <a:off x="11349558" y="3807172"/>
            <a:ext cx="4572000" cy="2857500"/>
          </a:xfrm>
          <a:prstGeom prst="rect">
            <a:avLst/>
          </a:prstGeom>
          <a:solidFill>
            <a:srgbClr val="FBFBFA"/>
          </a:solidFill>
          <a:ln w="9525">
            <a:solidFill>
              <a:srgbClr val="9BA2A2"/>
            </a:solidFill>
            <a:prstDash val="solid"/>
          </a:ln>
        </p:spPr>
      </p:sp>
      <p:sp>
        <p:nvSpPr>
          <p:cNvPr id="27" name="Shape 25"/>
          <p:cNvSpPr/>
          <p:nvPr/>
        </p:nvSpPr>
        <p:spPr>
          <a:xfrm>
            <a:off x="11359083" y="3988147"/>
            <a:ext cx="4572000" cy="9525"/>
          </a:xfrm>
          <a:prstGeom prst="rect">
            <a:avLst/>
          </a:prstGeom>
          <a:solidFill>
            <a:srgbClr val="DDE0E0"/>
          </a:solidFill>
          <a:ln/>
        </p:spPr>
      </p:sp>
      <p:sp>
        <p:nvSpPr>
          <p:cNvPr id="28" name="Shape 26"/>
          <p:cNvSpPr/>
          <p:nvPr/>
        </p:nvSpPr>
        <p:spPr>
          <a:xfrm>
            <a:off x="11359083" y="3997672"/>
            <a:ext cx="4572000" cy="123825"/>
          </a:xfrm>
          <a:prstGeom prst="rect">
            <a:avLst/>
          </a:prstGeom>
          <a:solidFill>
            <a:srgbClr val="F7F8F8"/>
          </a:solidFill>
          <a:ln/>
        </p:spPr>
      </p:sp>
      <p:sp>
        <p:nvSpPr>
          <p:cNvPr id="29" name="Shape 27"/>
          <p:cNvSpPr/>
          <p:nvPr/>
        </p:nvSpPr>
        <p:spPr>
          <a:xfrm>
            <a:off x="11359083" y="4111972"/>
            <a:ext cx="4572000" cy="9525"/>
          </a:xfrm>
          <a:prstGeom prst="rect">
            <a:avLst/>
          </a:prstGeom>
          <a:solidFill>
            <a:srgbClr val="0B0D0E"/>
          </a:solidFill>
          <a:ln/>
        </p:spPr>
      </p:sp>
      <p:sp>
        <p:nvSpPr>
          <p:cNvPr id="30" name="Shape 28"/>
          <p:cNvSpPr/>
          <p:nvPr/>
        </p:nvSpPr>
        <p:spPr>
          <a:xfrm>
            <a:off x="11359083" y="4121497"/>
            <a:ext cx="4572000" cy="200025"/>
          </a:xfrm>
          <a:prstGeom prst="rect">
            <a:avLst/>
          </a:prstGeom>
          <a:solidFill>
            <a:srgbClr val="F7F8F8"/>
          </a:solidFill>
          <a:ln/>
        </p:spPr>
      </p:sp>
      <p:sp>
        <p:nvSpPr>
          <p:cNvPr id="31" name="Shape 29"/>
          <p:cNvSpPr/>
          <p:nvPr/>
        </p:nvSpPr>
        <p:spPr>
          <a:xfrm>
            <a:off x="11359083" y="4311997"/>
            <a:ext cx="4572000" cy="9525"/>
          </a:xfrm>
          <a:prstGeom prst="rect">
            <a:avLst/>
          </a:prstGeom>
          <a:solidFill>
            <a:srgbClr val="DDE0E0"/>
          </a:solidFill>
          <a:ln/>
        </p:spPr>
      </p:sp>
      <p:sp>
        <p:nvSpPr>
          <p:cNvPr id="32" name="Shape 30"/>
          <p:cNvSpPr/>
          <p:nvPr/>
        </p:nvSpPr>
        <p:spPr>
          <a:xfrm>
            <a:off x="11444808" y="4378672"/>
            <a:ext cx="1181100" cy="323850"/>
          </a:xfrm>
          <a:prstGeom prst="rect">
            <a:avLst/>
          </a:prstGeom>
          <a:ln w="9525">
            <a:solidFill>
              <a:srgbClr val="DDE0E0"/>
            </a:solidFill>
            <a:prstDash val="solid"/>
          </a:ln>
        </p:spPr>
      </p:sp>
      <p:sp>
        <p:nvSpPr>
          <p:cNvPr id="33" name="Shape 31"/>
          <p:cNvSpPr/>
          <p:nvPr/>
        </p:nvSpPr>
        <p:spPr>
          <a:xfrm>
            <a:off x="12673533" y="4378672"/>
            <a:ext cx="1181100" cy="323850"/>
          </a:xfrm>
          <a:prstGeom prst="rect">
            <a:avLst/>
          </a:prstGeom>
          <a:ln w="9525">
            <a:solidFill>
              <a:srgbClr val="DDE0E0"/>
            </a:solidFill>
            <a:prstDash val="solid"/>
          </a:ln>
        </p:spPr>
      </p:sp>
      <p:sp>
        <p:nvSpPr>
          <p:cNvPr id="34" name="Shape 32"/>
          <p:cNvSpPr/>
          <p:nvPr/>
        </p:nvSpPr>
        <p:spPr>
          <a:xfrm>
            <a:off x="11444808" y="4750147"/>
            <a:ext cx="2409825" cy="285750"/>
          </a:xfrm>
          <a:prstGeom prst="rect">
            <a:avLst/>
          </a:prstGeom>
          <a:ln w="19050">
            <a:solidFill>
              <a:srgbClr val="0B0D0E"/>
            </a:solidFill>
            <a:prstDash val="solid"/>
          </a:ln>
        </p:spPr>
      </p:sp>
      <p:sp>
        <p:nvSpPr>
          <p:cNvPr id="35" name="Shape 33"/>
          <p:cNvSpPr/>
          <p:nvPr/>
        </p:nvSpPr>
        <p:spPr>
          <a:xfrm>
            <a:off x="11444808" y="5083522"/>
            <a:ext cx="2409825" cy="361950"/>
          </a:xfrm>
          <a:prstGeom prst="rect">
            <a:avLst/>
          </a:prstGeom>
          <a:solidFill>
            <a:srgbClr val="F7F8F8"/>
          </a:solidFill>
          <a:ln/>
        </p:spPr>
      </p:sp>
      <p:sp>
        <p:nvSpPr>
          <p:cNvPr id="36" name="Shape 34"/>
          <p:cNvSpPr/>
          <p:nvPr/>
        </p:nvSpPr>
        <p:spPr>
          <a:xfrm>
            <a:off x="11444808" y="5435947"/>
            <a:ext cx="2409825" cy="9525"/>
          </a:xfrm>
          <a:prstGeom prst="rect">
            <a:avLst/>
          </a:prstGeom>
          <a:solidFill>
            <a:srgbClr val="C2C7C7"/>
          </a:solidFill>
          <a:ln/>
        </p:spPr>
      </p:sp>
      <p:sp>
        <p:nvSpPr>
          <p:cNvPr id="37" name="Shape 35"/>
          <p:cNvSpPr/>
          <p:nvPr/>
        </p:nvSpPr>
        <p:spPr>
          <a:xfrm>
            <a:off x="11444808" y="5083522"/>
            <a:ext cx="2409825" cy="9525"/>
          </a:xfrm>
          <a:prstGeom prst="rect">
            <a:avLst/>
          </a:prstGeom>
          <a:solidFill>
            <a:srgbClr val="C2C7C7"/>
          </a:solidFill>
          <a:ln/>
        </p:spPr>
      </p:sp>
      <p:sp>
        <p:nvSpPr>
          <p:cNvPr id="38" name="Shape 36"/>
          <p:cNvSpPr/>
          <p:nvPr/>
        </p:nvSpPr>
        <p:spPr>
          <a:xfrm>
            <a:off x="11444808" y="5083522"/>
            <a:ext cx="19050" cy="361950"/>
          </a:xfrm>
          <a:prstGeom prst="rect">
            <a:avLst/>
          </a:prstGeom>
          <a:solidFill>
            <a:srgbClr val="0B0D0E"/>
          </a:solidFill>
          <a:ln/>
        </p:spPr>
      </p:sp>
      <p:sp>
        <p:nvSpPr>
          <p:cNvPr id="39" name="Shape 37"/>
          <p:cNvSpPr/>
          <p:nvPr/>
        </p:nvSpPr>
        <p:spPr>
          <a:xfrm>
            <a:off x="13845108" y="5083522"/>
            <a:ext cx="9525" cy="361950"/>
          </a:xfrm>
          <a:prstGeom prst="rect">
            <a:avLst/>
          </a:prstGeom>
          <a:solidFill>
            <a:srgbClr val="C2C7C7"/>
          </a:solidFill>
          <a:ln/>
        </p:spPr>
      </p:sp>
      <p:sp>
        <p:nvSpPr>
          <p:cNvPr id="40" name="Text 38"/>
          <p:cNvSpPr/>
          <p:nvPr/>
        </p:nvSpPr>
        <p:spPr>
          <a:xfrm>
            <a:off x="11521008" y="5209729"/>
            <a:ext cx="2493645" cy="147638"/>
          </a:xfrm>
          <a:prstGeom prst="rect">
            <a:avLst/>
          </a:prstGeom>
          <a:noFill/>
          <a:ln/>
        </p:spPr>
        <p:txBody>
          <a:bodyPr wrap="square" lIns="25400" tIns="25400" rIns="25400" bIns="25400" rtlCol="0" anchor="t">
            <a:normAutofit/>
          </a:bodyPr>
          <a:lstStyle/>
          <a:p>
            <a:pPr algn="l" indent="0" marL="0">
              <a:buNone/>
            </a:pPr>
            <a:r>
              <a:rPr lang="en-US" sz="675" dirty="0">
                <a:solidFill>
                  <a:srgbClr val="0B0D0E"/>
                </a:solidFill>
                <a:latin typeface="Geist Mono" pitchFamily="34" charset="0"/>
                <a:ea typeface="Geist Mono" pitchFamily="34" charset="-122"/>
                <a:cs typeface="Geist Mono" pitchFamily="34" charset="-120"/>
              </a:rPr>
              <a:t>WITHHOLD_SERIALIZE</a:t>
            </a:r>
            <a:endParaRPr lang="en-US" sz="675" dirty="0"/>
          </a:p>
        </p:txBody>
      </p:sp>
      <p:sp>
        <p:nvSpPr>
          <p:cNvPr id="41" name="Shape 39"/>
          <p:cNvSpPr/>
          <p:nvPr/>
        </p:nvSpPr>
        <p:spPr>
          <a:xfrm>
            <a:off x="13940358" y="4321522"/>
            <a:ext cx="9525" cy="2219325"/>
          </a:xfrm>
          <a:prstGeom prst="rect">
            <a:avLst/>
          </a:prstGeom>
          <a:solidFill>
            <a:srgbClr val="DDE0E0"/>
          </a:solidFill>
          <a:ln/>
        </p:spPr>
      </p:sp>
      <p:sp>
        <p:nvSpPr>
          <p:cNvPr id="42" name="Shape 40"/>
          <p:cNvSpPr/>
          <p:nvPr/>
        </p:nvSpPr>
        <p:spPr>
          <a:xfrm>
            <a:off x="14035608" y="4378672"/>
            <a:ext cx="1809750" cy="247650"/>
          </a:xfrm>
          <a:prstGeom prst="rect">
            <a:avLst/>
          </a:prstGeom>
          <a:ln w="9525">
            <a:solidFill>
              <a:srgbClr val="DDE0E0"/>
            </a:solidFill>
            <a:prstDash val="solid"/>
          </a:ln>
        </p:spPr>
      </p:sp>
      <p:sp>
        <p:nvSpPr>
          <p:cNvPr id="43" name="Text 41"/>
          <p:cNvSpPr/>
          <p:nvPr/>
        </p:nvSpPr>
        <p:spPr>
          <a:xfrm>
            <a:off x="14092758" y="4435822"/>
            <a:ext cx="1864995" cy="171450"/>
          </a:xfrm>
          <a:prstGeom prst="rect">
            <a:avLst/>
          </a:prstGeom>
          <a:noFill/>
          <a:ln/>
        </p:spPr>
        <p:txBody>
          <a:bodyPr wrap="square" lIns="25400" tIns="25400" rIns="25400" bIns="25400" rtlCol="0" anchor="t">
            <a:normAutofit/>
          </a:bodyPr>
          <a:lstStyle/>
          <a:p>
            <a:pPr algn="l" indent="0" marL="0">
              <a:buNone/>
            </a:pPr>
            <a:r>
              <a:rPr lang="en-US" sz="825" dirty="0">
                <a:solidFill>
                  <a:srgbClr val="515858"/>
                </a:solidFill>
                <a:latin typeface="Geist Mono" pitchFamily="34" charset="0"/>
                <a:ea typeface="Geist Mono" pitchFamily="34" charset="-122"/>
                <a:cs typeface="Geist Mono" pitchFamily="34" charset="-120"/>
              </a:rPr>
              <a:t>140 &gt; 130</a:t>
            </a:r>
            <a:endParaRPr lang="en-US" sz="825" dirty="0"/>
          </a:p>
        </p:txBody>
      </p:sp>
      <p:sp>
        <p:nvSpPr>
          <p:cNvPr id="44" name="Shape 42"/>
          <p:cNvSpPr/>
          <p:nvPr/>
        </p:nvSpPr>
        <p:spPr>
          <a:xfrm>
            <a:off x="14035608" y="4673947"/>
            <a:ext cx="1809750" cy="247650"/>
          </a:xfrm>
          <a:prstGeom prst="rect">
            <a:avLst/>
          </a:prstGeom>
          <a:ln w="19050">
            <a:solidFill>
              <a:srgbClr val="0B0D0E"/>
            </a:solidFill>
            <a:prstDash val="solid"/>
          </a:ln>
        </p:spPr>
      </p:sp>
      <p:sp>
        <p:nvSpPr>
          <p:cNvPr id="45" name="Text 43"/>
          <p:cNvSpPr/>
          <p:nvPr/>
        </p:nvSpPr>
        <p:spPr>
          <a:xfrm>
            <a:off x="14102283" y="4731097"/>
            <a:ext cx="1844040" cy="171450"/>
          </a:xfrm>
          <a:prstGeom prst="rect">
            <a:avLst/>
          </a:prstGeom>
          <a:noFill/>
          <a:ln/>
        </p:spPr>
        <p:txBody>
          <a:bodyPr wrap="square" lIns="25400" tIns="25400" rIns="25400" bIns="25400" rtlCol="0" anchor="t">
            <a:normAutofit/>
          </a:bodyPr>
          <a:lstStyle/>
          <a:p>
            <a:pPr algn="l" indent="0" marL="0">
              <a:buNone/>
            </a:pPr>
            <a:r>
              <a:rPr lang="en-US" sz="825" dirty="0">
                <a:solidFill>
                  <a:srgbClr val="0B0D0E"/>
                </a:solidFill>
                <a:latin typeface="Geist Mono" pitchFamily="34" charset="0"/>
                <a:ea typeface="Geist Mono" pitchFamily="34" charset="-122"/>
                <a:cs typeface="Geist Mono" pitchFamily="34" charset="-120"/>
              </a:rPr>
              <a:t>120 &lt;= 130</a:t>
            </a:r>
            <a:endParaRPr lang="en-US" sz="825" dirty="0"/>
          </a:p>
        </p:txBody>
      </p:sp>
      <p:sp>
        <p:nvSpPr>
          <p:cNvPr id="46" name="Shape 44"/>
          <p:cNvSpPr/>
          <p:nvPr/>
        </p:nvSpPr>
        <p:spPr>
          <a:xfrm>
            <a:off x="14035608" y="4969222"/>
            <a:ext cx="1809750" cy="171450"/>
          </a:xfrm>
          <a:prstGeom prst="rect">
            <a:avLst/>
          </a:prstGeom>
          <a:ln w="9525">
            <a:solidFill>
              <a:srgbClr val="0B0D0E"/>
            </a:solidFill>
            <a:prstDash val="solid"/>
          </a:ln>
        </p:spPr>
      </p:sp>
      <p:sp>
        <p:nvSpPr>
          <p:cNvPr id="47" name="Shape 45"/>
          <p:cNvSpPr/>
          <p:nvPr/>
        </p:nvSpPr>
        <p:spPr>
          <a:xfrm>
            <a:off x="11359083" y="6540847"/>
            <a:ext cx="4572000" cy="114300"/>
          </a:xfrm>
          <a:prstGeom prst="rect">
            <a:avLst/>
          </a:prstGeom>
          <a:solidFill>
            <a:srgbClr val="F7F8F8"/>
          </a:solidFill>
          <a:ln/>
        </p:spPr>
      </p:sp>
      <p:sp>
        <p:nvSpPr>
          <p:cNvPr id="48" name="Shape 46"/>
          <p:cNvSpPr/>
          <p:nvPr/>
        </p:nvSpPr>
        <p:spPr>
          <a:xfrm>
            <a:off x="11359083" y="6540847"/>
            <a:ext cx="4572000" cy="9525"/>
          </a:xfrm>
          <a:prstGeom prst="rect">
            <a:avLst/>
          </a:prstGeom>
          <a:solidFill>
            <a:srgbClr val="DDE0E0"/>
          </a:solidFill>
          <a:ln/>
        </p:spPr>
      </p:sp>
      <p:sp>
        <p:nvSpPr>
          <p:cNvPr id="49" name="Text 47"/>
          <p:cNvSpPr/>
          <p:nvPr/>
        </p:nvSpPr>
        <p:spPr>
          <a:xfrm>
            <a:off x="10459492" y="6855172"/>
            <a:ext cx="6542697" cy="1115244"/>
          </a:xfrm>
          <a:prstGeom prst="rect">
            <a:avLst/>
          </a:prstGeom>
          <a:noFill/>
          <a:ln/>
        </p:spPr>
        <p:txBody>
          <a:bodyPr wrap="square" lIns="25400" tIns="25400" rIns="25400" bIns="25400" rtlCol="0" anchor="t">
            <a:normAutofit/>
          </a:bodyPr>
          <a:lstStyle/>
          <a:p>
            <a:pPr algn="l" indent="0" marL="0">
              <a:lnSpc>
                <a:spcPct val="112537"/>
              </a:lnSpc>
              <a:buNone/>
            </a:pPr>
            <a:r>
              <a:rPr lang="en-US" sz="1950" dirty="0">
                <a:solidFill>
                  <a:srgbClr val="515858"/>
                </a:solidFill>
                <a:latin typeface="Geist" pitchFamily="34" charset="0"/>
                <a:ea typeface="Geist" pitchFamily="34" charset="-122"/>
                <a:cs typeface="Geist" pitchFamily="34" charset="-120"/>
              </a:rPr>
              <a:t>At projection scale three protagonists survive: the coupling card, the decision token, and the adjacent numeral pair.</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DDE0E0"/>
        </a:solidFill>
      </p:bgPr>
    </p:bg>
    <p:spTree>
      <p:nvGrpSpPr>
        <p:cNvPr id="1" name=""/>
        <p:cNvGrpSpPr/>
        <p:nvPr/>
      </p:nvGrpSpPr>
      <p:grpSpPr>
        <a:xfrm>
          <a:off x="0" y="0"/>
          <a:ext cx="0" cy="0"/>
          <a:chOff x="0" y="0"/>
          <a:chExt cx="0" cy="0"/>
        </a:xfrm>
      </p:grpSpPr>
      <p:sp>
        <p:nvSpPr>
          <p:cNvPr id="2" name="Text 0"/>
          <p:cNvSpPr/>
          <p:nvPr/>
        </p:nvSpPr>
        <p:spPr>
          <a:xfrm>
            <a:off x="1143000" y="247650"/>
            <a:ext cx="3264724" cy="457200"/>
          </a:xfrm>
          <a:prstGeom prst="rect">
            <a:avLst/>
          </a:prstGeom>
          <a:noFill/>
          <a:ln/>
        </p:spPr>
        <p:txBody>
          <a:bodyPr wrap="square" lIns="25400" tIns="25400" rIns="25400" bIns="25400" rtlCol="0" anchor="t">
            <a:normAutofit/>
          </a:bodyPr>
          <a:lstStyle/>
          <a:p>
            <a:pPr algn="l" indent="0" marL="0">
              <a:buNone/>
            </a:pPr>
            <a:r>
              <a:rPr lang="en-US" sz="2550" spc="-51" kern="0" dirty="0">
                <a:solidFill>
                  <a:srgbClr val="0B0D0E"/>
                </a:solidFill>
                <a:latin typeface="Geist" pitchFamily="34" charset="0"/>
                <a:ea typeface="Geist" pitchFamily="34" charset="-122"/>
                <a:cs typeface="Geist" pitchFamily="34" charset="-120"/>
              </a:rPr>
              <a:t>Anchored disclosure</a:t>
            </a:r>
            <a:endParaRPr lang="en-US" sz="2550" dirty="0"/>
          </a:p>
        </p:txBody>
      </p:sp>
      <p:sp>
        <p:nvSpPr>
          <p:cNvPr id="3" name="Text 1"/>
          <p:cNvSpPr/>
          <p:nvPr/>
        </p:nvSpPr>
        <p:spPr>
          <a:xfrm>
            <a:off x="1143000" y="733425"/>
            <a:ext cx="4452937" cy="347663"/>
          </a:xfrm>
          <a:prstGeom prst="rect">
            <a:avLst/>
          </a:prstGeom>
          <a:noFill/>
          <a:ln/>
        </p:spPr>
        <p:txBody>
          <a:bodyPr wrap="square" lIns="25400" tIns="25400" rIns="25400" bIns="25400" rtlCol="0" anchor="t">
            <a:normAutofit/>
          </a:bodyPr>
          <a:lstStyle/>
          <a:p>
            <a:pPr algn="l" indent="0" marL="0">
              <a:buNone/>
            </a:pPr>
            <a:r>
              <a:rPr lang="en-US" sz="1875" spc="150" kern="0" dirty="0">
                <a:solidFill>
                  <a:srgbClr val="515858"/>
                </a:solidFill>
                <a:latin typeface="Geist Mono" pitchFamily="34" charset="0"/>
                <a:ea typeface="Geist Mono" pitchFamily="34" charset="-122"/>
                <a:cs typeface="Geist Mono" pitchFamily="34" charset="-120"/>
              </a:rPr>
              <a:t>1B · L2 AS A THIRD COLUMN</a:t>
            </a:r>
            <a:endParaRPr lang="en-US" sz="1875" dirty="0"/>
          </a:p>
        </p:txBody>
      </p:sp>
      <p:sp>
        <p:nvSpPr>
          <p:cNvPr id="4" name="Text 2"/>
          <p:cNvSpPr/>
          <p:nvPr/>
        </p:nvSpPr>
        <p:spPr>
          <a:xfrm>
            <a:off x="13477875" y="333375"/>
            <a:ext cx="4033838" cy="347663"/>
          </a:xfrm>
          <a:prstGeom prst="rect">
            <a:avLst/>
          </a:prstGeom>
          <a:noFill/>
          <a:ln/>
        </p:spPr>
        <p:txBody>
          <a:bodyPr wrap="none" lIns="25400" tIns="25400" rIns="25400" bIns="25400" rtlCol="0" anchor="t">
            <a:normAutofit/>
          </a:bodyPr>
          <a:lstStyle/>
          <a:p>
            <a:pPr algn="l" indent="0" marL="0">
              <a:buNone/>
            </a:pPr>
            <a:r>
              <a:rPr lang="en-US" sz="1875" spc="188" kern="0" dirty="0">
                <a:solidFill>
                  <a:srgbClr val="515858"/>
                </a:solidFill>
                <a:latin typeface="Geist Mono" pitchFamily="34" charset="0"/>
                <a:ea typeface="Geist Mono" pitchFamily="34" charset="-122"/>
                <a:cs typeface="Geist Mono" pitchFamily="34" charset="-120"/>
              </a:rPr>
              <a:t>12 · THE RUN · HAC-341</a:t>
            </a:r>
            <a:endParaRPr lang="en-US" sz="1875" dirty="0"/>
          </a:p>
        </p:txBody>
      </p:sp>
      <p:sp>
        <p:nvSpPr>
          <p:cNvPr id="5" name="Shape 3"/>
          <p:cNvSpPr/>
          <p:nvPr/>
        </p:nvSpPr>
        <p:spPr>
          <a:xfrm>
            <a:off x="2952750" y="1757363"/>
            <a:ext cx="12382500" cy="7739062"/>
          </a:xfrm>
          <a:prstGeom prst="rect">
            <a:avLst/>
          </a:prstGeom>
          <a:solidFill>
            <a:srgbClr val="FBFBFA"/>
          </a:solidFill>
          <a:ln w="12383">
            <a:solidFill>
              <a:srgbClr val="9BA2A2"/>
            </a:solidFill>
            <a:prstDash val="solid"/>
          </a:ln>
        </p:spPr>
      </p:sp>
      <p:sp>
        <p:nvSpPr>
          <p:cNvPr id="6" name="Shape 4"/>
          <p:cNvSpPr/>
          <p:nvPr/>
        </p:nvSpPr>
        <p:spPr>
          <a:xfrm>
            <a:off x="2965132" y="2240280"/>
            <a:ext cx="12382500" cy="12383"/>
          </a:xfrm>
          <a:prstGeom prst="rect">
            <a:avLst/>
          </a:prstGeom>
          <a:solidFill>
            <a:srgbClr val="DDE0E0"/>
          </a:solidFill>
          <a:ln/>
        </p:spPr>
      </p:sp>
      <p:sp>
        <p:nvSpPr>
          <p:cNvPr id="7" name="Text 5"/>
          <p:cNvSpPr/>
          <p:nvPr/>
        </p:nvSpPr>
        <p:spPr>
          <a:xfrm>
            <a:off x="3212782" y="1933813"/>
            <a:ext cx="653534" cy="180499"/>
          </a:xfrm>
          <a:prstGeom prst="rect">
            <a:avLst/>
          </a:prstGeom>
          <a:noFill/>
          <a:ln/>
        </p:spPr>
        <p:txBody>
          <a:bodyPr wrap="square" lIns="25400" tIns="25400" rIns="25400" bIns="25400" rtlCol="0" anchor="t">
            <a:normAutofit/>
          </a:bodyPr>
          <a:lstStyle/>
          <a:p>
            <a:pPr algn="l" indent="0" marL="0">
              <a:buNone/>
            </a:pPr>
            <a:r>
              <a:rPr lang="en-US" sz="878" spc="123" kern="0" dirty="0">
                <a:solidFill>
                  <a:srgbClr val="737B7B"/>
                </a:solidFill>
                <a:latin typeface="Geist Mono" pitchFamily="34" charset="0"/>
                <a:ea typeface="Geist Mono" pitchFamily="34" charset="-122"/>
                <a:cs typeface="Geist Mono" pitchFamily="34" charset="-120"/>
              </a:rPr>
              <a:t>THE RUN</a:t>
            </a:r>
            <a:endParaRPr lang="en-US" sz="878" dirty="0"/>
          </a:p>
        </p:txBody>
      </p:sp>
      <p:sp>
        <p:nvSpPr>
          <p:cNvPr id="8" name="Text 6"/>
          <p:cNvSpPr/>
          <p:nvPr/>
        </p:nvSpPr>
        <p:spPr>
          <a:xfrm>
            <a:off x="3938707" y="1893570"/>
            <a:ext cx="2400231" cy="260985"/>
          </a:xfrm>
          <a:prstGeom prst="rect">
            <a:avLst/>
          </a:prstGeom>
          <a:noFill/>
          <a:ln/>
        </p:spPr>
        <p:txBody>
          <a:bodyPr wrap="square" lIns="25400" tIns="25400" rIns="25400" bIns="25400" rtlCol="0" anchor="t">
            <a:normAutofit/>
          </a:bodyPr>
          <a:lstStyle/>
          <a:p>
            <a:pPr algn="l" indent="0" marL="0">
              <a:buNone/>
            </a:pPr>
            <a:r>
              <a:rPr lang="en-US" sz="1365" dirty="0">
                <a:solidFill>
                  <a:srgbClr val="0B0D0E"/>
                </a:solidFill>
                <a:latin typeface="Geist" pitchFamily="34" charset="0"/>
                <a:ea typeface="Geist" pitchFamily="34" charset="-122"/>
                <a:cs typeface="Geist" pitchFamily="34" charset="-120"/>
              </a:rPr>
              <a:t>Controlled local experiment</a:t>
            </a:r>
            <a:endParaRPr lang="en-US" sz="1365" dirty="0"/>
          </a:p>
        </p:txBody>
      </p:sp>
      <p:sp>
        <p:nvSpPr>
          <p:cNvPr id="9" name="Shape 7"/>
          <p:cNvSpPr/>
          <p:nvPr/>
        </p:nvSpPr>
        <p:spPr>
          <a:xfrm>
            <a:off x="2965132" y="2252663"/>
            <a:ext cx="12382500" cy="321945"/>
          </a:xfrm>
          <a:prstGeom prst="rect">
            <a:avLst/>
          </a:prstGeom>
          <a:solidFill>
            <a:srgbClr val="F7F8F8"/>
          </a:solidFill>
          <a:ln/>
        </p:spPr>
      </p:sp>
      <p:sp>
        <p:nvSpPr>
          <p:cNvPr id="10" name="Shape 8"/>
          <p:cNvSpPr/>
          <p:nvPr/>
        </p:nvSpPr>
        <p:spPr>
          <a:xfrm>
            <a:off x="2965132" y="2549842"/>
            <a:ext cx="12382500" cy="24765"/>
          </a:xfrm>
          <a:prstGeom prst="rect">
            <a:avLst/>
          </a:prstGeom>
          <a:solidFill>
            <a:srgbClr val="0B0D0E"/>
          </a:solidFill>
          <a:ln/>
        </p:spPr>
      </p:sp>
      <p:sp>
        <p:nvSpPr>
          <p:cNvPr id="11" name="Text 9"/>
          <p:cNvSpPr/>
          <p:nvPr/>
        </p:nvSpPr>
        <p:spPr>
          <a:xfrm>
            <a:off x="3212782" y="2252663"/>
            <a:ext cx="12258675" cy="335280"/>
          </a:xfrm>
          <a:prstGeom prst="rect">
            <a:avLst/>
          </a:prstGeom>
          <a:noFill/>
          <a:ln/>
        </p:spPr>
        <p:txBody>
          <a:bodyPr wrap="square" lIns="25400" tIns="25400" rIns="25400" bIns="25400" rtlCol="0" anchor="ctr">
            <a:normAutofit/>
          </a:bodyPr>
          <a:lstStyle/>
          <a:p>
            <a:pPr algn="l" indent="0" marL="0">
              <a:buNone/>
            </a:pPr>
            <a:r>
              <a:rPr lang="en-US" sz="878" spc="70" kern="0" dirty="0">
                <a:solidFill>
                  <a:srgbClr val="515858"/>
                </a:solidFill>
                <a:latin typeface="Geist Mono" pitchFamily="34" charset="0"/>
                <a:ea typeface="Geist Mono" pitchFamily="34" charset="-122"/>
                <a:cs typeface="Geist Mono" pitchFamily="34" charset="-120"/>
              </a:rPr>
              <a:t>run hac330-local · issue HAC-330 · FROZEN · checks 24/24</a:t>
            </a:r>
            <a:endParaRPr lang="en-US" sz="878" dirty="0"/>
          </a:p>
        </p:txBody>
      </p:sp>
      <p:sp>
        <p:nvSpPr>
          <p:cNvPr id="12" name="Shape 10"/>
          <p:cNvSpPr/>
          <p:nvPr/>
        </p:nvSpPr>
        <p:spPr>
          <a:xfrm>
            <a:off x="2965132" y="2574607"/>
            <a:ext cx="12382500" cy="532448"/>
          </a:xfrm>
          <a:prstGeom prst="rect">
            <a:avLst/>
          </a:prstGeom>
          <a:solidFill>
            <a:srgbClr val="F7F8F8"/>
          </a:solidFill>
          <a:ln/>
        </p:spPr>
      </p:sp>
      <p:sp>
        <p:nvSpPr>
          <p:cNvPr id="13" name="Shape 11"/>
          <p:cNvSpPr/>
          <p:nvPr/>
        </p:nvSpPr>
        <p:spPr>
          <a:xfrm>
            <a:off x="2965132" y="3094673"/>
            <a:ext cx="12382500" cy="12383"/>
          </a:xfrm>
          <a:prstGeom prst="rect">
            <a:avLst/>
          </a:prstGeom>
          <a:solidFill>
            <a:srgbClr val="DDE0E0"/>
          </a:solidFill>
          <a:ln/>
        </p:spPr>
      </p:sp>
      <p:sp>
        <p:nvSpPr>
          <p:cNvPr id="14" name="Shape 12"/>
          <p:cNvSpPr/>
          <p:nvPr/>
        </p:nvSpPr>
        <p:spPr>
          <a:xfrm>
            <a:off x="3212782" y="2732484"/>
            <a:ext cx="1932734" cy="204311"/>
          </a:xfrm>
          <a:prstGeom prst="rect">
            <a:avLst/>
          </a:prstGeom>
          <a:ln w="12383">
            <a:solidFill>
              <a:srgbClr val="C2C7C7"/>
            </a:solidFill>
            <a:prstDash val="dash"/>
          </a:ln>
        </p:spPr>
      </p:sp>
      <p:sp>
        <p:nvSpPr>
          <p:cNvPr id="15" name="Text 13"/>
          <p:cNvSpPr/>
          <p:nvPr/>
        </p:nvSpPr>
        <p:spPr>
          <a:xfrm>
            <a:off x="3299460" y="2769632"/>
            <a:ext cx="1835579" cy="168116"/>
          </a:xfrm>
          <a:prstGeom prst="rect">
            <a:avLst/>
          </a:prstGeom>
          <a:noFill/>
          <a:ln/>
        </p:spPr>
        <p:txBody>
          <a:bodyPr wrap="square" lIns="25400" tIns="25400" rIns="25400" bIns="25400" rtlCol="0" anchor="t">
            <a:normAutofit/>
          </a:bodyPr>
          <a:lstStyle/>
          <a:p>
            <a:pPr algn="l" indent="0" marL="0">
              <a:buNone/>
            </a:pPr>
            <a:r>
              <a:rPr lang="en-US" sz="780" spc="109" kern="0" dirty="0">
                <a:solidFill>
                  <a:srgbClr val="737B7B"/>
                </a:solidFill>
                <a:latin typeface="Geist Mono" pitchFamily="34" charset="0"/>
                <a:ea typeface="Geist Mono" pitchFamily="34" charset="-122"/>
                <a:cs typeface="Geist Mono" pitchFamily="34" charset="-120"/>
              </a:rPr>
              <a:t>EDITORIAL · NOT EVIDENCE</a:t>
            </a:r>
            <a:endParaRPr lang="en-US" sz="780" dirty="0"/>
          </a:p>
        </p:txBody>
      </p:sp>
      <p:sp>
        <p:nvSpPr>
          <p:cNvPr id="16" name="Text 14"/>
          <p:cNvSpPr/>
          <p:nvPr/>
        </p:nvSpPr>
        <p:spPr>
          <a:xfrm>
            <a:off x="5269342" y="2738676"/>
            <a:ext cx="5386793" cy="230029"/>
          </a:xfrm>
          <a:prstGeom prst="rect">
            <a:avLst/>
          </a:prstGeom>
          <a:noFill/>
          <a:ln/>
        </p:spPr>
        <p:txBody>
          <a:bodyPr wrap="square" lIns="25400" tIns="25400" rIns="25400" bIns="25400" rtlCol="0" anchor="t">
            <a:normAutofit/>
          </a:bodyPr>
          <a:lstStyle/>
          <a:p>
            <a:pPr algn="l" indent="0" marL="0">
              <a:buNone/>
            </a:pPr>
            <a:r>
              <a:rPr lang="en-US" sz="1170" dirty="0">
                <a:solidFill>
                  <a:srgbClr val="1E2323"/>
                </a:solidFill>
                <a:latin typeface="Geist" pitchFamily="34" charset="0"/>
                <a:ea typeface="Geist" pitchFamily="34" charset="-122"/>
                <a:cs typeface="Geist" pitchFamily="34" charset="-120"/>
              </a:rPr>
              <a:t>Interlock changes the coordination decision when coupling is evidenced.</a:t>
            </a:r>
            <a:endParaRPr lang="en-US" sz="1170" dirty="0"/>
          </a:p>
        </p:txBody>
      </p:sp>
      <p:sp>
        <p:nvSpPr>
          <p:cNvPr id="17" name="Text 15"/>
          <p:cNvSpPr/>
          <p:nvPr/>
        </p:nvSpPr>
        <p:spPr>
          <a:xfrm>
            <a:off x="3188018" y="3280410"/>
            <a:ext cx="4957953" cy="180499"/>
          </a:xfrm>
          <a:prstGeom prst="rect">
            <a:avLst/>
          </a:prstGeom>
          <a:noFill/>
          <a:ln/>
        </p:spPr>
        <p:txBody>
          <a:bodyPr wrap="square" lIns="25400" tIns="25400" rIns="25400" bIns="25400" rtlCol="0" anchor="t">
            <a:normAutofit/>
          </a:bodyPr>
          <a:lstStyle/>
          <a:p>
            <a:pPr algn="l" indent="0" marL="0">
              <a:buNone/>
            </a:pPr>
            <a:r>
              <a:rPr lang="en-US" sz="878" spc="140" kern="0" dirty="0">
                <a:solidFill>
                  <a:srgbClr val="0B0D0E"/>
                </a:solidFill>
                <a:latin typeface="Geist Mono" pitchFamily="34" charset="0"/>
                <a:ea typeface="Geist Mono" pitchFamily="34" charset="-122"/>
                <a:cs typeface="Geist Mono" pitchFamily="34" charset="-120"/>
              </a:rPr>
              <a:t>WHAT CHANGED</a:t>
            </a:r>
            <a:endParaRPr lang="en-US" sz="878" dirty="0"/>
          </a:p>
        </p:txBody>
      </p:sp>
      <p:sp>
        <p:nvSpPr>
          <p:cNvPr id="18" name="Shape 16"/>
          <p:cNvSpPr/>
          <p:nvPr/>
        </p:nvSpPr>
        <p:spPr>
          <a:xfrm>
            <a:off x="3188018" y="3546634"/>
            <a:ext cx="2191702" cy="916305"/>
          </a:xfrm>
          <a:prstGeom prst="rect">
            <a:avLst/>
          </a:prstGeom>
          <a:solidFill>
            <a:srgbClr val="FFFFFF"/>
          </a:solidFill>
          <a:ln w="12383">
            <a:solidFill>
              <a:srgbClr val="DDE0E0"/>
            </a:solidFill>
            <a:prstDash val="solid"/>
          </a:ln>
        </p:spPr>
      </p:sp>
      <p:sp>
        <p:nvSpPr>
          <p:cNvPr id="19" name="Text 17"/>
          <p:cNvSpPr/>
          <p:nvPr/>
        </p:nvSpPr>
        <p:spPr>
          <a:xfrm>
            <a:off x="3324225" y="3658076"/>
            <a:ext cx="2111216" cy="180499"/>
          </a:xfrm>
          <a:prstGeom prst="rect">
            <a:avLst/>
          </a:prstGeom>
          <a:noFill/>
          <a:ln/>
        </p:spPr>
        <p:txBody>
          <a:bodyPr wrap="square" lIns="25400" tIns="25400" rIns="25400" bIns="25400" rtlCol="0" anchor="t">
            <a:normAutofit/>
          </a:bodyPr>
          <a:lstStyle/>
          <a:p>
            <a:pPr algn="l" indent="0" marL="0">
              <a:buNone/>
            </a:pPr>
            <a:r>
              <a:rPr lang="en-US" sz="878" spc="105" kern="0" dirty="0">
                <a:solidFill>
                  <a:srgbClr val="0B0D0E"/>
                </a:solidFill>
                <a:latin typeface="Geist Mono" pitchFamily="34" charset="0"/>
                <a:ea typeface="Geist Mono" pitchFamily="34" charset="-122"/>
                <a:cs typeface="Geist Mono" pitchFamily="34" charset="-120"/>
              </a:rPr>
              <a:t>INTENT A</a:t>
            </a:r>
            <a:endParaRPr lang="en-US" sz="878" dirty="0"/>
          </a:p>
        </p:txBody>
      </p:sp>
      <p:sp>
        <p:nvSpPr>
          <p:cNvPr id="20" name="Shape 18"/>
          <p:cNvSpPr/>
          <p:nvPr/>
        </p:nvSpPr>
        <p:spPr>
          <a:xfrm>
            <a:off x="3324225" y="3874770"/>
            <a:ext cx="1919288" cy="292150"/>
          </a:xfrm>
          <a:prstGeom prst="roundRect">
            <a:avLst>
              <a:gd name="adj" fmla="val 8477"/>
            </a:avLst>
          </a:prstGeom>
          <a:solidFill>
            <a:srgbClr val="768080">
              <a:alpha val="10000"/>
            </a:srgbClr>
          </a:solidFill>
          <a:ln w="12383">
            <a:solidFill>
              <a:srgbClr val="787C7E">
                <a:alpha val="55000"/>
              </a:srgbClr>
            </a:solidFill>
            <a:prstDash val="dash"/>
          </a:ln>
        </p:spPr>
      </p:sp>
      <p:sp>
        <p:nvSpPr>
          <p:cNvPr id="21" name="Shape 19"/>
          <p:cNvSpPr/>
          <p:nvPr/>
        </p:nvSpPr>
        <p:spPr>
          <a:xfrm>
            <a:off x="3386138" y="3930782"/>
            <a:ext cx="180127" cy="180127"/>
          </a:xfrm>
          <a:prstGeom prst="roundRect">
            <a:avLst>
              <a:gd name="adj" fmla="val 13749"/>
            </a:avLst>
          </a:prstGeom>
          <a:solidFill>
            <a:srgbClr val="767C7C">
              <a:alpha val="16000"/>
            </a:srgbClr>
          </a:solidFill>
          <a:ln/>
        </p:spPr>
      </p:sp>
      <p:sp>
        <p:nvSpPr>
          <p:cNvPr id="22" name="Text 20"/>
          <p:cNvSpPr/>
          <p:nvPr/>
        </p:nvSpPr>
        <p:spPr>
          <a:xfrm>
            <a:off x="3348038" y="3930782"/>
            <a:ext cx="256327" cy="218227"/>
          </a:xfrm>
          <a:prstGeom prst="rect">
            <a:avLst/>
          </a:prstGeom>
          <a:noFill/>
          <a:ln/>
        </p:spPr>
        <p:txBody>
          <a:bodyPr wrap="none" lIns="25400" tIns="25400" rIns="25400" bIns="25400" rtlCol="0" anchor="ctr">
            <a:normAutofit/>
          </a:bodyPr>
          <a:lstStyle/>
          <a:p>
            <a:pPr algn="ctr" indent="0" marL="0">
              <a:lnSpc>
                <a:spcPct val="79063"/>
              </a:lnSpc>
              <a:buNone/>
            </a:pPr>
            <a:r>
              <a:rPr lang="en-US" sz="1233" spc="107" kern="0" dirty="0">
                <a:solidFill>
                  <a:srgbClr val="787B7D"/>
                </a:solidFill>
                <a:latin typeface="Geist Mono" pitchFamily="34" charset="0"/>
                <a:ea typeface="Geist Mono" pitchFamily="34" charset="-122"/>
                <a:cs typeface="Geist Mono" pitchFamily="34" charset="-120"/>
              </a:rPr>
              <a:t>∙</a:t>
            </a:r>
            <a:endParaRPr lang="en-US" sz="1233" dirty="0"/>
          </a:p>
        </p:txBody>
      </p:sp>
      <p:sp>
        <p:nvSpPr>
          <p:cNvPr id="23" name="Text 21"/>
          <p:cNvSpPr/>
          <p:nvPr/>
        </p:nvSpPr>
        <p:spPr>
          <a:xfrm>
            <a:off x="3665324" y="3930491"/>
            <a:ext cx="1315708" cy="211455"/>
          </a:xfrm>
          <a:prstGeom prst="rect">
            <a:avLst/>
          </a:prstGeom>
          <a:noFill/>
          <a:ln/>
        </p:spPr>
        <p:txBody>
          <a:bodyPr wrap="none" lIns="0" tIns="0" rIns="0" bIns="0" rtlCol="0" anchor="t">
            <a:normAutofit/>
          </a:bodyPr>
          <a:lstStyle/>
          <a:p>
            <a:pPr algn="l" indent="0" marL="0">
              <a:lnSpc>
                <a:spcPct val="125714"/>
              </a:lnSpc>
              <a:buNone/>
            </a:pPr>
            <a:r>
              <a:rPr lang="en-US" sz="1073" spc="107" kern="0" dirty="0">
                <a:solidFill>
                  <a:srgbClr val="787B7D"/>
                </a:solidFill>
                <a:latin typeface="Geist Mono" pitchFamily="34" charset="0"/>
                <a:ea typeface="Geist Mono" pitchFamily="34" charset="-122"/>
                <a:cs typeface="Geist Mono" pitchFamily="34" charset="-120"/>
              </a:rPr>
              <a:t>LOCALLY VALID</a:t>
            </a:r>
            <a:endParaRPr lang="en-US" sz="1073" dirty="0"/>
          </a:p>
        </p:txBody>
      </p:sp>
      <p:sp>
        <p:nvSpPr>
          <p:cNvPr id="24" name="Shape 22"/>
          <p:cNvSpPr/>
          <p:nvPr/>
        </p:nvSpPr>
        <p:spPr>
          <a:xfrm>
            <a:off x="5503545" y="3546634"/>
            <a:ext cx="2191703" cy="916305"/>
          </a:xfrm>
          <a:prstGeom prst="rect">
            <a:avLst/>
          </a:prstGeom>
          <a:solidFill>
            <a:srgbClr val="FFFFFF"/>
          </a:solidFill>
          <a:ln w="12383">
            <a:solidFill>
              <a:srgbClr val="DDE0E0"/>
            </a:solidFill>
            <a:prstDash val="solid"/>
          </a:ln>
        </p:spPr>
      </p:sp>
      <p:sp>
        <p:nvSpPr>
          <p:cNvPr id="25" name="Text 23"/>
          <p:cNvSpPr/>
          <p:nvPr/>
        </p:nvSpPr>
        <p:spPr>
          <a:xfrm>
            <a:off x="5639752" y="3658076"/>
            <a:ext cx="2111216" cy="180499"/>
          </a:xfrm>
          <a:prstGeom prst="rect">
            <a:avLst/>
          </a:prstGeom>
          <a:noFill/>
          <a:ln/>
        </p:spPr>
        <p:txBody>
          <a:bodyPr wrap="square" lIns="25400" tIns="25400" rIns="25400" bIns="25400" rtlCol="0" anchor="t">
            <a:normAutofit/>
          </a:bodyPr>
          <a:lstStyle/>
          <a:p>
            <a:pPr algn="l" indent="0" marL="0">
              <a:buNone/>
            </a:pPr>
            <a:r>
              <a:rPr lang="en-US" sz="878" spc="105" kern="0" dirty="0">
                <a:solidFill>
                  <a:srgbClr val="0B0D0E"/>
                </a:solidFill>
                <a:latin typeface="Geist Mono" pitchFamily="34" charset="0"/>
                <a:ea typeface="Geist Mono" pitchFamily="34" charset="-122"/>
                <a:cs typeface="Geist Mono" pitchFamily="34" charset="-120"/>
              </a:rPr>
              <a:t>INTENT B</a:t>
            </a:r>
            <a:endParaRPr lang="en-US" sz="878" dirty="0"/>
          </a:p>
        </p:txBody>
      </p:sp>
      <p:sp>
        <p:nvSpPr>
          <p:cNvPr id="26" name="Shape 24"/>
          <p:cNvSpPr/>
          <p:nvPr/>
        </p:nvSpPr>
        <p:spPr>
          <a:xfrm>
            <a:off x="5639752" y="3874770"/>
            <a:ext cx="1919288" cy="292150"/>
          </a:xfrm>
          <a:prstGeom prst="roundRect">
            <a:avLst>
              <a:gd name="adj" fmla="val 8477"/>
            </a:avLst>
          </a:prstGeom>
          <a:solidFill>
            <a:srgbClr val="768080">
              <a:alpha val="10000"/>
            </a:srgbClr>
          </a:solidFill>
          <a:ln w="12383">
            <a:solidFill>
              <a:srgbClr val="787C7E">
                <a:alpha val="55000"/>
              </a:srgbClr>
            </a:solidFill>
            <a:prstDash val="dash"/>
          </a:ln>
        </p:spPr>
      </p:sp>
      <p:sp>
        <p:nvSpPr>
          <p:cNvPr id="27" name="Shape 25"/>
          <p:cNvSpPr/>
          <p:nvPr/>
        </p:nvSpPr>
        <p:spPr>
          <a:xfrm>
            <a:off x="5701665" y="3930782"/>
            <a:ext cx="180127" cy="180127"/>
          </a:xfrm>
          <a:prstGeom prst="roundRect">
            <a:avLst>
              <a:gd name="adj" fmla="val 13749"/>
            </a:avLst>
          </a:prstGeom>
          <a:solidFill>
            <a:srgbClr val="767C7C">
              <a:alpha val="16000"/>
            </a:srgbClr>
          </a:solidFill>
          <a:ln/>
        </p:spPr>
      </p:sp>
      <p:sp>
        <p:nvSpPr>
          <p:cNvPr id="28" name="Text 26"/>
          <p:cNvSpPr/>
          <p:nvPr/>
        </p:nvSpPr>
        <p:spPr>
          <a:xfrm>
            <a:off x="5663565" y="3930782"/>
            <a:ext cx="256327" cy="218227"/>
          </a:xfrm>
          <a:prstGeom prst="rect">
            <a:avLst/>
          </a:prstGeom>
          <a:noFill/>
          <a:ln/>
        </p:spPr>
        <p:txBody>
          <a:bodyPr wrap="none" lIns="25400" tIns="25400" rIns="25400" bIns="25400" rtlCol="0" anchor="ctr">
            <a:normAutofit/>
          </a:bodyPr>
          <a:lstStyle/>
          <a:p>
            <a:pPr algn="ctr" indent="0" marL="0">
              <a:lnSpc>
                <a:spcPct val="79063"/>
              </a:lnSpc>
              <a:buNone/>
            </a:pPr>
            <a:r>
              <a:rPr lang="en-US" sz="1233" spc="107" kern="0" dirty="0">
                <a:solidFill>
                  <a:srgbClr val="787B7D"/>
                </a:solidFill>
                <a:latin typeface="Geist Mono" pitchFamily="34" charset="0"/>
                <a:ea typeface="Geist Mono" pitchFamily="34" charset="-122"/>
                <a:cs typeface="Geist Mono" pitchFamily="34" charset="-120"/>
              </a:rPr>
              <a:t>∙</a:t>
            </a:r>
            <a:endParaRPr lang="en-US" sz="1233" dirty="0"/>
          </a:p>
        </p:txBody>
      </p:sp>
      <p:sp>
        <p:nvSpPr>
          <p:cNvPr id="29" name="Text 27"/>
          <p:cNvSpPr/>
          <p:nvPr/>
        </p:nvSpPr>
        <p:spPr>
          <a:xfrm>
            <a:off x="5980851" y="3930491"/>
            <a:ext cx="1315708" cy="211455"/>
          </a:xfrm>
          <a:prstGeom prst="rect">
            <a:avLst/>
          </a:prstGeom>
          <a:noFill/>
          <a:ln/>
        </p:spPr>
        <p:txBody>
          <a:bodyPr wrap="none" lIns="0" tIns="0" rIns="0" bIns="0" rtlCol="0" anchor="t">
            <a:normAutofit/>
          </a:bodyPr>
          <a:lstStyle/>
          <a:p>
            <a:pPr algn="l" indent="0" marL="0">
              <a:lnSpc>
                <a:spcPct val="125714"/>
              </a:lnSpc>
              <a:buNone/>
            </a:pPr>
            <a:r>
              <a:rPr lang="en-US" sz="1073" spc="107" kern="0" dirty="0">
                <a:solidFill>
                  <a:srgbClr val="787B7D"/>
                </a:solidFill>
                <a:latin typeface="Geist Mono" pitchFamily="34" charset="0"/>
                <a:ea typeface="Geist Mono" pitchFamily="34" charset="-122"/>
                <a:cs typeface="Geist Mono" pitchFamily="34" charset="-120"/>
              </a:rPr>
              <a:t>LOCALLY VALID</a:t>
            </a:r>
            <a:endParaRPr lang="en-US" sz="1073" dirty="0"/>
          </a:p>
        </p:txBody>
      </p:sp>
      <p:sp>
        <p:nvSpPr>
          <p:cNvPr id="30" name="Shape 28"/>
          <p:cNvSpPr/>
          <p:nvPr/>
        </p:nvSpPr>
        <p:spPr>
          <a:xfrm>
            <a:off x="3188018" y="4586764"/>
            <a:ext cx="4507230" cy="880318"/>
          </a:xfrm>
          <a:prstGeom prst="rect">
            <a:avLst/>
          </a:prstGeom>
          <a:solidFill>
            <a:srgbClr val="FFFFFF"/>
          </a:solidFill>
          <a:ln w="24765">
            <a:solidFill>
              <a:srgbClr val="0B0D0E"/>
            </a:solidFill>
            <a:prstDash val="solid"/>
          </a:ln>
        </p:spPr>
      </p:sp>
      <p:sp>
        <p:nvSpPr>
          <p:cNvPr id="31" name="Text 29"/>
          <p:cNvSpPr/>
          <p:nvPr/>
        </p:nvSpPr>
        <p:spPr>
          <a:xfrm>
            <a:off x="3361372" y="4816420"/>
            <a:ext cx="1588733" cy="180499"/>
          </a:xfrm>
          <a:prstGeom prst="rect">
            <a:avLst/>
          </a:prstGeom>
          <a:noFill/>
          <a:ln/>
        </p:spPr>
        <p:txBody>
          <a:bodyPr wrap="square" lIns="25400" tIns="25400" rIns="25400" bIns="25400" rtlCol="0" anchor="t">
            <a:normAutofit/>
          </a:bodyPr>
          <a:lstStyle/>
          <a:p>
            <a:pPr algn="l" indent="0" marL="0">
              <a:buNone/>
            </a:pPr>
            <a:r>
              <a:rPr lang="en-US" sz="878" spc="105" kern="0" dirty="0">
                <a:solidFill>
                  <a:srgbClr val="0B0D0E"/>
                </a:solidFill>
                <a:latin typeface="Geist Mono" pitchFamily="34" charset="0"/>
                <a:ea typeface="Geist Mono" pitchFamily="34" charset="-122"/>
                <a:cs typeface="Geist Mono" pitchFamily="34" charset="-120"/>
              </a:rPr>
              <a:t>SHARED ENVIRONMENT</a:t>
            </a:r>
            <a:endParaRPr lang="en-US" sz="878" dirty="0"/>
          </a:p>
        </p:txBody>
      </p:sp>
      <p:sp>
        <p:nvSpPr>
          <p:cNvPr id="32" name="Shape 30"/>
          <p:cNvSpPr/>
          <p:nvPr/>
        </p:nvSpPr>
        <p:spPr>
          <a:xfrm>
            <a:off x="6389474" y="4735354"/>
            <a:ext cx="1132418" cy="304532"/>
          </a:xfrm>
          <a:prstGeom prst="roundRect">
            <a:avLst>
              <a:gd name="adj" fmla="val 8132"/>
            </a:avLst>
          </a:prstGeom>
          <a:solidFill>
            <a:srgbClr val="3180C4">
              <a:alpha val="10000"/>
            </a:srgbClr>
          </a:solidFill>
          <a:ln w="18574">
            <a:solidFill>
              <a:srgbClr val="357EC5">
                <a:alpha val="55000"/>
              </a:srgbClr>
            </a:solidFill>
            <a:prstDash val="solid"/>
          </a:ln>
        </p:spPr>
      </p:sp>
      <p:sp>
        <p:nvSpPr>
          <p:cNvPr id="33" name="Shape 31"/>
          <p:cNvSpPr/>
          <p:nvPr/>
        </p:nvSpPr>
        <p:spPr>
          <a:xfrm>
            <a:off x="6457578" y="4797556"/>
            <a:ext cx="180126" cy="180127"/>
          </a:xfrm>
          <a:prstGeom prst="roundRect">
            <a:avLst>
              <a:gd name="adj" fmla="val 13749"/>
            </a:avLst>
          </a:prstGeom>
          <a:solidFill>
            <a:srgbClr val="327CC7">
              <a:alpha val="16000"/>
            </a:srgbClr>
          </a:solidFill>
          <a:ln/>
        </p:spPr>
      </p:sp>
      <p:sp>
        <p:nvSpPr>
          <p:cNvPr id="34" name="Text 32"/>
          <p:cNvSpPr/>
          <p:nvPr/>
        </p:nvSpPr>
        <p:spPr>
          <a:xfrm>
            <a:off x="6419478" y="4797556"/>
            <a:ext cx="256326" cy="218227"/>
          </a:xfrm>
          <a:prstGeom prst="rect">
            <a:avLst/>
          </a:prstGeom>
          <a:noFill/>
          <a:ln/>
        </p:spPr>
        <p:txBody>
          <a:bodyPr wrap="none" lIns="25400" tIns="25400" rIns="25400" bIns="25400" rtlCol="0" anchor="ctr">
            <a:normAutofit/>
          </a:bodyPr>
          <a:lstStyle/>
          <a:p>
            <a:pPr algn="ctr" indent="0" marL="0">
              <a:lnSpc>
                <a:spcPct val="79063"/>
              </a:lnSpc>
              <a:buNone/>
            </a:pPr>
            <a:r>
              <a:rPr lang="en-US" sz="1233" spc="107" kern="0" dirty="0">
                <a:solidFill>
                  <a:srgbClr val="347EC4"/>
                </a:solidFill>
                <a:latin typeface="Geist Mono" pitchFamily="34" charset="0"/>
                <a:ea typeface="Geist Mono" pitchFamily="34" charset="-122"/>
                <a:cs typeface="Geist Mono" pitchFamily="34" charset="-120"/>
              </a:rPr>
              <a:t>⧉</a:t>
            </a:r>
            <a:endParaRPr lang="en-US" sz="1233" dirty="0"/>
          </a:p>
        </p:txBody>
      </p:sp>
      <p:sp>
        <p:nvSpPr>
          <p:cNvPr id="35" name="Text 33"/>
          <p:cNvSpPr/>
          <p:nvPr/>
        </p:nvSpPr>
        <p:spPr>
          <a:xfrm>
            <a:off x="6736764" y="4797266"/>
            <a:ext cx="743694" cy="211455"/>
          </a:xfrm>
          <a:prstGeom prst="rect">
            <a:avLst/>
          </a:prstGeom>
          <a:noFill/>
          <a:ln/>
        </p:spPr>
        <p:txBody>
          <a:bodyPr wrap="none" lIns="0" tIns="0" rIns="0" bIns="0" rtlCol="0" anchor="t">
            <a:normAutofit/>
          </a:bodyPr>
          <a:lstStyle/>
          <a:p>
            <a:pPr algn="l" indent="0" marL="0">
              <a:lnSpc>
                <a:spcPct val="125714"/>
              </a:lnSpc>
              <a:buNone/>
            </a:pPr>
            <a:r>
              <a:rPr lang="en-US" sz="1073" spc="107" kern="0" dirty="0">
                <a:solidFill>
                  <a:srgbClr val="347EC4"/>
                </a:solidFill>
                <a:latin typeface="Geist Mono" pitchFamily="34" charset="0"/>
                <a:ea typeface="Geist Mono" pitchFamily="34" charset="-122"/>
                <a:cs typeface="Geist Mono" pitchFamily="34" charset="-120"/>
              </a:rPr>
              <a:t>COUPLED</a:t>
            </a:r>
            <a:endParaRPr lang="en-US" sz="1073" dirty="0"/>
          </a:p>
        </p:txBody>
      </p:sp>
      <p:sp>
        <p:nvSpPr>
          <p:cNvPr id="36" name="Text 34"/>
          <p:cNvSpPr/>
          <p:nvPr/>
        </p:nvSpPr>
        <p:spPr>
          <a:xfrm>
            <a:off x="3361372" y="5126563"/>
            <a:ext cx="4576572" cy="230028"/>
          </a:xfrm>
          <a:prstGeom prst="rect">
            <a:avLst/>
          </a:prstGeom>
          <a:noFill/>
          <a:ln/>
        </p:spPr>
        <p:txBody>
          <a:bodyPr wrap="square" lIns="25400" tIns="25400" rIns="25400" bIns="25400" rtlCol="0" anchor="t">
            <a:normAutofit/>
          </a:bodyPr>
          <a:lstStyle/>
          <a:p>
            <a:pPr algn="l" indent="0" marL="0">
              <a:buNone/>
            </a:pPr>
            <a:r>
              <a:rPr lang="en-US" sz="1170" dirty="0">
                <a:solidFill>
                  <a:srgbClr val="0B0D0E"/>
                </a:solidFill>
                <a:latin typeface="Geist Mono" pitchFamily="34" charset="0"/>
                <a:ea typeface="Geist Mono" pitchFamily="34" charset="-122"/>
                <a:cs typeface="Geist Mono" pitchFamily="34" charset="-120"/>
              </a:rPr>
              <a:t>joint bound &lt;= 130</a:t>
            </a:r>
            <a:endParaRPr lang="en-US" sz="1170" dirty="0"/>
          </a:p>
        </p:txBody>
      </p:sp>
      <p:sp>
        <p:nvSpPr>
          <p:cNvPr id="37" name="Shape 35"/>
          <p:cNvSpPr/>
          <p:nvPr/>
        </p:nvSpPr>
        <p:spPr>
          <a:xfrm>
            <a:off x="3188018" y="5590907"/>
            <a:ext cx="4507230" cy="811053"/>
          </a:xfrm>
          <a:prstGeom prst="rect">
            <a:avLst/>
          </a:prstGeom>
          <a:solidFill>
            <a:srgbClr val="F7F8F8"/>
          </a:solidFill>
          <a:ln/>
        </p:spPr>
      </p:sp>
      <p:sp>
        <p:nvSpPr>
          <p:cNvPr id="38" name="Shape 36"/>
          <p:cNvSpPr/>
          <p:nvPr/>
        </p:nvSpPr>
        <p:spPr>
          <a:xfrm>
            <a:off x="3188018" y="6389578"/>
            <a:ext cx="4507230" cy="12383"/>
          </a:xfrm>
          <a:prstGeom prst="rect">
            <a:avLst/>
          </a:prstGeom>
          <a:solidFill>
            <a:srgbClr val="C2C7C7"/>
          </a:solidFill>
          <a:ln/>
        </p:spPr>
      </p:sp>
      <p:sp>
        <p:nvSpPr>
          <p:cNvPr id="39" name="Shape 37"/>
          <p:cNvSpPr/>
          <p:nvPr/>
        </p:nvSpPr>
        <p:spPr>
          <a:xfrm>
            <a:off x="3188018" y="5590907"/>
            <a:ext cx="4507230" cy="12383"/>
          </a:xfrm>
          <a:prstGeom prst="rect">
            <a:avLst/>
          </a:prstGeom>
          <a:solidFill>
            <a:srgbClr val="C2C7C7"/>
          </a:solidFill>
          <a:ln/>
        </p:spPr>
      </p:sp>
      <p:sp>
        <p:nvSpPr>
          <p:cNvPr id="40" name="Shape 38"/>
          <p:cNvSpPr/>
          <p:nvPr/>
        </p:nvSpPr>
        <p:spPr>
          <a:xfrm>
            <a:off x="3188018" y="5590907"/>
            <a:ext cx="37148" cy="811053"/>
          </a:xfrm>
          <a:prstGeom prst="rect">
            <a:avLst/>
          </a:prstGeom>
          <a:solidFill>
            <a:srgbClr val="0B0D0E"/>
          </a:solidFill>
          <a:ln/>
        </p:spPr>
      </p:sp>
      <p:sp>
        <p:nvSpPr>
          <p:cNvPr id="41" name="Shape 39"/>
          <p:cNvSpPr/>
          <p:nvPr/>
        </p:nvSpPr>
        <p:spPr>
          <a:xfrm>
            <a:off x="7682865" y="5590907"/>
            <a:ext cx="12383" cy="811053"/>
          </a:xfrm>
          <a:prstGeom prst="rect">
            <a:avLst/>
          </a:prstGeom>
          <a:solidFill>
            <a:srgbClr val="C2C7C7"/>
          </a:solidFill>
          <a:ln/>
        </p:spPr>
      </p:sp>
      <p:sp>
        <p:nvSpPr>
          <p:cNvPr id="42" name="Text 40"/>
          <p:cNvSpPr/>
          <p:nvPr/>
        </p:nvSpPr>
        <p:spPr>
          <a:xfrm>
            <a:off x="3373755" y="5727114"/>
            <a:ext cx="4576572" cy="180499"/>
          </a:xfrm>
          <a:prstGeom prst="rect">
            <a:avLst/>
          </a:prstGeom>
          <a:noFill/>
          <a:ln/>
        </p:spPr>
        <p:txBody>
          <a:bodyPr wrap="square" lIns="25400" tIns="25400" rIns="25400" bIns="25400" rtlCol="0" anchor="t">
            <a:normAutofit/>
          </a:bodyPr>
          <a:lstStyle/>
          <a:p>
            <a:pPr algn="l" indent="0" marL="0">
              <a:buNone/>
            </a:pPr>
            <a:r>
              <a:rPr lang="en-US" sz="878" spc="105" kern="0" dirty="0">
                <a:solidFill>
                  <a:srgbClr val="737B7B"/>
                </a:solidFill>
                <a:latin typeface="Geist Mono" pitchFamily="34" charset="0"/>
                <a:ea typeface="Geist Mono" pitchFamily="34" charset="-122"/>
                <a:cs typeface="Geist Mono" pitchFamily="34" charset="-120"/>
              </a:rPr>
              <a:t>INTERLOCK DECISION</a:t>
            </a:r>
            <a:endParaRPr lang="en-US" sz="878" dirty="0"/>
          </a:p>
        </p:txBody>
      </p:sp>
      <p:sp>
        <p:nvSpPr>
          <p:cNvPr id="43" name="Text 41"/>
          <p:cNvSpPr/>
          <p:nvPr/>
        </p:nvSpPr>
        <p:spPr>
          <a:xfrm>
            <a:off x="3373755" y="5931426"/>
            <a:ext cx="4576572" cy="372428"/>
          </a:xfrm>
          <a:prstGeom prst="rect">
            <a:avLst/>
          </a:prstGeom>
          <a:noFill/>
          <a:ln/>
        </p:spPr>
        <p:txBody>
          <a:bodyPr wrap="square" lIns="25400" tIns="25400" rIns="25400" bIns="25400" rtlCol="0" anchor="t">
            <a:normAutofit/>
          </a:bodyPr>
          <a:lstStyle/>
          <a:p>
            <a:pPr algn="l" indent="0" marL="0">
              <a:buNone/>
            </a:pPr>
            <a:r>
              <a:rPr lang="en-US" sz="2048" dirty="0">
                <a:solidFill>
                  <a:srgbClr val="0B0D0E"/>
                </a:solidFill>
                <a:latin typeface="Geist Mono" pitchFamily="34" charset="0"/>
                <a:ea typeface="Geist Mono" pitchFamily="34" charset="-122"/>
                <a:cs typeface="Geist Mono" pitchFamily="34" charset="-120"/>
              </a:rPr>
              <a:t>WITHHOLD_SERIALIZE</a:t>
            </a:r>
            <a:endParaRPr lang="en-US" sz="2048" dirty="0"/>
          </a:p>
        </p:txBody>
      </p:sp>
      <p:sp>
        <p:nvSpPr>
          <p:cNvPr id="44" name="Shape 42"/>
          <p:cNvSpPr/>
          <p:nvPr/>
        </p:nvSpPr>
        <p:spPr>
          <a:xfrm>
            <a:off x="7918132" y="3107055"/>
            <a:ext cx="12382" cy="6092190"/>
          </a:xfrm>
          <a:prstGeom prst="rect">
            <a:avLst/>
          </a:prstGeom>
          <a:solidFill>
            <a:srgbClr val="DDE0E0"/>
          </a:solidFill>
          <a:ln/>
        </p:spPr>
      </p:sp>
      <p:sp>
        <p:nvSpPr>
          <p:cNvPr id="45" name="Text 43"/>
          <p:cNvSpPr/>
          <p:nvPr/>
        </p:nvSpPr>
        <p:spPr>
          <a:xfrm>
            <a:off x="8128635" y="3280410"/>
            <a:ext cx="3091911" cy="180499"/>
          </a:xfrm>
          <a:prstGeom prst="rect">
            <a:avLst/>
          </a:prstGeom>
          <a:noFill/>
          <a:ln/>
        </p:spPr>
        <p:txBody>
          <a:bodyPr wrap="square" lIns="25400" tIns="25400" rIns="25400" bIns="25400" rtlCol="0" anchor="t">
            <a:normAutofit/>
          </a:bodyPr>
          <a:lstStyle/>
          <a:p>
            <a:pPr algn="l" indent="0" marL="0">
              <a:buNone/>
            </a:pPr>
            <a:r>
              <a:rPr lang="en-US" sz="878" spc="140" kern="0" dirty="0">
                <a:solidFill>
                  <a:srgbClr val="0B0D0E"/>
                </a:solidFill>
                <a:latin typeface="Geist Mono" pitchFamily="34" charset="0"/>
                <a:ea typeface="Geist Mono" pitchFamily="34" charset="-122"/>
                <a:cs typeface="Geist Mono" pitchFamily="34" charset="-120"/>
              </a:rPr>
              <a:t>OUTCOME</a:t>
            </a:r>
            <a:endParaRPr lang="en-US" sz="878" dirty="0"/>
          </a:p>
        </p:txBody>
      </p:sp>
      <p:sp>
        <p:nvSpPr>
          <p:cNvPr id="46" name="Shape 44"/>
          <p:cNvSpPr/>
          <p:nvPr/>
        </p:nvSpPr>
        <p:spPr>
          <a:xfrm>
            <a:off x="8128635" y="3546634"/>
            <a:ext cx="2810828" cy="736759"/>
          </a:xfrm>
          <a:prstGeom prst="rect">
            <a:avLst/>
          </a:prstGeom>
          <a:solidFill>
            <a:srgbClr val="FFFFFF"/>
          </a:solidFill>
          <a:ln w="12383">
            <a:solidFill>
              <a:srgbClr val="DDE0E0"/>
            </a:solidFill>
            <a:prstDash val="solid"/>
          </a:ln>
        </p:spPr>
      </p:sp>
      <p:sp>
        <p:nvSpPr>
          <p:cNvPr id="47" name="Text 45"/>
          <p:cNvSpPr/>
          <p:nvPr/>
        </p:nvSpPr>
        <p:spPr>
          <a:xfrm>
            <a:off x="8277225" y="3670459"/>
            <a:ext cx="2765011" cy="168116"/>
          </a:xfrm>
          <a:prstGeom prst="rect">
            <a:avLst/>
          </a:prstGeom>
          <a:noFill/>
          <a:ln/>
        </p:spPr>
        <p:txBody>
          <a:bodyPr wrap="square" lIns="25400" tIns="25400" rIns="25400" bIns="25400" rtlCol="0" anchor="t">
            <a:normAutofit/>
          </a:bodyPr>
          <a:lstStyle/>
          <a:p>
            <a:pPr algn="l" indent="0" marL="0">
              <a:buNone/>
            </a:pPr>
            <a:r>
              <a:rPr lang="en-US" sz="780" spc="94" kern="0" dirty="0">
                <a:solidFill>
                  <a:srgbClr val="737B7B"/>
                </a:solidFill>
                <a:latin typeface="Geist Mono" pitchFamily="34" charset="0"/>
                <a:ea typeface="Geist Mono" pitchFamily="34" charset="-122"/>
                <a:cs typeface="Geist Mono" pitchFamily="34" charset="-120"/>
              </a:rPr>
              <a:t>BASELINE</a:t>
            </a:r>
            <a:endParaRPr lang="en-US" sz="780" dirty="0"/>
          </a:p>
        </p:txBody>
      </p:sp>
      <p:sp>
        <p:nvSpPr>
          <p:cNvPr id="48" name="Text 46"/>
          <p:cNvSpPr/>
          <p:nvPr/>
        </p:nvSpPr>
        <p:spPr>
          <a:xfrm>
            <a:off x="8277225" y="3837622"/>
            <a:ext cx="2765011" cy="360045"/>
          </a:xfrm>
          <a:prstGeom prst="rect">
            <a:avLst/>
          </a:prstGeom>
          <a:noFill/>
          <a:ln/>
        </p:spPr>
        <p:txBody>
          <a:bodyPr wrap="square" lIns="25400" tIns="25400" rIns="25400" bIns="25400" rtlCol="0" anchor="t">
            <a:normAutofit/>
          </a:bodyPr>
          <a:lstStyle/>
          <a:p>
            <a:pPr algn="l" indent="0" marL="0">
              <a:buNone/>
            </a:pPr>
            <a:r>
              <a:rPr lang="en-US" sz="1950" dirty="0">
                <a:solidFill>
                  <a:srgbClr val="515858"/>
                </a:solidFill>
                <a:latin typeface="Geist Mono" pitchFamily="34" charset="0"/>
                <a:ea typeface="Geist Mono" pitchFamily="34" charset="-122"/>
                <a:cs typeface="Geist Mono" pitchFamily="34" charset="-120"/>
              </a:rPr>
              <a:t>140 &gt; 130</a:t>
            </a:r>
            <a:endParaRPr lang="en-US" sz="1950" dirty="0"/>
          </a:p>
        </p:txBody>
      </p:sp>
      <p:sp>
        <p:nvSpPr>
          <p:cNvPr id="49" name="Shape 47"/>
          <p:cNvSpPr/>
          <p:nvPr/>
        </p:nvSpPr>
        <p:spPr>
          <a:xfrm>
            <a:off x="8128635" y="4407217"/>
            <a:ext cx="2810828" cy="761524"/>
          </a:xfrm>
          <a:prstGeom prst="rect">
            <a:avLst/>
          </a:prstGeom>
          <a:solidFill>
            <a:srgbClr val="FFFFFF"/>
          </a:solidFill>
          <a:ln w="24765">
            <a:solidFill>
              <a:srgbClr val="0B0D0E"/>
            </a:solidFill>
            <a:prstDash val="solid"/>
          </a:ln>
        </p:spPr>
      </p:sp>
      <p:sp>
        <p:nvSpPr>
          <p:cNvPr id="50" name="Text 48"/>
          <p:cNvSpPr/>
          <p:nvPr/>
        </p:nvSpPr>
        <p:spPr>
          <a:xfrm>
            <a:off x="8289607" y="4543425"/>
            <a:ext cx="2737771" cy="168116"/>
          </a:xfrm>
          <a:prstGeom prst="rect">
            <a:avLst/>
          </a:prstGeom>
          <a:noFill/>
          <a:ln/>
        </p:spPr>
        <p:txBody>
          <a:bodyPr wrap="square" lIns="25400" tIns="25400" rIns="25400" bIns="25400" rtlCol="0" anchor="t">
            <a:normAutofit/>
          </a:bodyPr>
          <a:lstStyle/>
          <a:p>
            <a:pPr algn="l" indent="0" marL="0">
              <a:buNone/>
            </a:pPr>
            <a:r>
              <a:rPr lang="en-US" sz="780" spc="94" kern="0" dirty="0">
                <a:solidFill>
                  <a:srgbClr val="737B7B"/>
                </a:solidFill>
                <a:latin typeface="Geist Mono" pitchFamily="34" charset="0"/>
                <a:ea typeface="Geist Mono" pitchFamily="34" charset="-122"/>
                <a:cs typeface="Geist Mono" pitchFamily="34" charset="-120"/>
              </a:rPr>
              <a:t>TREATMENT</a:t>
            </a:r>
            <a:endParaRPr lang="en-US" sz="780" dirty="0"/>
          </a:p>
        </p:txBody>
      </p:sp>
      <p:sp>
        <p:nvSpPr>
          <p:cNvPr id="51" name="Text 49"/>
          <p:cNvSpPr/>
          <p:nvPr/>
        </p:nvSpPr>
        <p:spPr>
          <a:xfrm>
            <a:off x="8289607" y="4710589"/>
            <a:ext cx="2737771" cy="360045"/>
          </a:xfrm>
          <a:prstGeom prst="rect">
            <a:avLst/>
          </a:prstGeom>
          <a:noFill/>
          <a:ln/>
        </p:spPr>
        <p:txBody>
          <a:bodyPr wrap="square" lIns="25400" tIns="25400" rIns="25400" bIns="25400" rtlCol="0" anchor="t">
            <a:normAutofit/>
          </a:bodyPr>
          <a:lstStyle/>
          <a:p>
            <a:pPr algn="l" indent="0" marL="0">
              <a:buNone/>
            </a:pPr>
            <a:r>
              <a:rPr lang="en-US" sz="1950" dirty="0">
                <a:solidFill>
                  <a:srgbClr val="0B0D0E"/>
                </a:solidFill>
                <a:latin typeface="Geist Mono" pitchFamily="34" charset="0"/>
                <a:ea typeface="Geist Mono" pitchFamily="34" charset="-122"/>
                <a:cs typeface="Geist Mono" pitchFamily="34" charset="-120"/>
              </a:rPr>
              <a:t>120 &lt;= 130</a:t>
            </a:r>
            <a:endParaRPr lang="en-US" sz="1950" dirty="0"/>
          </a:p>
        </p:txBody>
      </p:sp>
      <p:sp>
        <p:nvSpPr>
          <p:cNvPr id="52" name="Shape 50"/>
          <p:cNvSpPr/>
          <p:nvPr/>
        </p:nvSpPr>
        <p:spPr>
          <a:xfrm>
            <a:off x="8128635" y="5342096"/>
            <a:ext cx="2810828" cy="303371"/>
          </a:xfrm>
          <a:prstGeom prst="rect">
            <a:avLst/>
          </a:prstGeom>
          <a:ln w="12383">
            <a:solidFill>
              <a:srgbClr val="0B0D0E"/>
            </a:solidFill>
            <a:prstDash val="solid"/>
          </a:ln>
        </p:spPr>
      </p:sp>
      <p:sp>
        <p:nvSpPr>
          <p:cNvPr id="53" name="Text 51"/>
          <p:cNvSpPr/>
          <p:nvPr/>
        </p:nvSpPr>
        <p:spPr>
          <a:xfrm>
            <a:off x="8127682" y="5428774"/>
            <a:ext cx="955357" cy="168116"/>
          </a:xfrm>
          <a:prstGeom prst="rect">
            <a:avLst/>
          </a:prstGeom>
          <a:noFill/>
          <a:ln/>
        </p:spPr>
        <p:txBody>
          <a:bodyPr wrap="square" lIns="25400" tIns="25400" rIns="25400" bIns="25400" rtlCol="0" anchor="t">
            <a:normAutofit/>
          </a:bodyPr>
          <a:lstStyle/>
          <a:p>
            <a:pPr algn="ctr" indent="0" marL="0">
              <a:buNone/>
            </a:pPr>
            <a:r>
              <a:rPr lang="en-US" sz="780" spc="47" kern="0" dirty="0">
                <a:solidFill>
                  <a:srgbClr val="515858"/>
                </a:solidFill>
                <a:latin typeface="Geist Mono" pitchFamily="34" charset="0"/>
                <a:ea typeface="Geist Mono" pitchFamily="34" charset="-122"/>
                <a:cs typeface="Geist Mono" pitchFamily="34" charset="-120"/>
              </a:rPr>
              <a:t>NONE</a:t>
            </a:r>
            <a:endParaRPr lang="en-US" sz="780" dirty="0"/>
          </a:p>
        </p:txBody>
      </p:sp>
      <p:sp>
        <p:nvSpPr>
          <p:cNvPr id="54" name="Shape 52"/>
          <p:cNvSpPr/>
          <p:nvPr/>
        </p:nvSpPr>
        <p:spPr>
          <a:xfrm>
            <a:off x="9069705" y="5354479"/>
            <a:ext cx="928688" cy="278606"/>
          </a:xfrm>
          <a:prstGeom prst="rect">
            <a:avLst/>
          </a:prstGeom>
          <a:solidFill>
            <a:srgbClr val="0B0D0E"/>
          </a:solidFill>
          <a:ln/>
        </p:spPr>
      </p:sp>
      <p:sp>
        <p:nvSpPr>
          <p:cNvPr id="55" name="Shape 53"/>
          <p:cNvSpPr/>
          <p:nvPr/>
        </p:nvSpPr>
        <p:spPr>
          <a:xfrm>
            <a:off x="9069705" y="5354479"/>
            <a:ext cx="12383" cy="278606"/>
          </a:xfrm>
          <a:prstGeom prst="rect">
            <a:avLst/>
          </a:prstGeom>
          <a:solidFill>
            <a:srgbClr val="0B0D0E"/>
          </a:solidFill>
          <a:ln/>
        </p:spPr>
      </p:sp>
      <p:sp>
        <p:nvSpPr>
          <p:cNvPr id="56" name="Shape 54"/>
          <p:cNvSpPr/>
          <p:nvPr/>
        </p:nvSpPr>
        <p:spPr>
          <a:xfrm>
            <a:off x="9986010" y="5354479"/>
            <a:ext cx="12383" cy="278606"/>
          </a:xfrm>
          <a:prstGeom prst="rect">
            <a:avLst/>
          </a:prstGeom>
          <a:solidFill>
            <a:srgbClr val="0B0D0E"/>
          </a:solidFill>
          <a:ln/>
        </p:spPr>
      </p:sp>
      <p:sp>
        <p:nvSpPr>
          <p:cNvPr id="57" name="Text 55"/>
          <p:cNvSpPr/>
          <p:nvPr/>
        </p:nvSpPr>
        <p:spPr>
          <a:xfrm>
            <a:off x="9068752" y="5428774"/>
            <a:ext cx="930592" cy="168116"/>
          </a:xfrm>
          <a:prstGeom prst="rect">
            <a:avLst/>
          </a:prstGeom>
          <a:noFill/>
          <a:ln/>
        </p:spPr>
        <p:txBody>
          <a:bodyPr wrap="square" lIns="25400" tIns="25400" rIns="25400" bIns="25400" rtlCol="0" anchor="t">
            <a:normAutofit/>
          </a:bodyPr>
          <a:lstStyle/>
          <a:p>
            <a:pPr algn="ctr" indent="0" marL="0">
              <a:buNone/>
            </a:pPr>
            <a:r>
              <a:rPr lang="en-US" sz="780" spc="47" kern="0" dirty="0">
                <a:solidFill>
                  <a:srgbClr val="FBFBFA"/>
                </a:solidFill>
                <a:latin typeface="Geist Mono" pitchFamily="34" charset="0"/>
                <a:ea typeface="Geist Mono" pitchFamily="34" charset="-122"/>
                <a:cs typeface="Geist Mono" pitchFamily="34" charset="-120"/>
              </a:rPr>
              <a:t>ORIGINAL</a:t>
            </a:r>
            <a:endParaRPr lang="en-US" sz="780" dirty="0"/>
          </a:p>
        </p:txBody>
      </p:sp>
      <p:sp>
        <p:nvSpPr>
          <p:cNvPr id="58" name="Text 56"/>
          <p:cNvSpPr/>
          <p:nvPr/>
        </p:nvSpPr>
        <p:spPr>
          <a:xfrm>
            <a:off x="9985057" y="5428774"/>
            <a:ext cx="955357" cy="168116"/>
          </a:xfrm>
          <a:prstGeom prst="rect">
            <a:avLst/>
          </a:prstGeom>
          <a:noFill/>
          <a:ln/>
        </p:spPr>
        <p:txBody>
          <a:bodyPr wrap="square" lIns="25400" tIns="25400" rIns="25400" bIns="25400" rtlCol="0" anchor="t">
            <a:normAutofit/>
          </a:bodyPr>
          <a:lstStyle/>
          <a:p>
            <a:pPr algn="ctr" indent="0" marL="0">
              <a:buNone/>
            </a:pPr>
            <a:r>
              <a:rPr lang="en-US" sz="780" spc="47" kern="0" dirty="0">
                <a:solidFill>
                  <a:srgbClr val="515858"/>
                </a:solidFill>
                <a:latin typeface="Geist Mono" pitchFamily="34" charset="0"/>
                <a:ea typeface="Geist Mono" pitchFamily="34" charset="-122"/>
                <a:cs typeface="Geist Mono" pitchFamily="34" charset="-120"/>
              </a:rPr>
              <a:t>PERTURBED</a:t>
            </a:r>
            <a:endParaRPr lang="en-US" sz="780" dirty="0"/>
          </a:p>
        </p:txBody>
      </p:sp>
      <p:sp>
        <p:nvSpPr>
          <p:cNvPr id="59" name="Text 57"/>
          <p:cNvSpPr/>
          <p:nvPr/>
        </p:nvSpPr>
        <p:spPr>
          <a:xfrm>
            <a:off x="8128635" y="5769292"/>
            <a:ext cx="3091911" cy="205264"/>
          </a:xfrm>
          <a:prstGeom prst="rect">
            <a:avLst/>
          </a:prstGeom>
          <a:noFill/>
          <a:ln/>
        </p:spPr>
        <p:txBody>
          <a:bodyPr wrap="square" lIns="25400" tIns="25400" rIns="25400" bIns="25400" rtlCol="0" anchor="t">
            <a:normAutofit/>
          </a:bodyPr>
          <a:lstStyle/>
          <a:p>
            <a:pPr algn="l" indent="0" marL="0">
              <a:lnSpc>
                <a:spcPct val="117391"/>
              </a:lnSpc>
              <a:buNone/>
            </a:pPr>
            <a:r>
              <a:rPr lang="en-US" sz="878" dirty="0">
                <a:solidFill>
                  <a:srgbClr val="737B7B"/>
                </a:solidFill>
                <a:latin typeface="Geist Mono" pitchFamily="34" charset="0"/>
                <a:ea typeface="Geist Mono" pitchFamily="34" charset="-122"/>
                <a:cs typeface="Geist Mono" pitchFamily="34" charset="-120"/>
              </a:rPr>
              <a:t>Evidence ablation · recorded arms only</a:t>
            </a:r>
            <a:endParaRPr lang="en-US" sz="878" dirty="0"/>
          </a:p>
        </p:txBody>
      </p:sp>
      <p:sp>
        <p:nvSpPr>
          <p:cNvPr id="60" name="Shape 58"/>
          <p:cNvSpPr/>
          <p:nvPr/>
        </p:nvSpPr>
        <p:spPr>
          <a:xfrm>
            <a:off x="11137583" y="3107055"/>
            <a:ext cx="12382" cy="6092190"/>
          </a:xfrm>
          <a:prstGeom prst="rect">
            <a:avLst/>
          </a:prstGeom>
          <a:solidFill>
            <a:srgbClr val="0B0D0E"/>
          </a:solidFill>
          <a:ln/>
        </p:spPr>
      </p:sp>
      <p:sp>
        <p:nvSpPr>
          <p:cNvPr id="61" name="Shape 59"/>
          <p:cNvSpPr/>
          <p:nvPr/>
        </p:nvSpPr>
        <p:spPr>
          <a:xfrm>
            <a:off x="11149965" y="3107055"/>
            <a:ext cx="4197667" cy="6092190"/>
          </a:xfrm>
          <a:prstGeom prst="rect">
            <a:avLst/>
          </a:prstGeom>
          <a:solidFill>
            <a:srgbClr val="FFFFFF"/>
          </a:solidFill>
          <a:ln/>
        </p:spPr>
      </p:sp>
      <p:sp>
        <p:nvSpPr>
          <p:cNvPr id="62" name="Text 60"/>
          <p:cNvSpPr/>
          <p:nvPr/>
        </p:nvSpPr>
        <p:spPr>
          <a:xfrm>
            <a:off x="11372850" y="3280410"/>
            <a:ext cx="1397511" cy="180499"/>
          </a:xfrm>
          <a:prstGeom prst="rect">
            <a:avLst/>
          </a:prstGeom>
          <a:noFill/>
          <a:ln/>
        </p:spPr>
        <p:txBody>
          <a:bodyPr wrap="square" lIns="25400" tIns="25400" rIns="25400" bIns="25400" rtlCol="0" anchor="t">
            <a:normAutofit/>
          </a:bodyPr>
          <a:lstStyle/>
          <a:p>
            <a:pPr algn="l" indent="0" marL="0">
              <a:buNone/>
            </a:pPr>
            <a:r>
              <a:rPr lang="en-US" sz="878" spc="140" kern="0" dirty="0">
                <a:solidFill>
                  <a:srgbClr val="0B0D0E"/>
                </a:solidFill>
                <a:latin typeface="Geist Mono" pitchFamily="34" charset="0"/>
                <a:ea typeface="Geist Mono" pitchFamily="34" charset="-122"/>
                <a:cs typeface="Geist Mono" pitchFamily="34" charset="-120"/>
              </a:rPr>
              <a:t>CAN I VERIFY IT</a:t>
            </a:r>
            <a:endParaRPr lang="en-US" sz="878" dirty="0"/>
          </a:p>
        </p:txBody>
      </p:sp>
      <p:sp>
        <p:nvSpPr>
          <p:cNvPr id="63" name="Text 61"/>
          <p:cNvSpPr/>
          <p:nvPr/>
        </p:nvSpPr>
        <p:spPr>
          <a:xfrm>
            <a:off x="14197510" y="3292793"/>
            <a:ext cx="1003436" cy="168116"/>
          </a:xfrm>
          <a:prstGeom prst="rect">
            <a:avLst/>
          </a:prstGeom>
          <a:noFill/>
          <a:ln/>
        </p:spPr>
        <p:txBody>
          <a:bodyPr wrap="square" lIns="25400" tIns="25400" rIns="25400" bIns="25400" rtlCol="0" anchor="t">
            <a:normAutofit/>
          </a:bodyPr>
          <a:lstStyle/>
          <a:p>
            <a:pPr algn="l" indent="0" marL="0">
              <a:buNone/>
            </a:pPr>
            <a:r>
              <a:rPr lang="en-US" sz="780" spc="94" kern="0" dirty="0">
                <a:solidFill>
                  <a:srgbClr val="737B7B"/>
                </a:solidFill>
                <a:latin typeface="Geist Mono" pitchFamily="34" charset="0"/>
                <a:ea typeface="Geist Mono" pitchFamily="34" charset="-122"/>
                <a:cs typeface="Geist Mono" pitchFamily="34" charset="-120"/>
              </a:rPr>
              <a:t>L2 · ANCHORED</a:t>
            </a:r>
            <a:endParaRPr lang="en-US" sz="780" dirty="0"/>
          </a:p>
        </p:txBody>
      </p:sp>
      <p:sp>
        <p:nvSpPr>
          <p:cNvPr id="64" name="Text 62"/>
          <p:cNvSpPr/>
          <p:nvPr/>
        </p:nvSpPr>
        <p:spPr>
          <a:xfrm>
            <a:off x="11372850" y="3546634"/>
            <a:ext cx="3864453" cy="651034"/>
          </a:xfrm>
          <a:prstGeom prst="rect">
            <a:avLst/>
          </a:prstGeom>
          <a:noFill/>
          <a:ln/>
        </p:spPr>
        <p:txBody>
          <a:bodyPr wrap="square" lIns="25400" tIns="25400" rIns="25400" bIns="25400" rtlCol="0" anchor="t">
            <a:normAutofit/>
          </a:bodyPr>
          <a:lstStyle/>
          <a:p>
            <a:pPr algn="l" indent="0" marL="0">
              <a:lnSpc>
                <a:spcPct val="117857"/>
              </a:lnSpc>
              <a:buNone/>
            </a:pPr>
            <a:r>
              <a:rPr lang="en-US" sz="1073" dirty="0">
                <a:solidFill>
                  <a:srgbClr val="1E2323"/>
                </a:solidFill>
                <a:latin typeface="Geist" pitchFamily="34" charset="0"/>
                <a:ea typeface="Geist" pitchFamily="34" charset="-122"/>
                <a:cs typeface="Geist" pitchFamily="34" charset="-120"/>
              </a:rPr>
              <a:t>Both intents resolve against one revision-bound WorkspaceJSON environment, so the constraint binds the pair jointly.</a:t>
            </a:r>
            <a:endParaRPr lang="en-US" sz="1073" dirty="0"/>
          </a:p>
        </p:txBody>
      </p:sp>
      <p:sp>
        <p:nvSpPr>
          <p:cNvPr id="65" name="Shape 63"/>
          <p:cNvSpPr/>
          <p:nvPr/>
        </p:nvSpPr>
        <p:spPr>
          <a:xfrm>
            <a:off x="11372850" y="4283392"/>
            <a:ext cx="3751897" cy="12383"/>
          </a:xfrm>
          <a:prstGeom prst="rect">
            <a:avLst/>
          </a:prstGeom>
          <a:solidFill>
            <a:srgbClr val="DDE0E0"/>
          </a:solidFill>
          <a:ln/>
        </p:spPr>
      </p:sp>
      <p:sp>
        <p:nvSpPr>
          <p:cNvPr id="66" name="Text 64"/>
          <p:cNvSpPr/>
          <p:nvPr/>
        </p:nvSpPr>
        <p:spPr>
          <a:xfrm>
            <a:off x="11372850" y="4394835"/>
            <a:ext cx="4127086" cy="199072"/>
          </a:xfrm>
          <a:prstGeom prst="rect">
            <a:avLst/>
          </a:prstGeom>
          <a:noFill/>
          <a:ln/>
        </p:spPr>
        <p:txBody>
          <a:bodyPr wrap="square" lIns="25400" tIns="25400" rIns="25400" bIns="25400" rtlCol="0" anchor="t">
            <a:normAutofit/>
          </a:bodyPr>
          <a:lstStyle/>
          <a:p>
            <a:pPr algn="l" indent="0" marL="0">
              <a:buNone/>
            </a:pPr>
            <a:r>
              <a:rPr lang="en-US" sz="975" dirty="0">
                <a:solidFill>
                  <a:srgbClr val="0B0D0E"/>
                </a:solidFill>
                <a:latin typeface="Geist Mono" pitchFamily="34" charset="0"/>
                <a:ea typeface="Geist Mono" pitchFamily="34" charset="-122"/>
                <a:cs typeface="Geist Mono" pitchFamily="34" charset="-120"/>
              </a:rPr>
              <a:t>source WorkspaceJSON, revision bound</a:t>
            </a:r>
            <a:endParaRPr lang="en-US" sz="975" dirty="0"/>
          </a:p>
        </p:txBody>
      </p:sp>
      <p:sp>
        <p:nvSpPr>
          <p:cNvPr id="67" name="Text 65"/>
          <p:cNvSpPr/>
          <p:nvPr/>
        </p:nvSpPr>
        <p:spPr>
          <a:xfrm>
            <a:off x="11372850" y="4592955"/>
            <a:ext cx="4127086" cy="199072"/>
          </a:xfrm>
          <a:prstGeom prst="rect">
            <a:avLst/>
          </a:prstGeom>
          <a:noFill/>
          <a:ln/>
        </p:spPr>
        <p:txBody>
          <a:bodyPr wrap="square" lIns="25400" tIns="25400" rIns="25400" bIns="25400" rtlCol="0" anchor="t">
            <a:normAutofit/>
          </a:bodyPr>
          <a:lstStyle/>
          <a:p>
            <a:pPr algn="l" indent="0" marL="0">
              <a:buNone/>
            </a:pPr>
            <a:r>
              <a:rPr lang="en-US" sz="975" dirty="0">
                <a:solidFill>
                  <a:srgbClr val="0B0D0E"/>
                </a:solidFill>
                <a:latin typeface="Geist Mono" pitchFamily="34" charset="0"/>
                <a:ea typeface="Geist Mono" pitchFamily="34" charset="-122"/>
                <a:cs typeface="Geist Mono" pitchFamily="34" charset="-120"/>
              </a:rPr>
              <a:t>bound &lt;= 130</a:t>
            </a:r>
            <a:endParaRPr lang="en-US" sz="975" dirty="0"/>
          </a:p>
        </p:txBody>
      </p:sp>
      <p:sp>
        <p:nvSpPr>
          <p:cNvPr id="68" name="Text 66"/>
          <p:cNvSpPr/>
          <p:nvPr/>
        </p:nvSpPr>
        <p:spPr>
          <a:xfrm>
            <a:off x="11372850" y="4791075"/>
            <a:ext cx="4127086" cy="199073"/>
          </a:xfrm>
          <a:prstGeom prst="rect">
            <a:avLst/>
          </a:prstGeom>
          <a:noFill/>
          <a:ln/>
        </p:spPr>
        <p:txBody>
          <a:bodyPr wrap="square" lIns="25400" tIns="25400" rIns="25400" bIns="25400" rtlCol="0" anchor="t">
            <a:normAutofit/>
          </a:bodyPr>
          <a:lstStyle/>
          <a:p>
            <a:pPr algn="l" indent="0" marL="0">
              <a:buNone/>
            </a:pPr>
            <a:r>
              <a:rPr lang="en-US" sz="975" dirty="0">
                <a:solidFill>
                  <a:srgbClr val="B07A00"/>
                </a:solidFill>
                <a:latin typeface="Geist Mono" pitchFamily="34" charset="0"/>
                <a:ea typeface="Geist Mono" pitchFamily="34" charset="-122"/>
                <a:cs typeface="Geist Mono" pitchFamily="34" charset="-120"/>
              </a:rPr>
              <a:t>revision [BIND: hac330EnvRevision]</a:t>
            </a:r>
            <a:endParaRPr lang="en-US" sz="975" dirty="0"/>
          </a:p>
        </p:txBody>
      </p:sp>
      <p:sp>
        <p:nvSpPr>
          <p:cNvPr id="69" name="Shape 67"/>
          <p:cNvSpPr/>
          <p:nvPr/>
        </p:nvSpPr>
        <p:spPr>
          <a:xfrm>
            <a:off x="11372850" y="5125402"/>
            <a:ext cx="3751897" cy="12383"/>
          </a:xfrm>
          <a:prstGeom prst="rect">
            <a:avLst/>
          </a:prstGeom>
          <a:solidFill>
            <a:srgbClr val="0B0D0E"/>
          </a:solidFill>
          <a:ln/>
        </p:spPr>
      </p:sp>
      <p:sp>
        <p:nvSpPr>
          <p:cNvPr id="70" name="Shape 68"/>
          <p:cNvSpPr/>
          <p:nvPr/>
        </p:nvSpPr>
        <p:spPr>
          <a:xfrm>
            <a:off x="11372850" y="5422582"/>
            <a:ext cx="3751897" cy="12383"/>
          </a:xfrm>
          <a:prstGeom prst="rect">
            <a:avLst/>
          </a:prstGeom>
          <a:solidFill>
            <a:srgbClr val="DDE0E0"/>
          </a:solidFill>
          <a:ln/>
        </p:spPr>
      </p:sp>
      <p:sp>
        <p:nvSpPr>
          <p:cNvPr id="71" name="Text 69"/>
          <p:cNvSpPr/>
          <p:nvPr/>
        </p:nvSpPr>
        <p:spPr>
          <a:xfrm>
            <a:off x="11372850" y="5199698"/>
            <a:ext cx="1321212" cy="199072"/>
          </a:xfrm>
          <a:prstGeom prst="rect">
            <a:avLst/>
          </a:prstGeom>
          <a:noFill/>
          <a:ln/>
        </p:spPr>
        <p:txBody>
          <a:bodyPr wrap="square" lIns="25400" tIns="25400" rIns="25400" bIns="25400" rtlCol="0" anchor="t">
            <a:normAutofit/>
          </a:bodyPr>
          <a:lstStyle/>
          <a:p>
            <a:pPr algn="l" indent="0" marL="0">
              <a:buNone/>
            </a:pPr>
            <a:r>
              <a:rPr lang="en-US" sz="975" dirty="0">
                <a:solidFill>
                  <a:srgbClr val="737B7B"/>
                </a:solidFill>
                <a:latin typeface="Geist Mono" pitchFamily="34" charset="0"/>
                <a:ea typeface="Geist Mono" pitchFamily="34" charset="-122"/>
                <a:cs typeface="Geist Mono" pitchFamily="34" charset="-120"/>
              </a:rPr>
              <a:t>arm</a:t>
            </a:r>
            <a:endParaRPr lang="en-US" sz="975" dirty="0"/>
          </a:p>
        </p:txBody>
      </p:sp>
      <p:sp>
        <p:nvSpPr>
          <p:cNvPr id="72" name="Text 70"/>
          <p:cNvSpPr/>
          <p:nvPr/>
        </p:nvSpPr>
        <p:spPr>
          <a:xfrm>
            <a:off x="12648247" y="5199698"/>
            <a:ext cx="1321214" cy="199072"/>
          </a:xfrm>
          <a:prstGeom prst="rect">
            <a:avLst/>
          </a:prstGeom>
          <a:noFill/>
          <a:ln/>
        </p:spPr>
        <p:txBody>
          <a:bodyPr wrap="square" lIns="25400" tIns="25400" rIns="25400" bIns="25400" rtlCol="0" anchor="t">
            <a:normAutofit/>
          </a:bodyPr>
          <a:lstStyle/>
          <a:p>
            <a:pPr algn="l" indent="0" marL="0">
              <a:buNone/>
            </a:pPr>
            <a:r>
              <a:rPr lang="en-US" sz="975" dirty="0">
                <a:solidFill>
                  <a:srgbClr val="737B7B"/>
                </a:solidFill>
                <a:latin typeface="Geist Mono" pitchFamily="34" charset="0"/>
                <a:ea typeface="Geist Mono" pitchFamily="34" charset="-122"/>
                <a:cs typeface="Geist Mono" pitchFamily="34" charset="-120"/>
              </a:rPr>
              <a:t>decision</a:t>
            </a:r>
            <a:endParaRPr lang="en-US" sz="975" dirty="0"/>
          </a:p>
        </p:txBody>
      </p:sp>
      <p:sp>
        <p:nvSpPr>
          <p:cNvPr id="73" name="Text 71"/>
          <p:cNvSpPr/>
          <p:nvPr/>
        </p:nvSpPr>
        <p:spPr>
          <a:xfrm>
            <a:off x="13923644" y="5199698"/>
            <a:ext cx="1321212" cy="199072"/>
          </a:xfrm>
          <a:prstGeom prst="rect">
            <a:avLst/>
          </a:prstGeom>
          <a:noFill/>
          <a:ln/>
        </p:spPr>
        <p:txBody>
          <a:bodyPr wrap="square" lIns="25400" tIns="25400" rIns="25400" bIns="25400" rtlCol="0" anchor="t">
            <a:normAutofit/>
          </a:bodyPr>
          <a:lstStyle/>
          <a:p>
            <a:pPr algn="l" indent="0" marL="0">
              <a:buNone/>
            </a:pPr>
            <a:r>
              <a:rPr lang="en-US" sz="975" dirty="0">
                <a:solidFill>
                  <a:srgbClr val="737B7B"/>
                </a:solidFill>
                <a:latin typeface="Geist Mono" pitchFamily="34" charset="0"/>
                <a:ea typeface="Geist Mono" pitchFamily="34" charset="-122"/>
                <a:cs typeface="Geist Mono" pitchFamily="34" charset="-120"/>
              </a:rPr>
              <a:t>joint</a:t>
            </a:r>
            <a:endParaRPr lang="en-US" sz="975" dirty="0"/>
          </a:p>
        </p:txBody>
      </p:sp>
      <p:sp>
        <p:nvSpPr>
          <p:cNvPr id="74" name="Shape 72"/>
          <p:cNvSpPr/>
          <p:nvPr/>
        </p:nvSpPr>
        <p:spPr>
          <a:xfrm>
            <a:off x="11372850" y="5719762"/>
            <a:ext cx="3751897" cy="12383"/>
          </a:xfrm>
          <a:prstGeom prst="rect">
            <a:avLst/>
          </a:prstGeom>
          <a:solidFill>
            <a:srgbClr val="DDE0E0"/>
          </a:solidFill>
          <a:ln/>
        </p:spPr>
      </p:sp>
      <p:sp>
        <p:nvSpPr>
          <p:cNvPr id="75" name="Text 73"/>
          <p:cNvSpPr/>
          <p:nvPr/>
        </p:nvSpPr>
        <p:spPr>
          <a:xfrm>
            <a:off x="11372850" y="5496877"/>
            <a:ext cx="1321212" cy="199073"/>
          </a:xfrm>
          <a:prstGeom prst="rect">
            <a:avLst/>
          </a:prstGeom>
          <a:noFill/>
          <a:ln/>
        </p:spPr>
        <p:txBody>
          <a:bodyPr wrap="square" lIns="25400" tIns="25400" rIns="25400" bIns="25400" rtlCol="0" anchor="t">
            <a:normAutofit/>
          </a:bodyPr>
          <a:lstStyle/>
          <a:p>
            <a:pPr algn="l" indent="0" marL="0">
              <a:buNone/>
            </a:pPr>
            <a:r>
              <a:rPr lang="en-US" sz="975" dirty="0">
                <a:solidFill>
                  <a:srgbClr val="0B0D0E"/>
                </a:solidFill>
                <a:latin typeface="Geist Mono" pitchFamily="34" charset="0"/>
                <a:ea typeface="Geist Mono" pitchFamily="34" charset="-122"/>
                <a:cs typeface="Geist Mono" pitchFamily="34" charset="-120"/>
              </a:rPr>
              <a:t>baseline</a:t>
            </a:r>
            <a:endParaRPr lang="en-US" sz="975" dirty="0"/>
          </a:p>
        </p:txBody>
      </p:sp>
      <p:sp>
        <p:nvSpPr>
          <p:cNvPr id="76" name="Text 74"/>
          <p:cNvSpPr/>
          <p:nvPr/>
        </p:nvSpPr>
        <p:spPr>
          <a:xfrm>
            <a:off x="12648247" y="5496877"/>
            <a:ext cx="1321214" cy="199073"/>
          </a:xfrm>
          <a:prstGeom prst="rect">
            <a:avLst/>
          </a:prstGeom>
          <a:noFill/>
          <a:ln/>
        </p:spPr>
        <p:txBody>
          <a:bodyPr wrap="square" lIns="25400" tIns="25400" rIns="25400" bIns="25400" rtlCol="0" anchor="t">
            <a:normAutofit/>
          </a:bodyPr>
          <a:lstStyle/>
          <a:p>
            <a:pPr algn="l" indent="0" marL="0">
              <a:buNone/>
            </a:pPr>
            <a:r>
              <a:rPr lang="en-US" sz="975" dirty="0">
                <a:solidFill>
                  <a:srgbClr val="0B0D0E"/>
                </a:solidFill>
                <a:latin typeface="Geist Mono" pitchFamily="34" charset="0"/>
                <a:ea typeface="Geist Mono" pitchFamily="34" charset="-122"/>
                <a:cs typeface="Geist Mono" pitchFamily="34" charset="-120"/>
              </a:rPr>
              <a:t>—</a:t>
            </a:r>
            <a:endParaRPr lang="en-US" sz="975" dirty="0"/>
          </a:p>
        </p:txBody>
      </p:sp>
      <p:sp>
        <p:nvSpPr>
          <p:cNvPr id="77" name="Text 75"/>
          <p:cNvSpPr/>
          <p:nvPr/>
        </p:nvSpPr>
        <p:spPr>
          <a:xfrm>
            <a:off x="13923644" y="5496877"/>
            <a:ext cx="1321212" cy="199073"/>
          </a:xfrm>
          <a:prstGeom prst="rect">
            <a:avLst/>
          </a:prstGeom>
          <a:noFill/>
          <a:ln/>
        </p:spPr>
        <p:txBody>
          <a:bodyPr wrap="square" lIns="25400" tIns="25400" rIns="25400" bIns="25400" rtlCol="0" anchor="t">
            <a:normAutofit/>
          </a:bodyPr>
          <a:lstStyle/>
          <a:p>
            <a:pPr algn="l" indent="0" marL="0">
              <a:buNone/>
            </a:pPr>
            <a:r>
              <a:rPr lang="en-US" sz="975" dirty="0">
                <a:solidFill>
                  <a:srgbClr val="0B0D0E"/>
                </a:solidFill>
                <a:latin typeface="Geist Mono" pitchFamily="34" charset="0"/>
                <a:ea typeface="Geist Mono" pitchFamily="34" charset="-122"/>
                <a:cs typeface="Geist Mono" pitchFamily="34" charset="-120"/>
              </a:rPr>
              <a:t>140 &gt; 130</a:t>
            </a:r>
            <a:endParaRPr lang="en-US" sz="975" dirty="0"/>
          </a:p>
        </p:txBody>
      </p:sp>
      <p:sp>
        <p:nvSpPr>
          <p:cNvPr id="78" name="Shape 76"/>
          <p:cNvSpPr/>
          <p:nvPr/>
        </p:nvSpPr>
        <p:spPr>
          <a:xfrm>
            <a:off x="11372850" y="5732145"/>
            <a:ext cx="3751897" cy="297180"/>
          </a:xfrm>
          <a:prstGeom prst="rect">
            <a:avLst/>
          </a:prstGeom>
          <a:solidFill>
            <a:srgbClr val="F7F8F8"/>
          </a:solidFill>
          <a:ln/>
        </p:spPr>
      </p:sp>
      <p:sp>
        <p:nvSpPr>
          <p:cNvPr id="79" name="Shape 77"/>
          <p:cNvSpPr/>
          <p:nvPr/>
        </p:nvSpPr>
        <p:spPr>
          <a:xfrm>
            <a:off x="11372850" y="6016943"/>
            <a:ext cx="3751897" cy="12383"/>
          </a:xfrm>
          <a:prstGeom prst="rect">
            <a:avLst/>
          </a:prstGeom>
          <a:solidFill>
            <a:srgbClr val="DDE0E0"/>
          </a:solidFill>
          <a:ln/>
        </p:spPr>
      </p:sp>
      <p:sp>
        <p:nvSpPr>
          <p:cNvPr id="80" name="Text 78"/>
          <p:cNvSpPr/>
          <p:nvPr/>
        </p:nvSpPr>
        <p:spPr>
          <a:xfrm>
            <a:off x="11372850" y="5794057"/>
            <a:ext cx="1321212" cy="199072"/>
          </a:xfrm>
          <a:prstGeom prst="rect">
            <a:avLst/>
          </a:prstGeom>
          <a:noFill/>
          <a:ln/>
        </p:spPr>
        <p:txBody>
          <a:bodyPr wrap="square" lIns="25400" tIns="25400" rIns="25400" bIns="25400" rtlCol="0" anchor="t">
            <a:normAutofit/>
          </a:bodyPr>
          <a:lstStyle/>
          <a:p>
            <a:pPr algn="l" indent="0" marL="0">
              <a:buNone/>
            </a:pPr>
            <a:r>
              <a:rPr lang="en-US" sz="975" dirty="0">
                <a:solidFill>
                  <a:srgbClr val="0B0D0E"/>
                </a:solidFill>
                <a:latin typeface="Geist Mono" pitchFamily="34" charset="0"/>
                <a:ea typeface="Geist Mono" pitchFamily="34" charset="-122"/>
                <a:cs typeface="Geist Mono" pitchFamily="34" charset="-120"/>
              </a:rPr>
              <a:t>treatment</a:t>
            </a:r>
            <a:endParaRPr lang="en-US" sz="975" dirty="0"/>
          </a:p>
        </p:txBody>
      </p:sp>
      <p:sp>
        <p:nvSpPr>
          <p:cNvPr id="81" name="Text 79"/>
          <p:cNvSpPr/>
          <p:nvPr/>
        </p:nvSpPr>
        <p:spPr>
          <a:xfrm>
            <a:off x="12648247" y="5794057"/>
            <a:ext cx="1321214" cy="199072"/>
          </a:xfrm>
          <a:prstGeom prst="rect">
            <a:avLst/>
          </a:prstGeom>
          <a:noFill/>
          <a:ln/>
        </p:spPr>
        <p:txBody>
          <a:bodyPr wrap="square" lIns="25400" tIns="25400" rIns="25400" bIns="25400" rtlCol="0" anchor="t">
            <a:normAutofit/>
          </a:bodyPr>
          <a:lstStyle/>
          <a:p>
            <a:pPr algn="l" indent="0" marL="0">
              <a:buNone/>
            </a:pPr>
            <a:r>
              <a:rPr lang="en-US" sz="975" dirty="0">
                <a:solidFill>
                  <a:srgbClr val="0B0D0E"/>
                </a:solidFill>
                <a:latin typeface="Geist Mono" pitchFamily="34" charset="0"/>
                <a:ea typeface="Geist Mono" pitchFamily="34" charset="-122"/>
                <a:cs typeface="Geist Mono" pitchFamily="34" charset="-120"/>
              </a:rPr>
              <a:t>WITHHOLD</a:t>
            </a:r>
            <a:endParaRPr lang="en-US" sz="975" dirty="0"/>
          </a:p>
        </p:txBody>
      </p:sp>
      <p:sp>
        <p:nvSpPr>
          <p:cNvPr id="82" name="Text 80"/>
          <p:cNvSpPr/>
          <p:nvPr/>
        </p:nvSpPr>
        <p:spPr>
          <a:xfrm>
            <a:off x="13923644" y="5794057"/>
            <a:ext cx="1321212" cy="199072"/>
          </a:xfrm>
          <a:prstGeom prst="rect">
            <a:avLst/>
          </a:prstGeom>
          <a:noFill/>
          <a:ln/>
        </p:spPr>
        <p:txBody>
          <a:bodyPr wrap="square" lIns="25400" tIns="25400" rIns="25400" bIns="25400" rtlCol="0" anchor="t">
            <a:normAutofit/>
          </a:bodyPr>
          <a:lstStyle/>
          <a:p>
            <a:pPr algn="l" indent="0" marL="0">
              <a:buNone/>
            </a:pPr>
            <a:r>
              <a:rPr lang="en-US" sz="975" dirty="0">
                <a:solidFill>
                  <a:srgbClr val="0B0D0E"/>
                </a:solidFill>
                <a:latin typeface="Geist Mono" pitchFamily="34" charset="0"/>
                <a:ea typeface="Geist Mono" pitchFamily="34" charset="-122"/>
                <a:cs typeface="Geist Mono" pitchFamily="34" charset="-120"/>
              </a:rPr>
              <a:t>120 &lt;= 130</a:t>
            </a:r>
            <a:endParaRPr lang="en-US" sz="975" dirty="0"/>
          </a:p>
        </p:txBody>
      </p:sp>
      <p:sp>
        <p:nvSpPr>
          <p:cNvPr id="83" name="Text 81"/>
          <p:cNvSpPr/>
          <p:nvPr/>
        </p:nvSpPr>
        <p:spPr>
          <a:xfrm>
            <a:off x="11372850" y="6091238"/>
            <a:ext cx="1321212" cy="199073"/>
          </a:xfrm>
          <a:prstGeom prst="rect">
            <a:avLst/>
          </a:prstGeom>
          <a:noFill/>
          <a:ln/>
        </p:spPr>
        <p:txBody>
          <a:bodyPr wrap="square" lIns="25400" tIns="25400" rIns="25400" bIns="25400" rtlCol="0" anchor="t">
            <a:normAutofit/>
          </a:bodyPr>
          <a:lstStyle/>
          <a:p>
            <a:pPr algn="l" indent="0" marL="0">
              <a:buNone/>
            </a:pPr>
            <a:r>
              <a:rPr lang="en-US" sz="975" dirty="0">
                <a:solidFill>
                  <a:srgbClr val="0B0D0E"/>
                </a:solidFill>
                <a:latin typeface="Geist Mono" pitchFamily="34" charset="0"/>
                <a:ea typeface="Geist Mono" pitchFamily="34" charset="-122"/>
                <a:cs typeface="Geist Mono" pitchFamily="34" charset="-120"/>
              </a:rPr>
              <a:t>perturbed</a:t>
            </a:r>
            <a:endParaRPr lang="en-US" sz="975" dirty="0"/>
          </a:p>
        </p:txBody>
      </p:sp>
      <p:sp>
        <p:nvSpPr>
          <p:cNvPr id="84" name="Text 82"/>
          <p:cNvSpPr/>
          <p:nvPr/>
        </p:nvSpPr>
        <p:spPr>
          <a:xfrm>
            <a:off x="12648247" y="6091238"/>
            <a:ext cx="1321214" cy="199073"/>
          </a:xfrm>
          <a:prstGeom prst="rect">
            <a:avLst/>
          </a:prstGeom>
          <a:noFill/>
          <a:ln/>
        </p:spPr>
        <p:txBody>
          <a:bodyPr wrap="square" lIns="25400" tIns="25400" rIns="25400" bIns="25400" rtlCol="0" anchor="t">
            <a:normAutofit/>
          </a:bodyPr>
          <a:lstStyle/>
          <a:p>
            <a:pPr algn="l" indent="0" marL="0">
              <a:buNone/>
            </a:pPr>
            <a:r>
              <a:rPr lang="en-US" sz="975" dirty="0">
                <a:solidFill>
                  <a:srgbClr val="0B0D0E"/>
                </a:solidFill>
                <a:latin typeface="Geist Mono" pitchFamily="34" charset="0"/>
                <a:ea typeface="Geist Mono" pitchFamily="34" charset="-122"/>
                <a:cs typeface="Geist Mono" pitchFamily="34" charset="-120"/>
              </a:rPr>
              <a:t>ALLOW_PAR</a:t>
            </a:r>
            <a:endParaRPr lang="en-US" sz="975" dirty="0"/>
          </a:p>
        </p:txBody>
      </p:sp>
      <p:sp>
        <p:nvSpPr>
          <p:cNvPr id="85" name="Text 83"/>
          <p:cNvSpPr/>
          <p:nvPr/>
        </p:nvSpPr>
        <p:spPr>
          <a:xfrm>
            <a:off x="13923644" y="6091238"/>
            <a:ext cx="1321212" cy="199073"/>
          </a:xfrm>
          <a:prstGeom prst="rect">
            <a:avLst/>
          </a:prstGeom>
          <a:noFill/>
          <a:ln/>
        </p:spPr>
        <p:txBody>
          <a:bodyPr wrap="square" lIns="25400" tIns="25400" rIns="25400" bIns="25400" rtlCol="0" anchor="t">
            <a:normAutofit/>
          </a:bodyPr>
          <a:lstStyle/>
          <a:p>
            <a:pPr algn="l" indent="0" marL="0">
              <a:buNone/>
            </a:pPr>
            <a:r>
              <a:rPr lang="en-US" sz="975" dirty="0">
                <a:solidFill>
                  <a:srgbClr val="0B0D0E"/>
                </a:solidFill>
                <a:latin typeface="Geist Mono" pitchFamily="34" charset="0"/>
                <a:ea typeface="Geist Mono" pitchFamily="34" charset="-122"/>
                <a:cs typeface="Geist Mono" pitchFamily="34" charset="-120"/>
              </a:rPr>
              <a:t>140 &gt; 130</a:t>
            </a:r>
            <a:endParaRPr lang="en-US" sz="975" dirty="0"/>
          </a:p>
        </p:txBody>
      </p:sp>
      <p:sp>
        <p:nvSpPr>
          <p:cNvPr id="86" name="Shape 84"/>
          <p:cNvSpPr/>
          <p:nvPr/>
        </p:nvSpPr>
        <p:spPr>
          <a:xfrm>
            <a:off x="11372850" y="6487477"/>
            <a:ext cx="3751897" cy="383857"/>
          </a:xfrm>
          <a:prstGeom prst="rect">
            <a:avLst/>
          </a:prstGeom>
          <a:solidFill>
            <a:srgbClr val="F7F8F8"/>
          </a:solidFill>
          <a:ln w="12383">
            <a:solidFill>
              <a:srgbClr val="B07A00"/>
            </a:solidFill>
            <a:prstDash val="dash"/>
          </a:ln>
        </p:spPr>
      </p:sp>
      <p:sp>
        <p:nvSpPr>
          <p:cNvPr id="87" name="Text 85"/>
          <p:cNvSpPr/>
          <p:nvPr/>
        </p:nvSpPr>
        <p:spPr>
          <a:xfrm>
            <a:off x="11509058" y="6598920"/>
            <a:ext cx="1389315" cy="199072"/>
          </a:xfrm>
          <a:prstGeom prst="rect">
            <a:avLst/>
          </a:prstGeom>
          <a:noFill/>
          <a:ln/>
        </p:spPr>
        <p:txBody>
          <a:bodyPr wrap="square" lIns="25400" tIns="25400" rIns="25400" bIns="25400" rtlCol="0" anchor="t">
            <a:normAutofit/>
          </a:bodyPr>
          <a:lstStyle/>
          <a:p>
            <a:pPr algn="l" indent="0" marL="0">
              <a:buNone/>
            </a:pPr>
            <a:r>
              <a:rPr lang="en-US" sz="975" dirty="0">
                <a:solidFill>
                  <a:srgbClr val="0B0D0E"/>
                </a:solidFill>
                <a:latin typeface="Geist Mono" pitchFamily="34" charset="0"/>
                <a:ea typeface="Geist Mono" pitchFamily="34" charset="-122"/>
                <a:cs typeface="Geist Mono" pitchFamily="34" charset="-120"/>
              </a:rPr>
              <a:t>Reproduce locally</a:t>
            </a:r>
            <a:endParaRPr lang="en-US" sz="975" dirty="0"/>
          </a:p>
        </p:txBody>
      </p:sp>
      <p:sp>
        <p:nvSpPr>
          <p:cNvPr id="88" name="Text 86"/>
          <p:cNvSpPr/>
          <p:nvPr/>
        </p:nvSpPr>
        <p:spPr>
          <a:xfrm>
            <a:off x="13809493" y="6614398"/>
            <a:ext cx="1255247" cy="168116"/>
          </a:xfrm>
          <a:prstGeom prst="rect">
            <a:avLst/>
          </a:prstGeom>
          <a:noFill/>
          <a:ln/>
        </p:spPr>
        <p:txBody>
          <a:bodyPr wrap="none" lIns="25400" tIns="25400" rIns="25400" bIns="25400" rtlCol="0" anchor="t">
            <a:normAutofit/>
          </a:bodyPr>
          <a:lstStyle/>
          <a:p>
            <a:pPr algn="l" indent="0" marL="0">
              <a:buNone/>
            </a:pPr>
            <a:r>
              <a:rPr lang="en-US" sz="780" spc="78" kern="0" dirty="0">
                <a:solidFill>
                  <a:srgbClr val="B07A00"/>
                </a:solidFill>
                <a:latin typeface="Geist Mono" pitchFamily="34" charset="0"/>
                <a:ea typeface="Geist Mono" pitchFamily="34" charset="-122"/>
                <a:cs typeface="Geist Mono" pitchFamily="34" charset="-120"/>
              </a:rPr>
              <a:t>● PENDING BINDING</a:t>
            </a:r>
            <a:endParaRPr lang="en-US" sz="780" dirty="0"/>
          </a:p>
        </p:txBody>
      </p:sp>
      <p:sp>
        <p:nvSpPr>
          <p:cNvPr id="89" name="Shape 87"/>
          <p:cNvSpPr/>
          <p:nvPr/>
        </p:nvSpPr>
        <p:spPr>
          <a:xfrm>
            <a:off x="2965132" y="9199245"/>
            <a:ext cx="12382500" cy="309563"/>
          </a:xfrm>
          <a:prstGeom prst="rect">
            <a:avLst/>
          </a:prstGeom>
          <a:solidFill>
            <a:srgbClr val="F7F8F8"/>
          </a:solidFill>
          <a:ln/>
        </p:spPr>
      </p:sp>
      <p:sp>
        <p:nvSpPr>
          <p:cNvPr id="90" name="Shape 88"/>
          <p:cNvSpPr/>
          <p:nvPr/>
        </p:nvSpPr>
        <p:spPr>
          <a:xfrm>
            <a:off x="2965132" y="9199245"/>
            <a:ext cx="12382500" cy="12383"/>
          </a:xfrm>
          <a:prstGeom prst="rect">
            <a:avLst/>
          </a:prstGeom>
          <a:solidFill>
            <a:srgbClr val="DDE0E0"/>
          </a:solidFill>
          <a:ln/>
        </p:spPr>
      </p:sp>
      <p:sp>
        <p:nvSpPr>
          <p:cNvPr id="91" name="Text 89"/>
          <p:cNvSpPr/>
          <p:nvPr/>
        </p:nvSpPr>
        <p:spPr>
          <a:xfrm>
            <a:off x="3212782" y="9211627"/>
            <a:ext cx="12258675" cy="335280"/>
          </a:xfrm>
          <a:prstGeom prst="rect">
            <a:avLst/>
          </a:prstGeom>
          <a:noFill/>
          <a:ln/>
        </p:spPr>
        <p:txBody>
          <a:bodyPr wrap="square" lIns="25400" tIns="25400" rIns="25400" bIns="25400" rtlCol="0" anchor="ctr">
            <a:normAutofit/>
          </a:bodyPr>
          <a:lstStyle/>
          <a:p>
            <a:pPr algn="l" indent="0" marL="0">
              <a:buNone/>
            </a:pPr>
            <a:r>
              <a:rPr lang="en-US" sz="780" spc="94" kern="0" dirty="0">
                <a:solidFill>
                  <a:srgbClr val="737B7B"/>
                </a:solidFill>
                <a:latin typeface="Geist Mono" pitchFamily="34" charset="0"/>
                <a:ea typeface="Geist Mono" pitchFamily="34" charset="-122"/>
                <a:cs typeface="Geist Mono" pitchFamily="34" charset="-120"/>
              </a:rPr>
              <a:t>RUN.LOCAL.EVIDENCE · ANCHORED VARIANT · 1000 × 625 CROP OF THE 1440 GATE</a:t>
            </a:r>
            <a:endParaRPr lang="en-US" sz="7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DE0E0"/>
        </a:solidFill>
      </p:bgPr>
    </p:bg>
    <p:spTree>
      <p:nvGrpSpPr>
        <p:cNvPr id="1" name=""/>
        <p:cNvGrpSpPr/>
        <p:nvPr/>
      </p:nvGrpSpPr>
      <p:grpSpPr>
        <a:xfrm>
          <a:off x="0" y="0"/>
          <a:ext cx="0" cy="0"/>
          <a:chOff x="0" y="0"/>
          <a:chExt cx="0" cy="0"/>
        </a:xfrm>
      </p:grpSpPr>
      <p:sp>
        <p:nvSpPr>
          <p:cNvPr id="2" name="Text 0"/>
          <p:cNvSpPr/>
          <p:nvPr/>
        </p:nvSpPr>
        <p:spPr>
          <a:xfrm>
            <a:off x="1143000" y="247650"/>
            <a:ext cx="4560496" cy="457200"/>
          </a:xfrm>
          <a:prstGeom prst="rect">
            <a:avLst/>
          </a:prstGeom>
          <a:noFill/>
          <a:ln/>
        </p:spPr>
        <p:txBody>
          <a:bodyPr wrap="square" lIns="25400" tIns="25400" rIns="25400" bIns="25400" rtlCol="0" anchor="t">
            <a:normAutofit/>
          </a:bodyPr>
          <a:lstStyle/>
          <a:p>
            <a:pPr algn="l" indent="0" marL="0">
              <a:buNone/>
            </a:pPr>
            <a:r>
              <a:rPr lang="en-US" sz="2550" spc="-51" kern="0" dirty="0">
                <a:solidFill>
                  <a:srgbClr val="0B0D0E"/>
                </a:solidFill>
                <a:latin typeface="Geist" pitchFamily="34" charset="0"/>
                <a:ea typeface="Geist" pitchFamily="34" charset="-122"/>
                <a:cs typeface="Geist" pitchFamily="34" charset="-120"/>
              </a:rPr>
              <a:t>The one genuine UX decision</a:t>
            </a:r>
            <a:endParaRPr lang="en-US" sz="2550" dirty="0"/>
          </a:p>
        </p:txBody>
      </p:sp>
      <p:sp>
        <p:nvSpPr>
          <p:cNvPr id="3" name="Text 1"/>
          <p:cNvSpPr/>
          <p:nvPr/>
        </p:nvSpPr>
        <p:spPr>
          <a:xfrm>
            <a:off x="1143000" y="733425"/>
            <a:ext cx="7480935" cy="347663"/>
          </a:xfrm>
          <a:prstGeom prst="rect">
            <a:avLst/>
          </a:prstGeom>
          <a:noFill/>
          <a:ln/>
        </p:spPr>
        <p:txBody>
          <a:bodyPr wrap="square" lIns="25400" tIns="25400" rIns="25400" bIns="25400" rtlCol="0" anchor="t">
            <a:normAutofit/>
          </a:bodyPr>
          <a:lstStyle/>
          <a:p>
            <a:pPr algn="l" indent="0" marL="0">
              <a:buNone/>
            </a:pPr>
            <a:r>
              <a:rPr lang="en-US" sz="1875" spc="150" kern="0" dirty="0">
                <a:solidFill>
                  <a:srgbClr val="515858"/>
                </a:solidFill>
                <a:latin typeface="Geist Mono" pitchFamily="34" charset="0"/>
                <a:ea typeface="Geist Mono" pitchFamily="34" charset="-122"/>
                <a:cs typeface="Geist Mono" pitchFamily="34" charset="-120"/>
              </a:rPr>
              <a:t>OVERLAY DRAWER AGAINST ANCHORED DISCLOSURE</a:t>
            </a:r>
            <a:endParaRPr lang="en-US" sz="1875" dirty="0"/>
          </a:p>
        </p:txBody>
      </p:sp>
      <p:sp>
        <p:nvSpPr>
          <p:cNvPr id="4" name="Text 2"/>
          <p:cNvSpPr/>
          <p:nvPr/>
        </p:nvSpPr>
        <p:spPr>
          <a:xfrm>
            <a:off x="13477875" y="333375"/>
            <a:ext cx="4033838" cy="347663"/>
          </a:xfrm>
          <a:prstGeom prst="rect">
            <a:avLst/>
          </a:prstGeom>
          <a:noFill/>
          <a:ln/>
        </p:spPr>
        <p:txBody>
          <a:bodyPr wrap="none" lIns="25400" tIns="25400" rIns="25400" bIns="25400" rtlCol="0" anchor="t">
            <a:normAutofit/>
          </a:bodyPr>
          <a:lstStyle/>
          <a:p>
            <a:pPr algn="l" indent="0" marL="0">
              <a:buNone/>
            </a:pPr>
            <a:r>
              <a:rPr lang="en-US" sz="1875" spc="188" kern="0" dirty="0">
                <a:solidFill>
                  <a:srgbClr val="515858"/>
                </a:solidFill>
                <a:latin typeface="Geist Mono" pitchFamily="34" charset="0"/>
                <a:ea typeface="Geist Mono" pitchFamily="34" charset="-122"/>
                <a:cs typeface="Geist Mono" pitchFamily="34" charset="-120"/>
              </a:rPr>
              <a:t>13 · THE RUN · HAC-341</a:t>
            </a:r>
            <a:endParaRPr lang="en-US" sz="1875" dirty="0"/>
          </a:p>
        </p:txBody>
      </p:sp>
      <p:sp>
        <p:nvSpPr>
          <p:cNvPr id="5" name="Shape 3"/>
          <p:cNvSpPr/>
          <p:nvPr/>
        </p:nvSpPr>
        <p:spPr>
          <a:xfrm>
            <a:off x="1143000" y="3022848"/>
            <a:ext cx="7896225" cy="3522166"/>
          </a:xfrm>
          <a:prstGeom prst="rect">
            <a:avLst/>
          </a:prstGeom>
          <a:solidFill>
            <a:srgbClr val="FFFFFF"/>
          </a:solidFill>
          <a:ln w="9525">
            <a:solidFill>
              <a:srgbClr val="C2C7C7"/>
            </a:solidFill>
            <a:prstDash val="solid"/>
          </a:ln>
        </p:spPr>
      </p:sp>
      <p:sp>
        <p:nvSpPr>
          <p:cNvPr id="6" name="Text 4"/>
          <p:cNvSpPr/>
          <p:nvPr/>
        </p:nvSpPr>
        <p:spPr>
          <a:xfrm>
            <a:off x="1476375" y="3318123"/>
            <a:ext cx="7952423"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37B7B"/>
                </a:solidFill>
                <a:latin typeface="Geist Mono" pitchFamily="34" charset="0"/>
                <a:ea typeface="Geist Mono" pitchFamily="34" charset="-122"/>
                <a:cs typeface="Geist Mono" pitchFamily="34" charset="-120"/>
              </a:rPr>
              <a:t>ARGUES FOR ANCHORED DISCLOSURE</a:t>
            </a:r>
            <a:endParaRPr lang="en-US" sz="1800" dirty="0"/>
          </a:p>
        </p:txBody>
      </p:sp>
      <p:sp>
        <p:nvSpPr>
          <p:cNvPr id="7" name="Text 5"/>
          <p:cNvSpPr/>
          <p:nvPr/>
        </p:nvSpPr>
        <p:spPr>
          <a:xfrm>
            <a:off x="1544003" y="3784848"/>
            <a:ext cx="7238048" cy="1782961"/>
          </a:xfrm>
          <a:prstGeom prst="rect">
            <a:avLst/>
          </a:prstGeom>
          <a:noFill/>
          <a:ln/>
        </p:spPr>
        <p:txBody>
          <a:bodyPr wrap="square" lIns="25400" tIns="25400" rIns="25400" bIns="25400" rtlCol="0" anchor="t">
            <a:normAutofit/>
          </a:bodyPr>
          <a:lstStyle/>
          <a:p>
            <a:pPr algn="l" marL="180023" indent="-180023">
              <a:lnSpc>
                <a:spcPct val="108000"/>
              </a:lnSpc>
              <a:buSzPct val="100000"/>
              <a:buChar char="•"/>
              <a:tabLst>
                <a:tab pos="180023" algn="l"/>
              </a:tabLst>
            </a:pPr>
            <a:r>
              <a:rPr lang="en-US" sz="2025" dirty="0">
                <a:solidFill>
                  <a:srgbClr val="1E2323"/>
                </a:solidFill>
                <a:latin typeface="Geist" pitchFamily="34" charset="0"/>
                <a:ea typeface="Geist" pitchFamily="34" charset="-122"/>
                <a:cs typeface="Geist" pitchFamily="34" charset="-120"/>
              </a:rPr>
              <a:t>Evidence and decision are visible in one frame, so attribution needs no memory.</a:t>
            </a:r>
            <a:endParaRPr lang="en-US" sz="2025" dirty="0"/>
          </a:p>
          <a:p>
            <a:pPr algn="l" marL="180023" indent="-180023">
              <a:lnSpc>
                <a:spcPct val="108000"/>
              </a:lnSpc>
              <a:buSzPct val="100000"/>
              <a:buChar char="•"/>
              <a:tabLst>
                <a:tab pos="180023" algn="l"/>
              </a:tabLst>
            </a:pPr>
            <a:r>
              <a:rPr lang="en-US" sz="2025" dirty="0">
                <a:solidFill>
                  <a:srgbClr val="1E2323"/>
                </a:solidFill>
                <a:latin typeface="Geist" pitchFamily="34" charset="0"/>
                <a:ea typeface="Geist" pitchFamily="34" charset="-122"/>
                <a:cs typeface="Geist" pitchFamily="34" charset="-120"/>
              </a:rPr>
              <a:t>No occlusion, no focus trap, no escape contract.</a:t>
            </a:r>
            <a:endParaRPr lang="en-US" sz="2025" dirty="0"/>
          </a:p>
          <a:p>
            <a:pPr algn="l" marL="180023" indent="-180023">
              <a:lnSpc>
                <a:spcPct val="108000"/>
              </a:lnSpc>
              <a:buSzPct val="100000"/>
              <a:buChar char="•"/>
              <a:tabLst>
                <a:tab pos="180023" algn="l"/>
              </a:tabLst>
            </a:pPr>
            <a:r>
              <a:rPr lang="en-US" sz="2025" dirty="0">
                <a:solidFill>
                  <a:srgbClr val="1E2323"/>
                </a:solidFill>
                <a:latin typeface="Geist" pitchFamily="34" charset="0"/>
                <a:ea typeface="Geist" pitchFamily="34" charset="-122"/>
                <a:cs typeface="Geist" pitchFamily="34" charset="-120"/>
              </a:rPr>
              <a:t>One screenshot carries L1 and L2 together.</a:t>
            </a:r>
            <a:endParaRPr lang="en-US" sz="2025" dirty="0"/>
          </a:p>
        </p:txBody>
      </p:sp>
      <p:sp>
        <p:nvSpPr>
          <p:cNvPr id="8" name="Shape 6"/>
          <p:cNvSpPr/>
          <p:nvPr/>
        </p:nvSpPr>
        <p:spPr>
          <a:xfrm>
            <a:off x="9248775" y="3022848"/>
            <a:ext cx="7896225" cy="3522166"/>
          </a:xfrm>
          <a:prstGeom prst="rect">
            <a:avLst/>
          </a:prstGeom>
          <a:solidFill>
            <a:srgbClr val="FFFFFF"/>
          </a:solidFill>
          <a:ln w="9525">
            <a:solidFill>
              <a:srgbClr val="C2C7C7"/>
            </a:solidFill>
            <a:prstDash val="solid"/>
          </a:ln>
        </p:spPr>
      </p:sp>
      <p:sp>
        <p:nvSpPr>
          <p:cNvPr id="9" name="Text 7"/>
          <p:cNvSpPr/>
          <p:nvPr/>
        </p:nvSpPr>
        <p:spPr>
          <a:xfrm>
            <a:off x="9582150" y="3318123"/>
            <a:ext cx="7952423"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37B7B"/>
                </a:solidFill>
                <a:latin typeface="Geist Mono" pitchFamily="34" charset="0"/>
                <a:ea typeface="Geist Mono" pitchFamily="34" charset="-122"/>
                <a:cs typeface="Geist Mono" pitchFamily="34" charset="-120"/>
              </a:rPr>
              <a:t>ARGUES AGAINST IT</a:t>
            </a:r>
            <a:endParaRPr lang="en-US" sz="1800" dirty="0"/>
          </a:p>
        </p:txBody>
      </p:sp>
      <p:sp>
        <p:nvSpPr>
          <p:cNvPr id="10" name="Text 8"/>
          <p:cNvSpPr/>
          <p:nvPr/>
        </p:nvSpPr>
        <p:spPr>
          <a:xfrm>
            <a:off x="9649778" y="3784848"/>
            <a:ext cx="7238048" cy="2502991"/>
          </a:xfrm>
          <a:prstGeom prst="rect">
            <a:avLst/>
          </a:prstGeom>
          <a:noFill/>
          <a:ln/>
        </p:spPr>
        <p:txBody>
          <a:bodyPr wrap="square" lIns="25400" tIns="25400" rIns="25400" bIns="25400" rtlCol="0" anchor="t">
            <a:normAutofit/>
          </a:bodyPr>
          <a:lstStyle/>
          <a:p>
            <a:pPr algn="l" marL="180023" indent="-180023">
              <a:lnSpc>
                <a:spcPct val="108000"/>
              </a:lnSpc>
              <a:buSzPct val="100000"/>
              <a:buChar char="•"/>
              <a:tabLst>
                <a:tab pos="180023" algn="l"/>
              </a:tabLst>
            </a:pPr>
            <a:r>
              <a:rPr lang="en-US" sz="2025" dirty="0">
                <a:solidFill>
                  <a:srgbClr val="1E2323"/>
                </a:solidFill>
                <a:latin typeface="Geist" pitchFamily="34" charset="0"/>
                <a:ea typeface="Geist" pitchFamily="34" charset="-122"/>
                <a:cs typeface="Geist" pitchFamily="34" charset="-120"/>
              </a:rPr>
              <a:t>The outcome numerals drop from 34px to 20px, weakening the protagonist.</a:t>
            </a:r>
            <a:endParaRPr lang="en-US" sz="2025" dirty="0"/>
          </a:p>
          <a:p>
            <a:pPr algn="l" marL="180023" indent="-180023">
              <a:lnSpc>
                <a:spcPct val="108000"/>
              </a:lnSpc>
              <a:buSzPct val="100000"/>
              <a:buChar char="•"/>
              <a:tabLst>
                <a:tab pos="180023" algn="l"/>
              </a:tabLst>
            </a:pPr>
            <a:r>
              <a:rPr lang="en-US" sz="2025" dirty="0">
                <a:solidFill>
                  <a:srgbClr val="1E2323"/>
                </a:solidFill>
                <a:latin typeface="Geist" pitchFamily="34" charset="0"/>
                <a:ea typeface="Geist" pitchFamily="34" charset="-122"/>
                <a:cs typeface="Geist" pitchFamily="34" charset="-120"/>
              </a:rPr>
              <a:t>Three columns at 1280 is too tight, so the fold contract needs a second layout.</a:t>
            </a:r>
            <a:endParaRPr lang="en-US" sz="2025" dirty="0"/>
          </a:p>
          <a:p>
            <a:pPr algn="l" marL="180023" indent="-180023">
              <a:lnSpc>
                <a:spcPct val="108000"/>
              </a:lnSpc>
              <a:buSzPct val="100000"/>
              <a:buChar char="•"/>
              <a:tabLst>
                <a:tab pos="180023" algn="l"/>
              </a:tabLst>
            </a:pPr>
            <a:r>
              <a:rPr lang="en-US" sz="2025" dirty="0">
                <a:solidFill>
                  <a:srgbClr val="1E2323"/>
                </a:solidFill>
                <a:latin typeface="Geist" pitchFamily="34" charset="0"/>
                <a:ea typeface="Geist" pitchFamily="34" charset="-122"/>
                <a:cs typeface="Geist" pitchFamily="34" charset="-120"/>
              </a:rPr>
              <a:t>L1 stops reading as calm: density arrives before it is asked for.</a:t>
            </a:r>
            <a:endParaRPr lang="en-US" sz="2025" dirty="0"/>
          </a:p>
        </p:txBody>
      </p:sp>
      <p:sp>
        <p:nvSpPr>
          <p:cNvPr id="11" name="Shape 9"/>
          <p:cNvSpPr/>
          <p:nvPr/>
        </p:nvSpPr>
        <p:spPr>
          <a:xfrm>
            <a:off x="1143000" y="6792664"/>
            <a:ext cx="16002000" cy="19050"/>
          </a:xfrm>
          <a:prstGeom prst="rect">
            <a:avLst/>
          </a:prstGeom>
          <a:solidFill>
            <a:srgbClr val="0B0D0E"/>
          </a:solidFill>
          <a:ln/>
        </p:spPr>
      </p:sp>
      <p:sp>
        <p:nvSpPr>
          <p:cNvPr id="12" name="Text 10"/>
          <p:cNvSpPr/>
          <p:nvPr/>
        </p:nvSpPr>
        <p:spPr>
          <a:xfrm>
            <a:off x="1143000" y="7021264"/>
            <a:ext cx="17602200"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515858"/>
                </a:solidFill>
                <a:latin typeface="Geist Mono" pitchFamily="34" charset="0"/>
                <a:ea typeface="Geist Mono" pitchFamily="34" charset="-122"/>
                <a:cs typeface="Geist Mono" pitchFamily="34" charset="-120"/>
              </a:rPr>
              <a:t>RECOMMENDATION</a:t>
            </a:r>
            <a:endParaRPr lang="en-US" sz="1800" dirty="0"/>
          </a:p>
        </p:txBody>
      </p:sp>
      <p:sp>
        <p:nvSpPr>
          <p:cNvPr id="13" name="Text 11"/>
          <p:cNvSpPr/>
          <p:nvPr/>
        </p:nvSpPr>
        <p:spPr>
          <a:xfrm>
            <a:off x="1143000" y="7430839"/>
            <a:ext cx="16482060" cy="838200"/>
          </a:xfrm>
          <a:prstGeom prst="rect">
            <a:avLst/>
          </a:prstGeom>
          <a:noFill/>
          <a:ln/>
        </p:spPr>
        <p:txBody>
          <a:bodyPr wrap="square" lIns="25400" tIns="25400" rIns="25400" bIns="25400" rtlCol="0" anchor="t">
            <a:normAutofit/>
          </a:bodyPr>
          <a:lstStyle/>
          <a:p>
            <a:pPr algn="l" indent="0" marL="0">
              <a:lnSpc>
                <a:spcPct val="107692"/>
              </a:lnSpc>
              <a:buNone/>
            </a:pPr>
            <a:r>
              <a:rPr lang="en-US" sz="2250" dirty="0">
                <a:solidFill>
                  <a:srgbClr val="0B0D0E"/>
                </a:solidFill>
                <a:latin typeface="Geist" pitchFamily="34" charset="0"/>
                <a:ea typeface="Geist" pitchFamily="34" charset="-122"/>
                <a:cs typeface="Geist" pitchFamily="34" charset="-120"/>
              </a:rPr>
              <a:t>Keep the overlay drawer. It preserves the numeral scale that makes the delta the visual protagonist and holds one fold contract at both gates. Revisit the anchored variant only if 1440 stops being the review size.</a:t>
            </a:r>
            <a:endParaRPr lang="en-US" sz="2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2026-08-19T18:35:20Z</dcterms:created>
  <dcterms:modified xsi:type="dcterms:W3CDTF">2026-08-19T18:35:20Z</dcterms:modified>
</cp:coreProperties>
</file>